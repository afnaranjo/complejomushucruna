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6df3eea54e4f45" /><Relationship Type="http://schemas.openxmlformats.org/officeDocument/2006/relationships/extended-properties" Target="/docProps/app.xml" Id="R041071f0e8b1463a" /><Relationship Type="http://schemas.openxmlformats.org/officeDocument/2006/relationships/officeDocument" Target="/ppt/presentation.xml" Id="R8682077ceea549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6728ad9c8641d3"/>
  </p:sldMasterIdLst>
  <p:notesMasterIdLst>
    <p:notesMasterId xmlns:r="http://schemas.openxmlformats.org/officeDocument/2006/relationships" r:id="R8e800f97d8724071"/>
  </p:notesMasterIdLst>
  <p:sldIdLst>
    <p:sldId xmlns:r="http://schemas.openxmlformats.org/officeDocument/2006/relationships" id="256" r:id="R1647965ac7164baa"/>
    <p:sldId xmlns:r="http://schemas.openxmlformats.org/officeDocument/2006/relationships" id="257" r:id="R86812095f522426a"/>
    <p:sldId xmlns:r="http://schemas.openxmlformats.org/officeDocument/2006/relationships" id="258" r:id="R2b1fb17e75da48ca"/>
    <p:sldId xmlns:r="http://schemas.openxmlformats.org/officeDocument/2006/relationships" id="259" r:id="R44db3a55b787482f"/>
    <p:sldId xmlns:r="http://schemas.openxmlformats.org/officeDocument/2006/relationships" id="260" r:id="Ree48e1e2ce334ad3"/>
    <p:sldId xmlns:r="http://schemas.openxmlformats.org/officeDocument/2006/relationships" id="261" r:id="R57e051e84d37497f"/>
    <p:sldId xmlns:r="http://schemas.openxmlformats.org/officeDocument/2006/relationships" id="262" r:id="R1a431d9737854270"/>
    <p:sldId xmlns:r="http://schemas.openxmlformats.org/officeDocument/2006/relationships" id="263" r:id="Ref260d1f46c34982"/>
    <p:sldId xmlns:r="http://schemas.openxmlformats.org/officeDocument/2006/relationships" id="264" r:id="R1b699b08a0004851"/>
    <p:sldId xmlns:r="http://schemas.openxmlformats.org/officeDocument/2006/relationships" id="265" r:id="R6b88334058fa4007"/>
    <p:sldId xmlns:r="http://schemas.openxmlformats.org/officeDocument/2006/relationships" id="266" r:id="Rd17b869d41d343c1"/>
    <p:sldId xmlns:r="http://schemas.openxmlformats.org/officeDocument/2006/relationships" id="267" r:id="R4f9f67e51c99445c"/>
    <p:sldId xmlns:r="http://schemas.openxmlformats.org/officeDocument/2006/relationships" id="268" r:id="Rbfd58a6726ff4379"/>
    <p:sldId xmlns:r="http://schemas.openxmlformats.org/officeDocument/2006/relationships" id="269" r:id="R0357046abd4f46d4"/>
    <p:sldId xmlns:r="http://schemas.openxmlformats.org/officeDocument/2006/relationships" id="270" r:id="Ra0de3d2991c14ca1"/>
    <p:sldId xmlns:r="http://schemas.openxmlformats.org/officeDocument/2006/relationships" id="271" r:id="Rea419da18ed241e9"/>
    <p:sldId xmlns:r="http://schemas.openxmlformats.org/officeDocument/2006/relationships" id="272" r:id="R7753b2bd08ef4075"/>
    <p:sldId xmlns:r="http://schemas.openxmlformats.org/officeDocument/2006/relationships" id="273" r:id="R9a3f9f8455204abf"/>
    <p:sldId xmlns:r="http://schemas.openxmlformats.org/officeDocument/2006/relationships" id="274" r:id="Rfa468d5e1ac141af"/>
    <p:sldId xmlns:r="http://schemas.openxmlformats.org/officeDocument/2006/relationships" id="275" r:id="R50b733ce18ab428c"/>
    <p:sldId xmlns:r="http://schemas.openxmlformats.org/officeDocument/2006/relationships" id="276" r:id="R034648e017be426f"/>
    <p:sldId xmlns:r="http://schemas.openxmlformats.org/officeDocument/2006/relationships" id="277" r:id="Rbf96952f73064f71"/>
    <p:sldId xmlns:r="http://schemas.openxmlformats.org/officeDocument/2006/relationships" id="278" r:id="Re10da54bb21f48e3"/>
    <p:sldId xmlns:r="http://schemas.openxmlformats.org/officeDocument/2006/relationships" id="279" r:id="Rb7b9fa79dd5a4452"/>
    <p:sldId xmlns:r="http://schemas.openxmlformats.org/officeDocument/2006/relationships" id="280" r:id="Rf6fa243b0ebf4b50"/>
    <p:sldId xmlns:r="http://schemas.openxmlformats.org/officeDocument/2006/relationships" id="281" r:id="R0c0c5c596fdb4435"/>
    <p:sldId xmlns:r="http://schemas.openxmlformats.org/officeDocument/2006/relationships" id="282" r:id="R6a278a14437a46a6"/>
    <p:sldId xmlns:r="http://schemas.openxmlformats.org/officeDocument/2006/relationships" id="283" r:id="Re2eacc5d30084948"/>
    <p:sldId xmlns:r="http://schemas.openxmlformats.org/officeDocument/2006/relationships" id="284" r:id="R1a2ecf9ee4a54e32"/>
    <p:sldId xmlns:r="http://schemas.openxmlformats.org/officeDocument/2006/relationships" id="285" r:id="Rad3373f6fb574b69"/>
    <p:sldId xmlns:r="http://schemas.openxmlformats.org/officeDocument/2006/relationships" id="286" r:id="R3657e3e007d74090"/>
    <p:sldId xmlns:r="http://schemas.openxmlformats.org/officeDocument/2006/relationships" id="287" r:id="Rc6629138258c4803"/>
    <p:sldId xmlns:r="http://schemas.openxmlformats.org/officeDocument/2006/relationships" id="288" r:id="R64d1bf3d609643b4"/>
    <p:sldId xmlns:r="http://schemas.openxmlformats.org/officeDocument/2006/relationships" id="289" r:id="R3b0d1eb172084181"/>
    <p:sldId xmlns:r="http://schemas.openxmlformats.org/officeDocument/2006/relationships" id="290" r:id="R7d6d3eab54c94fa1"/>
    <p:sldId xmlns:r="http://schemas.openxmlformats.org/officeDocument/2006/relationships" id="291" r:id="R4be1934a6066404c"/>
    <p:sldId xmlns:r="http://schemas.openxmlformats.org/officeDocument/2006/relationships" id="292" r:id="R3655b9d125d346de"/>
    <p:sldId xmlns:r="http://schemas.openxmlformats.org/officeDocument/2006/relationships" id="293" r:id="Rbea2a2aaa9524759"/>
    <p:sldId xmlns:r="http://schemas.openxmlformats.org/officeDocument/2006/relationships" id="294" r:id="Rb88af8603db84bfa"/>
    <p:sldId xmlns:r="http://schemas.openxmlformats.org/officeDocument/2006/relationships" id="295" r:id="R9d1065c0bd3a4b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5a392c8a50483d" /><Relationship Type="http://schemas.openxmlformats.org/officeDocument/2006/relationships/slideMaster" Target="/ppt/slideMasters/slideMaster1.xml" Id="R596728ad9c8641d3" /><Relationship Type="http://schemas.openxmlformats.org/officeDocument/2006/relationships/notesMaster" Target="/ppt/notesMasters/notesMaster1.xml" Id="R8e800f97d8724071" /><Relationship Type="http://schemas.openxmlformats.org/officeDocument/2006/relationships/presProps" Target="/ppt/presProps.xml" Id="R5a7bb63989864246" /><Relationship Type="http://schemas.openxmlformats.org/officeDocument/2006/relationships/tableStyles" Target="/ppt/tableStyles.xml" Id="Rc780545c24d44eb0" /><Relationship Type="http://schemas.openxmlformats.org/officeDocument/2006/relationships/slide" Target="/ppt/slides/slide1.xml" Id="R1647965ac7164baa" /><Relationship Type="http://schemas.openxmlformats.org/officeDocument/2006/relationships/slide" Target="/ppt/slides/slide2.xml" Id="R86812095f522426a" /><Relationship Type="http://schemas.openxmlformats.org/officeDocument/2006/relationships/slide" Target="/ppt/slides/slide3.xml" Id="R2b1fb17e75da48ca" /><Relationship Type="http://schemas.openxmlformats.org/officeDocument/2006/relationships/slide" Target="/ppt/slides/slide4.xml" Id="R44db3a55b787482f" /><Relationship Type="http://schemas.openxmlformats.org/officeDocument/2006/relationships/slide" Target="/ppt/slides/slide5.xml" Id="Ree48e1e2ce334ad3" /><Relationship Type="http://schemas.openxmlformats.org/officeDocument/2006/relationships/slide" Target="/ppt/slides/slide6.xml" Id="R57e051e84d37497f" /><Relationship Type="http://schemas.openxmlformats.org/officeDocument/2006/relationships/slide" Target="/ppt/slides/slide7.xml" Id="R1a431d9737854270" /><Relationship Type="http://schemas.openxmlformats.org/officeDocument/2006/relationships/slide" Target="/ppt/slides/slide8.xml" Id="Ref260d1f46c34982" /><Relationship Type="http://schemas.openxmlformats.org/officeDocument/2006/relationships/slide" Target="/ppt/slides/slide9.xml" Id="R1b699b08a0004851" /><Relationship Type="http://schemas.openxmlformats.org/officeDocument/2006/relationships/slide" Target="/ppt/slides/slide10.xml" Id="R6b88334058fa4007" /><Relationship Type="http://schemas.openxmlformats.org/officeDocument/2006/relationships/slide" Target="/ppt/slides/slide11.xml" Id="Rd17b869d41d343c1" /><Relationship Type="http://schemas.openxmlformats.org/officeDocument/2006/relationships/slide" Target="/ppt/slides/slide12.xml" Id="R4f9f67e51c99445c" /><Relationship Type="http://schemas.openxmlformats.org/officeDocument/2006/relationships/slide" Target="/ppt/slides/slide13.xml" Id="Rbfd58a6726ff4379" /><Relationship Type="http://schemas.openxmlformats.org/officeDocument/2006/relationships/slide" Target="/ppt/slides/slide14.xml" Id="R0357046abd4f46d4" /><Relationship Type="http://schemas.openxmlformats.org/officeDocument/2006/relationships/slide" Target="/ppt/slides/slide15.xml" Id="Ra0de3d2991c14ca1" /><Relationship Type="http://schemas.openxmlformats.org/officeDocument/2006/relationships/slide" Target="/ppt/slides/slide16.xml" Id="Rea419da18ed241e9" /><Relationship Type="http://schemas.openxmlformats.org/officeDocument/2006/relationships/slide" Target="/ppt/slides/slide17.xml" Id="R7753b2bd08ef4075" /><Relationship Type="http://schemas.openxmlformats.org/officeDocument/2006/relationships/slide" Target="/ppt/slides/slide18.xml" Id="R9a3f9f8455204abf" /><Relationship Type="http://schemas.openxmlformats.org/officeDocument/2006/relationships/slide" Target="/ppt/slides/slide19.xml" Id="Rfa468d5e1ac141af" /><Relationship Type="http://schemas.openxmlformats.org/officeDocument/2006/relationships/slide" Target="/ppt/slides/slide20.xml" Id="R50b733ce18ab428c" /><Relationship Type="http://schemas.openxmlformats.org/officeDocument/2006/relationships/slide" Target="/ppt/slides/slide21.xml" Id="R034648e017be426f" /><Relationship Type="http://schemas.openxmlformats.org/officeDocument/2006/relationships/slide" Target="/ppt/slides/slide22.xml" Id="Rbf96952f73064f71" /><Relationship Type="http://schemas.openxmlformats.org/officeDocument/2006/relationships/slide" Target="/ppt/slides/slide23.xml" Id="Re10da54bb21f48e3" /><Relationship Type="http://schemas.openxmlformats.org/officeDocument/2006/relationships/slide" Target="/ppt/slides/slide24.xml" Id="Rb7b9fa79dd5a4452" /><Relationship Type="http://schemas.openxmlformats.org/officeDocument/2006/relationships/slide" Target="/ppt/slides/slide25.xml" Id="Rf6fa243b0ebf4b50" /><Relationship Type="http://schemas.openxmlformats.org/officeDocument/2006/relationships/slide" Target="/ppt/slides/slide26.xml" Id="R0c0c5c596fdb4435" /><Relationship Type="http://schemas.openxmlformats.org/officeDocument/2006/relationships/slide" Target="/ppt/slides/slide27.xml" Id="R6a278a14437a46a6" /><Relationship Type="http://schemas.openxmlformats.org/officeDocument/2006/relationships/slide" Target="/ppt/slides/slide28.xml" Id="Re2eacc5d30084948" /><Relationship Type="http://schemas.openxmlformats.org/officeDocument/2006/relationships/slide" Target="/ppt/slides/slide29.xml" Id="R1a2ecf9ee4a54e32" /><Relationship Type="http://schemas.openxmlformats.org/officeDocument/2006/relationships/slide" Target="/ppt/slides/slide30.xml" Id="Rad3373f6fb574b69" /><Relationship Type="http://schemas.openxmlformats.org/officeDocument/2006/relationships/slide" Target="/ppt/slides/slide31.xml" Id="R3657e3e007d74090" /><Relationship Type="http://schemas.openxmlformats.org/officeDocument/2006/relationships/slide" Target="/ppt/slides/slide32.xml" Id="Rc6629138258c4803" /><Relationship Type="http://schemas.openxmlformats.org/officeDocument/2006/relationships/slide" Target="/ppt/slides/slide33.xml" Id="R64d1bf3d609643b4" /><Relationship Type="http://schemas.openxmlformats.org/officeDocument/2006/relationships/slide" Target="/ppt/slides/slide34.xml" Id="R3b0d1eb172084181" /><Relationship Type="http://schemas.openxmlformats.org/officeDocument/2006/relationships/slide" Target="/ppt/slides/slide35.xml" Id="R7d6d3eab54c94fa1" /><Relationship Type="http://schemas.openxmlformats.org/officeDocument/2006/relationships/slide" Target="/ppt/slides/slide36.xml" Id="R4be1934a6066404c" /><Relationship Type="http://schemas.openxmlformats.org/officeDocument/2006/relationships/slide" Target="/ppt/slides/slide37.xml" Id="R3655b9d125d346de" /><Relationship Type="http://schemas.openxmlformats.org/officeDocument/2006/relationships/slide" Target="/ppt/slides/slide38.xml" Id="Rbea2a2aaa9524759" /><Relationship Type="http://schemas.openxmlformats.org/officeDocument/2006/relationships/slide" Target="/ppt/slides/slide39.xml" Id="Rb88af8603db84bfa" /><Relationship Type="http://schemas.openxmlformats.org/officeDocument/2006/relationships/slide" Target="/ppt/slides/slide40.xml" Id="R9d1065c0bd3a4b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83bffa92b149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770a4c1c704294" /><Relationship Type="http://schemas.openxmlformats.org/officeDocument/2006/relationships/notesMaster" Target="/ppt/notesMasters/notesMaster1.xml" Id="R08aba730ecc24d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b163d2dd0549b9" /><Relationship Type="http://schemas.openxmlformats.org/officeDocument/2006/relationships/notesMaster" Target="/ppt/notesMasters/notesMaster1.xml" Id="Rc99c2354689647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e2d4500a564620" /><Relationship Type="http://schemas.openxmlformats.org/officeDocument/2006/relationships/notesMaster" Target="/ppt/notesMasters/notesMaster1.xml" Id="R1e85ad564f6b4d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38b96749884e6a" /><Relationship Type="http://schemas.openxmlformats.org/officeDocument/2006/relationships/notesMaster" Target="/ppt/notesMasters/notesMaster1.xml" Id="R903e823d696f4b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a9bd765ade485e" /><Relationship Type="http://schemas.openxmlformats.org/officeDocument/2006/relationships/notesMaster" Target="/ppt/notesMasters/notesMaster1.xml" Id="Rdc83c9b0719b4c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70953c504c4e9e" /><Relationship Type="http://schemas.openxmlformats.org/officeDocument/2006/relationships/notesMaster" Target="/ppt/notesMasters/notesMaster1.xml" Id="R0434510c52924a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ee0c157f6048a9" /><Relationship Type="http://schemas.openxmlformats.org/officeDocument/2006/relationships/notesMaster" Target="/ppt/notesMasters/notesMaster1.xml" Id="Re077c53318bc47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1ff5c67c854f50" /><Relationship Type="http://schemas.openxmlformats.org/officeDocument/2006/relationships/notesMaster" Target="/ppt/notesMasters/notesMaster1.xml" Id="R9b88ecd5af5b48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7f2c8a23ed4f17" /><Relationship Type="http://schemas.openxmlformats.org/officeDocument/2006/relationships/notesMaster" Target="/ppt/notesMasters/notesMaster1.xml" Id="R7914d3d2a44149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a879c7270848b8" /><Relationship Type="http://schemas.openxmlformats.org/officeDocument/2006/relationships/notesMaster" Target="/ppt/notesMasters/notesMaster1.xml" Id="Rffc43e80357947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0ef62e194640a4" /><Relationship Type="http://schemas.openxmlformats.org/officeDocument/2006/relationships/notesMaster" Target="/ppt/notesMasters/notesMaster1.xml" Id="R1263e7c1bef84a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139dc331054393" /><Relationship Type="http://schemas.openxmlformats.org/officeDocument/2006/relationships/notesMaster" Target="/ppt/notesMasters/notesMaster1.xml" Id="Re28703a267c74b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41160e24264e04" /><Relationship Type="http://schemas.openxmlformats.org/officeDocument/2006/relationships/notesMaster" Target="/ppt/notesMasters/notesMaster1.xml" Id="R05823b88b22c4a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155790a06944dc" /><Relationship Type="http://schemas.openxmlformats.org/officeDocument/2006/relationships/notesMaster" Target="/ppt/notesMasters/notesMaster1.xml" Id="Rfa6e52ed213c42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b50ae870944309" /><Relationship Type="http://schemas.openxmlformats.org/officeDocument/2006/relationships/notesMaster" Target="/ppt/notesMasters/notesMaster1.xml" Id="Re65a09b2f04e4b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3a37983e144c8c" /><Relationship Type="http://schemas.openxmlformats.org/officeDocument/2006/relationships/notesMaster" Target="/ppt/notesMasters/notesMaster1.xml" Id="Re4d95f31ed974e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fd54c2d14d43df" /><Relationship Type="http://schemas.openxmlformats.org/officeDocument/2006/relationships/notesMaster" Target="/ppt/notesMasters/notesMaster1.xml" Id="Rb2a23f2fe77b42b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b393bfc27d84bcb" /><Relationship Type="http://schemas.openxmlformats.org/officeDocument/2006/relationships/notesMaster" Target="/ppt/notesMasters/notesMaster1.xml" Id="Rb830404bd0bb49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8e446ff8f584e28" /><Relationship Type="http://schemas.openxmlformats.org/officeDocument/2006/relationships/notesMaster" Target="/ppt/notesMasters/notesMaster1.xml" Id="R16495deedf3d43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b27d4cde1f24366" /><Relationship Type="http://schemas.openxmlformats.org/officeDocument/2006/relationships/notesMaster" Target="/ppt/notesMasters/notesMaster1.xml" Id="Rf02aa625ae91492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bad876d1a224d13" /><Relationship Type="http://schemas.openxmlformats.org/officeDocument/2006/relationships/notesMaster" Target="/ppt/notesMasters/notesMaster1.xml" Id="R23ac929573ed429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7a474d7a9f74c90" /><Relationship Type="http://schemas.openxmlformats.org/officeDocument/2006/relationships/notesMaster" Target="/ppt/notesMasters/notesMaster1.xml" Id="R340c89fd904f45e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f8d7cc08905446d" /><Relationship Type="http://schemas.openxmlformats.org/officeDocument/2006/relationships/notesMaster" Target="/ppt/notesMasters/notesMaster1.xml" Id="Rda4bc38ea4314ba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8f9df1bafe04abe" /><Relationship Type="http://schemas.openxmlformats.org/officeDocument/2006/relationships/notesMaster" Target="/ppt/notesMasters/notesMaster1.xml" Id="Ra382f0ab4a56447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6bf19e50fae47f5" /><Relationship Type="http://schemas.openxmlformats.org/officeDocument/2006/relationships/notesMaster" Target="/ppt/notesMasters/notesMaster1.xml" Id="Re103704fd1f6400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51bb80018e44bea" /><Relationship Type="http://schemas.openxmlformats.org/officeDocument/2006/relationships/notesMaster" Target="/ppt/notesMasters/notesMaster1.xml" Id="R14dc4a67e582453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8747088ff474a79" /><Relationship Type="http://schemas.openxmlformats.org/officeDocument/2006/relationships/notesMaster" Target="/ppt/notesMasters/notesMaster1.xml" Id="R83fe51873ecc44f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251e0b8fc3c4b69" /><Relationship Type="http://schemas.openxmlformats.org/officeDocument/2006/relationships/notesMaster" Target="/ppt/notesMasters/notesMaster1.xml" Id="R4236323061194ca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3dd821d3d064d88" /><Relationship Type="http://schemas.openxmlformats.org/officeDocument/2006/relationships/notesMaster" Target="/ppt/notesMasters/notesMaster1.xml" Id="R421805adf6bc49f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684c0695259438f" /><Relationship Type="http://schemas.openxmlformats.org/officeDocument/2006/relationships/notesMaster" Target="/ppt/notesMasters/notesMaster1.xml" Id="Rdbac212e415548f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2ee319e12564142" /><Relationship Type="http://schemas.openxmlformats.org/officeDocument/2006/relationships/notesMaster" Target="/ppt/notesMasters/notesMaster1.xml" Id="R256d55b85c28470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116bd257522484f" /><Relationship Type="http://schemas.openxmlformats.org/officeDocument/2006/relationships/notesMaster" Target="/ppt/notesMasters/notesMaster1.xml" Id="Ra44c233aec2545f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88930e276a24c08" /><Relationship Type="http://schemas.openxmlformats.org/officeDocument/2006/relationships/notesMaster" Target="/ppt/notesMasters/notesMaster1.xml" Id="R8512bab3eb424cc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ab6717988a24477" /><Relationship Type="http://schemas.openxmlformats.org/officeDocument/2006/relationships/notesMaster" Target="/ppt/notesMasters/notesMaster1.xml" Id="R8beab69e44ec460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0b12d0ccb8b412b" /><Relationship Type="http://schemas.openxmlformats.org/officeDocument/2006/relationships/notesMaster" Target="/ppt/notesMasters/notesMaster1.xml" Id="Rf89a6677ee51481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2034412462b45e2" /><Relationship Type="http://schemas.openxmlformats.org/officeDocument/2006/relationships/notesMaster" Target="/ppt/notesMasters/notesMaster1.xml" Id="R6beba3f7c4584f0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245131e1c71411a" /><Relationship Type="http://schemas.openxmlformats.org/officeDocument/2006/relationships/notesMaster" Target="/ppt/notesMasters/notesMaster1.xml" Id="Racabe7d5c79a461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eef830d3392404f" /><Relationship Type="http://schemas.openxmlformats.org/officeDocument/2006/relationships/notesMaster" Target="/ppt/notesMasters/notesMaster1.xml" Id="Rbb87f785458b474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33a84059aac4bd9" /><Relationship Type="http://schemas.openxmlformats.org/officeDocument/2006/relationships/notesMaster" Target="/ppt/notesMasters/notesMaster1.xml" Id="R4c708a0165df4a8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51ee36bb14f44fa" /><Relationship Type="http://schemas.openxmlformats.org/officeDocument/2006/relationships/notesMaster" Target="/ppt/notesMasters/notesMaster1.xml" Id="Rb5e38bb3d7734f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idea central: la feria debe volver a sentirse propia antes de sentirse grande.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frase organiza todo el trabajo: identidad primero, experiencia después y programación como acelerador.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vault/_memoria-del-proyecto.md</a:t>
            </a:r>
          </a:p>
          <a:p xmlns:a="http://schemas.openxmlformats.org/drawingml/2006/main">
            <a:r>
              <a:t>- vault/11_eventos/2026_feria-finados/05_marketing-comunicacion/01_estrategia/estrategia-competitiva-preventa-y-participacion-finados-2026.md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estas cifras como evidencia de dirección creativa, no como juicio al equipo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vault/11_eventos/2026_feria-finados/05_marketing-comunicacion/01_estrategia/auditoria-meta-2021-2026-y-estrategia-digital-finados.md</a:t>
            </a:r>
          </a:p>
          <a:p xmlns:a="http://schemas.openxmlformats.org/drawingml/2006/main">
            <a:r>
              <a:t>- Datos procesados de auditoría Meta, consulta 2026-08-24.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plataforma debe producir una transición visible: de promoción de agenda a construcción de pertenencia.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Aprobar esta jerarquía antes de diseñar piezas para evitar múltiples lemas.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melancolía pedida por Alex se traduce en nostalgia luminosa: cálida, humana y con impulso de encuentro.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curva para evaluar cada pieza: debe tener una función emocional y una acción siguiente.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comunicación debe combinar pertenencia y utilidad; una sin la otra no resuelve la decisión familiar.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vault/05_audiencias-investigacion/</a:t>
            </a:r>
          </a:p>
          <a:p xmlns:a="http://schemas.openxmlformats.org/drawingml/2006/main">
            <a:r>
              <a:t>- vault/11_eventos/2026_feria-finados/01_concepto-experiencia/experiencia-200k-finados-2026.md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nombres son capítulos de experiencia, no necesariamente nombres públicos finales de cada jornada.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vault/11_eventos/2026_feria-finados/01_concepto-experiencia/experiencia-200k-finados-2026.md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con claridad el sonido de memoria del sonido de espectáculo. Nunca usar una canción festiva sobre un testimonio íntimo.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Paleta propuesta para desarrollar y aprobar. La referencia entregada por Alex se usa solo para energía cromática; no se copian logos, artistas, precios, fechas ni estructura del afiche.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Dirección creativa propuesta a partir del archivo visual Finados 2025.</a:t>
            </a:r>
          </a:p>
          <a:p xmlns:a="http://schemas.openxmlformats.org/drawingml/2006/main">
            <a:r>
              <a:t>- Afiche histórico compartido por Alex Naranjo el 2026-08-25; referencia cromática interna únicamente.</a:t>
            </a:r>
          </a:p>
          <a:p xmlns:a="http://schemas.openxmlformats.org/drawingml/2006/main">
            <a:r>
              <a:t>- vault/03_marca/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recomendación es un contraste editorial/sans. La familia final debe validarse con el manual y las licencias disponibles.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vault/03_marca/</a:t>
            </a:r>
          </a:p>
          <a:p xmlns:a="http://schemas.openxmlformats.org/drawingml/2006/main">
            <a:r>
              <a:t>- Dirección creativa propuesta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autenticidad de la fotografía es una ventaja competitiva. Definir permisos de imagen y fichas de consentimiento.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vault/05_audiencias-investigacion/02_reputacion-fortalezas-y-voz-positiva/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imágenes de la galería pública se usan aquí como referencia interna de tratamiento, no como autorización automática de pauta.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https://www.facebook.com/FinadosMushucRunaEc/photos — consulta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hilo es un recurso propuesto; debe mantenerse sobrio para no convertirse en ornamento vacío.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Dirección creativa propuesta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pieza debe diseñarse primero para 9:16 y luego adaptarse. Todos los diálogos deben llevar subtítulos.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recomendada 45–60 segundos; cortes de 20, 10 y 6 segundos. Sin artistas en la primera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https://www.facebook.com/FinadosMushucRunaEc/photos — consulta 2026-08-25.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concepto requiere grabación adicional de expositores, demostraciones y visitantes, con consentimiento.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vault/11_eventos/2026_feria-finados/01_concepto-experiencia/rutas-es-tradicion-y-comercio-finados-2026.md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usar repertorio sin licencias. La música debe producirse, licenciarse o venir de material autorizado.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https://www.facebook.com/FinadosMushucRunaEc/photos — consulta 2026-08-25.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calendario semanal debe contener al menos tres pilares. La información de servicio aumenta al acercarse la feria.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matriz reduce retrabajo y protege consistencia. Toda pieza clave debe funcionar sin sonido.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fechas de feria y los hitos de venta son de planificación. No se publican hasta pasar los gates correspondientes.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vault/11_eventos/2026_feria-finados/05_marketing-comunicacion/01_estrategia/calendario-expectativa-y-revelacion-finados-2026.md</a:t>
            </a:r>
          </a:p>
          <a:p xmlns:a="http://schemas.openxmlformats.org/drawingml/2006/main">
            <a:r>
              <a:t>- vault/11_eventos/2026_feria-finados/00_direccion-control/hitos-y-cronograma.md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publicar expectativa si el concepto, responsables y permisos mínimos no están cerrados.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vault/11_eventos/2026_feria-finados/00_direccion-control/hitos-y-cronograma.md</a:t>
            </a:r>
          </a:p>
          <a:p xmlns:a="http://schemas.openxmlformats.org/drawingml/2006/main">
            <a:r>
              <a:t>- vault/11_eventos/2026_feria-finados/05_marketing-comunicacion/01_estrategia/calendario-expectativa-y-revelacion-finados-2026.md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primer video no lleva cartel nominal ni promesas operativas no validadas.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usar “más likes gana”. La convocatoria debe proteger integridad, producción y seguridad.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vault/11_eventos/2026_feria-finados/05_marketing-comunicacion/01_estrategia/estrategia-competitiva-preventa-y-participacion-finados-2026.md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preventa solo inicia cuando la oferta es cierta y el recorrido de compra está probado de extremo a extremo.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vault/11_eventos/2026_feria-finados/07_entradas-accesos/arquitectura-preventa-y-retorno-finados-2026.md</a:t>
            </a:r>
          </a:p>
          <a:p xmlns:a="http://schemas.openxmlformats.org/drawingml/2006/main">
            <a:r>
              <a:t>- vault/11_eventos/2026_feria-finados/05_marketing-comunicacion/01_estrategia/plan-revelacion-confidencial-cartel-finados-2026.md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reconocimiento propuesto por Alex debe basarse en registros o evidencia verificable, no en una afirmación imposible de comprobar.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Propuesta nueva registrada 2026-08-25.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guía puede anunciarse como “próximamente” solo cuando existe un alcance aprobado y un responsable técnico.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vault/11_eventos/2026_feria-finados/10_tecnologia-datos/guia-movil-informativa-finados-2026.md</a:t>
            </a:r>
          </a:p>
          <a:p xmlns:a="http://schemas.openxmlformats.org/drawingml/2006/main">
            <a:r>
              <a:t>- vault/11_eventos/2026_feria-finados/01_concepto-experiencia/experiencia-200k-finados-2026.md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retargeting debe variar el argumento: emoción, utilidad, prueba y 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vault/11_eventos/2026_feria-finados/05_marketing-comunicacion/01_estrategia/plan-operativo-digital-finados-2026.md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publicar cifras de parqueaderos, aforo ni tiempos de acceso sin validación operativa.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vault/11_eventos/2026_feria-finados/07_entradas-accesos/</a:t>
            </a:r>
          </a:p>
          <a:p xmlns:a="http://schemas.openxmlformats.org/drawingml/2006/main">
            <a:r>
              <a:t>- vault/11_eventos/2026_feria-finados/08_produccion-logistica/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MVP no requiere backend, cuentas ni transacciones. La ampliación de estacionamientos solo se publica cuando operación confirme ubicación, capacidad, accesos y estado. La IA se usa internamente para preparación y QA, no como chatbot público.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vault/11_eventos/2026_feria-finados/10_tecnologia-datos/guia-movil-informativa-finados-2026.md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Nunca usar “sold out”, contadores o porcentajes falsos. La recuperación de confianza vale más que un pico de conversión.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vault/11_eventos/2026_feria-finados/07_entradas-accesos/arquitectura-preventa-y-retorno-finados-2026.md</a:t>
            </a:r>
          </a:p>
          <a:p xmlns:a="http://schemas.openxmlformats.org/drawingml/2006/main">
            <a:r>
              <a:t>- vault/14_riesgos-contingencias/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ventana de fechas es un supuesto interno. Ajustar la secuencia si cambia el calendario ratificado.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vault/11_eventos/2026_feria-finados/01_concepto-experiencia/experiencia-200k-finados-2026.md</a:t>
            </a:r>
          </a:p>
          <a:p xmlns:a="http://schemas.openxmlformats.org/drawingml/2006/main">
            <a:r>
              <a:t>- Supuesto de planificación entregado por Alex Naranjo.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Priorizar planos de público con consentimiento y zonas de grabación señalizadas cuando corresponda.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https://www.facebook.com/FinadosMushucRunaEc/photos — consulta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interfaz mostrada es un wireframe conceptual, no un diseño aprobado ni una app desarrollada. El mapa debe diferenciar parqueaderos nuevos, accesos vehiculares, rutas peatonales y puntos de ayuda una vez validados.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vault/11_eventos/2026_feria-finados/10_tecnologia-datos/guia-movil-informativa-finados-2026.md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sistema de hitos es una propuesta. Los porcentajes solo pueden publicarse si ventas, finanzas y marketing concilian el mismo inventario.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vault/11_eventos/2026_feria-finados/07_entradas-accesos/arquitectura-preventa-y-retorno-finados-2026.md</a:t>
            </a:r>
          </a:p>
          <a:p xmlns:a="http://schemas.openxmlformats.org/drawingml/2006/main">
            <a:r>
              <a:t>- Principio de confianza documentado en vault/05_audiencias-investigacion/01_reputacion-riesgos-y-voz-publica/.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asignar nombres hasta ratificar vigencia y disponibilidad. El RACI funcional precede al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vault/02_equipo/organigrama-marketing-feria-finados-2025.md</a:t>
            </a:r>
          </a:p>
          <a:p xmlns:a="http://schemas.openxmlformats.org/drawingml/2006/main">
            <a:r>
              <a:t>- vault/11_eventos/2026_feria-finados/05_marketing-comunicacion/00_gestion/responsables-y-raci-finados-2026.md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día exacto de publicación puede variar; lo importante es mantener el ciclo de brief, producción, QA, salida y aprendizaje.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vault/11_eventos/2026_feria-finados/05_marketing-comunicacion/01_estrategia/plan-operativo-digital-finados-2026.md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checklist debe convertirse en campo obligatorio del tablero de aprobación.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vault/00_gobernanza/criterios-calidad.md</a:t>
            </a:r>
          </a:p>
          <a:p xmlns:a="http://schemas.openxmlformats.org/drawingml/2006/main">
            <a:r>
              <a:t>- vault/11_eventos/2026_feria-finados/14_riesgos-contingencias/registro-riesgos-finados-2026.md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solicitando tres decisiones: aprobación de la plataforma, aprobación del sistema visual y validación del calendario/gates.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https://www.facebook.com/FinadosMushucRunaEc/photos — consulta 2026-08-25.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de3334fad40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f9b8b7137b4295" /><Relationship Type="http://schemas.openxmlformats.org/officeDocument/2006/relationships/slideLayout" Target="/ppt/slideLayouts/slideLayout1.xml" Id="Ra34db2ff19e748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4db2ff19e748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a3c962f734425" /><Relationship Type="http://schemas.openxmlformats.org/officeDocument/2006/relationships/image" Target="/ppt/media/image.png" Id="Refd6b6183e964ca9" /><Relationship Type="http://schemas.openxmlformats.org/officeDocument/2006/relationships/notesSlide" Target="/ppt/notesSlides/notesSlide1.xml" Id="Rd093a5a4bf774c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f40cbdc424b04" /><Relationship Type="http://schemas.openxmlformats.org/officeDocument/2006/relationships/notesSlide" Target="/ppt/notesSlides/notesSlide2.xml" Id="Rfdd7544eaa3b47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65529bf2e47a1" /><Relationship Type="http://schemas.openxmlformats.org/officeDocument/2006/relationships/notesSlide" Target="/ppt/notesSlides/notesSlide3.xml" Id="Rf564fb4ac1d740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c2bd4248f470a" /><Relationship Type="http://schemas.openxmlformats.org/officeDocument/2006/relationships/notesSlide" Target="/ppt/notesSlides/notesSlide4.xml" Id="R0c34277b26bd43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155a610704b75" /><Relationship Type="http://schemas.openxmlformats.org/officeDocument/2006/relationships/notesSlide" Target="/ppt/notesSlides/notesSlide5.xml" Id="R43bcdb46b6b048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9b33279534fb7" /><Relationship Type="http://schemas.openxmlformats.org/officeDocument/2006/relationships/image" Target="/ppt/media/image2.png" Id="Rd2b70e057b164d0e" /><Relationship Type="http://schemas.openxmlformats.org/officeDocument/2006/relationships/notesSlide" Target="/ppt/notesSlides/notesSlide6.xml" Id="R5c0576b5964c4e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63a5aec8645c2" /><Relationship Type="http://schemas.openxmlformats.org/officeDocument/2006/relationships/notesSlide" Target="/ppt/notesSlides/notesSlide7.xml" Id="Re5da9eef19be4a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4220eac734775" /><Relationship Type="http://schemas.openxmlformats.org/officeDocument/2006/relationships/image" Target="/ppt/media/image3.png" Id="Refbed8cc0bee4c2f" /><Relationship Type="http://schemas.openxmlformats.org/officeDocument/2006/relationships/notesSlide" Target="/ppt/notesSlides/notesSlide8.xml" Id="R851d568c12b140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d0b8a5c824921" /><Relationship Type="http://schemas.openxmlformats.org/officeDocument/2006/relationships/notesSlide" Target="/ppt/notesSlides/notesSlide9.xml" Id="R7e24198172f340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cf3d3f02245b3" /><Relationship Type="http://schemas.openxmlformats.org/officeDocument/2006/relationships/image" Target="/ppt/media/image4.png" Id="R1a28d3dc68694b9b" /><Relationship Type="http://schemas.openxmlformats.org/officeDocument/2006/relationships/notesSlide" Target="/ppt/notesSlides/notesSlide10.xml" Id="R19d84812e88743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bb9c5d2804ea5" /><Relationship Type="http://schemas.openxmlformats.org/officeDocument/2006/relationships/notesSlide" Target="/ppt/notesSlides/notesSlide11.xml" Id="R5ffcbe433b904f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58b4bfde54aab" /><Relationship Type="http://schemas.openxmlformats.org/officeDocument/2006/relationships/notesSlide" Target="/ppt/notesSlides/notesSlide12.xml" Id="R3779e5ea271443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82dfff0354993" /><Relationship Type="http://schemas.openxmlformats.org/officeDocument/2006/relationships/image" Target="/ppt/media/image5.png" Id="R235e1ef932b7471f" /><Relationship Type="http://schemas.openxmlformats.org/officeDocument/2006/relationships/notesSlide" Target="/ppt/notesSlides/notesSlide13.xml" Id="R8773690cc84f4c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76ec4bd434038" /><Relationship Type="http://schemas.openxmlformats.org/officeDocument/2006/relationships/image" Target="/ppt/media/image.jpeg" Id="R6e1b78d1b3df49cb" /><Relationship Type="http://schemas.openxmlformats.org/officeDocument/2006/relationships/image" Target="/ppt/media/image2.jpeg" Id="Rb3bb421fc37a44d0" /><Relationship Type="http://schemas.openxmlformats.org/officeDocument/2006/relationships/image" Target="/ppt/media/image3.jpeg" Id="R8b34853ea9064974" /><Relationship Type="http://schemas.openxmlformats.org/officeDocument/2006/relationships/notesSlide" Target="/ppt/notesSlides/notesSlide14.xml" Id="R3fb4429accdd4a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1c8609b7344af" /><Relationship Type="http://schemas.openxmlformats.org/officeDocument/2006/relationships/notesSlide" Target="/ppt/notesSlides/notesSlide15.xml" Id="R21e8f9a753c643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b28b6fef74eec" /><Relationship Type="http://schemas.openxmlformats.org/officeDocument/2006/relationships/notesSlide" Target="/ppt/notesSlides/notesSlide16.xml" Id="Rab568127ba0845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3f241d8514131" /><Relationship Type="http://schemas.openxmlformats.org/officeDocument/2006/relationships/image" Target="/ppt/media/image4.jpeg" Id="R39bd437e46f24bff" /><Relationship Type="http://schemas.openxmlformats.org/officeDocument/2006/relationships/image" Target="/ppt/media/image5.jpeg" Id="Re1e0a2e0793c4622" /><Relationship Type="http://schemas.openxmlformats.org/officeDocument/2006/relationships/image" Target="/ppt/media/image6.jpeg" Id="R39f70676e39a4d7a" /><Relationship Type="http://schemas.openxmlformats.org/officeDocument/2006/relationships/image" Target="/ppt/media/image7.jpeg" Id="R61c7719ebc0447ec" /><Relationship Type="http://schemas.openxmlformats.org/officeDocument/2006/relationships/notesSlide" Target="/ppt/notesSlides/notesSlide17.xml" Id="R5474869afd3244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c9cf8262742c6" /><Relationship Type="http://schemas.openxmlformats.org/officeDocument/2006/relationships/image" Target="/ppt/media/image6.png" Id="Re978716152f94e12" /><Relationship Type="http://schemas.openxmlformats.org/officeDocument/2006/relationships/notesSlide" Target="/ppt/notesSlides/notesSlide18.xml" Id="Rb28c2fd8930d4b5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844d830ee4f71" /><Relationship Type="http://schemas.openxmlformats.org/officeDocument/2006/relationships/image" Target="/ppt/media/image8.jpeg" Id="Rce2eeb9269bd4804" /><Relationship Type="http://schemas.openxmlformats.org/officeDocument/2006/relationships/notesSlide" Target="/ppt/notesSlides/notesSlide19.xml" Id="R9b7c38468c8441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74c7d62b34b06" /><Relationship Type="http://schemas.openxmlformats.org/officeDocument/2006/relationships/notesSlide" Target="/ppt/notesSlides/notesSlide20.xml" Id="R45da1b1c90e84df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d88dd4f7d4de6" /><Relationship Type="http://schemas.openxmlformats.org/officeDocument/2006/relationships/notesSlide" Target="/ppt/notesSlides/notesSlide21.xml" Id="R302fc8167f594b1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534ef5a1448a9" /><Relationship Type="http://schemas.openxmlformats.org/officeDocument/2006/relationships/notesSlide" Target="/ppt/notesSlides/notesSlide22.xml" Id="R2c8a4a315e8b4e4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5b8cb226b4fc2" /><Relationship Type="http://schemas.openxmlformats.org/officeDocument/2006/relationships/notesSlide" Target="/ppt/notesSlides/notesSlide23.xml" Id="Rfc0d908de46542b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60cbae1e74a3e" /><Relationship Type="http://schemas.openxmlformats.org/officeDocument/2006/relationships/notesSlide" Target="/ppt/notesSlides/notesSlide24.xml" Id="Rd9c134f1231f49d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f6b6f685e40b1" /><Relationship Type="http://schemas.openxmlformats.org/officeDocument/2006/relationships/notesSlide" Target="/ppt/notesSlides/notesSlide25.xml" Id="R9fe55b637eda44a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09cb609cf409c" /><Relationship Type="http://schemas.openxmlformats.org/officeDocument/2006/relationships/notesSlide" Target="/ppt/notesSlides/notesSlide26.xml" Id="R5241380be0714aa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e6a20d2af4af4" /><Relationship Type="http://schemas.openxmlformats.org/officeDocument/2006/relationships/notesSlide" Target="/ppt/notesSlides/notesSlide27.xml" Id="R56e81d68cf02496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661b630cb4e4e" /><Relationship Type="http://schemas.openxmlformats.org/officeDocument/2006/relationships/notesSlide" Target="/ppt/notesSlides/notesSlide28.xml" Id="Ra73d3c8e4e904f2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4228278f14a7c" /><Relationship Type="http://schemas.openxmlformats.org/officeDocument/2006/relationships/notesSlide" Target="/ppt/notesSlides/notesSlide29.xml" Id="R6343ea85428d421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ec1160452400a" /><Relationship Type="http://schemas.openxmlformats.org/officeDocument/2006/relationships/notesSlide" Target="/ppt/notesSlides/notesSlide30.xml" Id="R0aa9e5ea88f8488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aa05a01584372" /><Relationship Type="http://schemas.openxmlformats.org/officeDocument/2006/relationships/notesSlide" Target="/ppt/notesSlides/notesSlide31.xml" Id="Rfe77f7fdaad24de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72adb76f243c2" /><Relationship Type="http://schemas.openxmlformats.org/officeDocument/2006/relationships/notesSlide" Target="/ppt/notesSlides/notesSlide32.xml" Id="R55c0f9ab7c40415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4d7c97c33471d" /><Relationship Type="http://schemas.openxmlformats.org/officeDocument/2006/relationships/notesSlide" Target="/ppt/notesSlides/notesSlide33.xml" Id="Rb1ecd325315d476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b5ac311d84c2a" /><Relationship Type="http://schemas.openxmlformats.org/officeDocument/2006/relationships/image" Target="/ppt/media/image9.jpeg" Id="Re2f4b12e8b814cdd" /><Relationship Type="http://schemas.openxmlformats.org/officeDocument/2006/relationships/image" Target="/ppt/media/image10.jpeg" Id="R9d56b05dd2bf475b" /><Relationship Type="http://schemas.openxmlformats.org/officeDocument/2006/relationships/image" Target="/ppt/media/image11.jpeg" Id="Rbb785b9d0c194dbf" /><Relationship Type="http://schemas.openxmlformats.org/officeDocument/2006/relationships/image" Target="/ppt/media/image12.jpeg" Id="Rf30bdb15ec754f2d" /><Relationship Type="http://schemas.openxmlformats.org/officeDocument/2006/relationships/notesSlide" Target="/ppt/notesSlides/notesSlide34.xml" Id="Rda9df446694d4c7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e466a65d2470d" /><Relationship Type="http://schemas.openxmlformats.org/officeDocument/2006/relationships/notesSlide" Target="/ppt/notesSlides/notesSlide35.xml" Id="R63cb8e411aa84dc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80e572307422a" /><Relationship Type="http://schemas.openxmlformats.org/officeDocument/2006/relationships/notesSlide" Target="/ppt/notesSlides/notesSlide36.xml" Id="R96cc04689ee5442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ddeb3e856401c" /><Relationship Type="http://schemas.openxmlformats.org/officeDocument/2006/relationships/notesSlide" Target="/ppt/notesSlides/notesSlide37.xml" Id="Rdfde8f7a263f4c2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455e65fc64af9" /><Relationship Type="http://schemas.openxmlformats.org/officeDocument/2006/relationships/notesSlide" Target="/ppt/notesSlides/notesSlide38.xml" Id="Re25418489584438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969d4d95b4024" /><Relationship Type="http://schemas.openxmlformats.org/officeDocument/2006/relationships/notesSlide" Target="/ppt/notesSlides/notesSlide39.xml" Id="Rbf94b0a611714be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7f91f1b7442b6" /><Relationship Type="http://schemas.openxmlformats.org/officeDocument/2006/relationships/image" Target="/ppt/media/image7.png" Id="Raa0b7a37272e48dc" /><Relationship Type="http://schemas.openxmlformats.org/officeDocument/2006/relationships/notesSlide" Target="/ppt/notesSlides/notesSlide40.xml" Id="R71fd74b8f32f46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6b6183e964ca9"/>
          <a:srcRect xmlns:a="http://schemas.openxmlformats.org/drawingml/2006/main" l="0" t="7905" r="0" b="7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4B0CA-238F-42E6-B02B-7A062AFB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>
                  <a:alpha val="94000"/>
                </a:srgbClr>
              </a:gs>
              <a:gs pos="43000">
                <a:srgbClr val="6E38D2">
                  <a:alpha val="58000"/>
                </a:srgbClr>
              </a:gs>
              <a:gs pos="72000">
                <a:srgbClr val="EC2E7B">
                  <a:alpha val="28000"/>
                </a:srgbClr>
              </a:gs>
              <a:gs pos="100000">
                <a:srgbClr val="FF8A24">
                  <a:alpha val="20000"/>
                </a:srgbClr>
              </a:gs>
            </a:gsLst>
            <a:lin ang="66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6E85B-F990-41BD-BA09-107CE084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1581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/>
              </a:gs>
              <a:gs pos="64000">
                <a:srgbClr val="3E165F"/>
              </a:gs>
              <a:gs pos="100000">
                <a:srgbClr val="EC2E7B"/>
              </a:gs>
            </a:gsLst>
            <a:lin ang="75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C320A-4A7C-42FA-9009-44A7D7D8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24450"/>
            <a:ext cx="2552700" cy="17335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01A3E"/>
              </a:gs>
              <a:gs pos="62000">
                <a:srgbClr val="EC2E7B"/>
              </a:gs>
              <a:gs pos="100000">
                <a:srgbClr val="FF8A24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56CDB-B9FD-492D-A9C4-6C3C38CE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04850"/>
            <a:ext cx="4152900" cy="3714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C7D7">
                  <a:alpha val="0"/>
                </a:srgbClr>
              </a:gs>
              <a:gs pos="58000">
                <a:srgbClr val="16C7D7">
                  <a:alpha val="22000"/>
                </a:srgbClr>
              </a:gs>
              <a:gs pos="100000">
                <a:srgbClr val="FFD447">
                  <a:alpha val="28000"/>
                </a:srgbClr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FAA4C-EC41-4DF2-BF06-21AF70D7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8A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742BF-9B59-4236-B1A2-A979A686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FINADOS MUSHUC RUNA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244BA-3F21-47B9-8904-DDCE3796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5700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ES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700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5700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TRADICIÓN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CC334-5A8E-4AF3-B7CE-0E73C065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Dirección creativa y campaña integral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0A703-7446-42B4-90D1-36F670BD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Cómo convertir recuerdo, orgullo y experiencia real en deseo de volver.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6A0C8-6D1F-434D-92DD-6EB628A7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5048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7132F">
              <a:alpha val="4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5480A-C815-4F03-81C1-D75D5750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Guía para dirección · marketing · diseño · audiovisual · producción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A6DAD-A6E4-402C-AE63-D36B4086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8A24">
                <a:alpha val="55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FE811-A717-4B7E-B250-2117BAB9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20A2C-754A-4FAA-9EC6-E1490506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1871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3160A-5760-4BC1-81FA-BE8B9691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/>
              </a:gs>
              <a:gs pos="46000">
                <a:srgbClr val="3E165F"/>
              </a:gs>
              <a:gs pos="100000">
                <a:srgbClr val="16C7D7">
                  <a:alpha val="7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4DE6B-3C81-4AF0-87F7-D950DF75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7D7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67828-AD58-40D2-AD70-1CBEA75A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2E7B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AEEAE-CCB5-42B1-8C44-4B02F5DD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57250"/>
            <a:ext cx="4381500" cy="876300"/>
          </a:xfrm>
          <a:prstGeom xmlns:a="http://schemas.openxmlformats.org/drawingml/2006/main" prst="roundRect">
            <a:avLst>
              <a:gd name="adj" fmla="val 19565"/>
            </a:avLst>
          </a:prstGeom>
          <a:gradFill xmlns:a="http://schemas.openxmlformats.org/drawingml/2006/main">
            <a:gsLst>
              <a:gs pos="0">
                <a:srgbClr val="16C7D7">
                  <a:alpha val="0"/>
                </a:srgbClr>
              </a:gs>
              <a:gs pos="54000">
                <a:srgbClr val="16C7D7">
                  <a:alpha val="72000"/>
                </a:srgbClr>
              </a:gs>
              <a:gs pos="100000">
                <a:srgbClr val="EC2E7B">
                  <a:alpha val="82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9226B-9B61-4139-8362-13D2C01B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57700"/>
            <a:ext cx="5238750" cy="514350"/>
          </a:xfrm>
          <a:prstGeom xmlns:a="http://schemas.openxmlformats.org/drawingml/2006/main" prst="roundRect">
            <a:avLst>
              <a:gd name="adj" fmla="val 25926"/>
            </a:avLst>
          </a:prstGeom>
          <a:gradFill xmlns:a="http://schemas.openxmlformats.org/drawingml/2006/main">
            <a:gsLst>
              <a:gs pos="0">
                <a:srgbClr val="EC2E7B">
                  <a:alpha val="0"/>
                </a:srgbClr>
              </a:gs>
              <a:gs pos="72000">
                <a:srgbClr val="EC2E7B">
                  <a:alpha val="58000"/>
                </a:srgbClr>
              </a:gs>
              <a:gs pos="100000">
                <a:srgbClr val="16C7D7">
                  <a:alpha val="7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4C6A4-32C4-4D27-A097-F4FF0CF8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C2E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35492-FC18-4E77-BFBC-4228ADEE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EL ENCARGO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79175-F0C4-45CE-92B1-B16C852D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191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900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3900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No necesitamos anunciar otra feria.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A79F6-2505-47E1-9653-8959990F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942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Necesitamos hacer que la gente quiera volver, quedarse y regresar otro día.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F4B85-EDB3-47F4-94DA-E5A74BAC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2E7B">
                <a:alpha val="55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EEEB6-3152-4F27-B99C-06119090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CBE3C-5339-41A0-86A6-480013DB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58591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7FDA7A-0C89-4F0B-BB13-8DA721A2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2D78FF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32A4C-880F-4AD4-B116-8E0AD9DB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5E7A6-A5B3-48E0-AEDA-2681C8A7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8FF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450FD-70AF-4C7E-A61C-4618BFA3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8A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3E247-384F-4791-86ED-D7D23FA5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PUNTO DE PARTIDA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18612-AF0A-46E0-BD06-8A5C53D8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La verdad que obliga a cambiar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877F6-A0AD-45FA-99DC-702D4320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Más publicaciones no garantizan una feria más llena ni comercios con mejores resultados.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8E4C6-1FD7-46A2-B3B0-927D131C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8A24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A3560-BFDA-44C9-842E-0CDCA495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A2FC1-97C6-4622-9069-FFB66D6D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33D2C-C483-48A0-8ED9-1FA630D9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3429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21361-4ECA-4C30-83ED-7529B5E7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C7558-B623-48D5-80A2-B452F5DF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2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0F8AB-F855-4C93-B79F-FECC90E7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35,8 publicaciones por día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5D550-2295-4890-9033-980159D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3048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Finados 2025 concentró 179 publicaciones en cinco días. La saturación fragmentó la atención y redujo la función de cada pieza.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3F02A-7607-4D8B-A9F2-E1E7A240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3429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E1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0801E-8580-4B47-BCB4-1F343B50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76EE1-F850-497F-924A-DE80FA5D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BCA03-FEC4-4A70-BFC6-298B4991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25,8% en una sola pieza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53EDF-F302-4A6F-9E0B-AF792D9F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3048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Una publicación concentró más de una cuarta parte de las interacciones. El rendimiento dependió demasiado de un pico aislado.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4AF74-4A16-49FF-B1EA-D117CE15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429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DDF9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67F8D-A824-4958-9420-8958BF30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62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C63C10-143F-4A26-9083-E4BF1877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C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C4315E-107B-4B86-9DF4-B3D46978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19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Video supera a foto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7ACFAE-BE47-4A17-AC63-99ABBB74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3048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La historia, la música y el movimiento generan más respuesta. El video debe construir deseo; la gráfica debe ordenar la decisión.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C0D024-C4E2-43D5-8884-17C8CE12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10871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3E1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0B94C9-CC1B-4C23-BB82-80070FDD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Conclusión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44B0AA-2211-494A-B706-223A4986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76825"/>
            <a:ext cx="909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El problema no es falta de volumen. Es falta de una historia coherente que avance de emoción a acción.</a:t>
            </a:r>
          </a:p>
        </p:txBody>
      </p:sp>
    </p:spTree>
    <p:extLst>
      <p:ext uri="{BB962C8B-B14F-4D97-AF65-F5344CB8AC3E}">
        <p14:creationId xmlns:p14="http://schemas.microsoft.com/office/powerpoint/2010/main" val="1481052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1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BEFE8-7AE6-4C57-93CF-74A3A462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E1ED3-EA0E-4554-9FC3-BBA03C83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0" i="0">
                <a:solidFill>
                  <a:srgbClr val="706982"/>
                </a:solidFill>
                <a:latin typeface="New York"/>
                <a:ea typeface="New York"/>
                <a:cs typeface="New York"/>
              </a:defRPr>
            </a:pPr>
            <a:r>
              <a:rPr sz="3300" b="0" i="0">
                <a:solidFill>
                  <a:srgbClr val="706982"/>
                </a:solidFill>
                <a:latin typeface="New York"/>
                <a:ea typeface="New York"/>
                <a:cs typeface="New York"/>
              </a:rPr>
              <a:t>Una cartelera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300" b="0" i="0">
                <a:solidFill>
                  <a:srgbClr val="706982"/>
                </a:solidFill>
                <a:latin typeface="New York"/>
                <a:ea typeface="New York"/>
                <a:cs typeface="New York"/>
              </a:defRPr>
            </a:pPr>
            <a:r>
              <a:rPr sz="3300" b="0" i="0">
                <a:solidFill>
                  <a:srgbClr val="706982"/>
                </a:solidFill>
                <a:latin typeface="New York"/>
                <a:ea typeface="New York"/>
                <a:cs typeface="New York"/>
              </a:rPr>
              <a:t>que se anuncia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49954-674B-4BE9-B278-1C0BD7D5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• piezas aisladas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• artistas como único argumento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• urgencia sin confianza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• cantidad sin recorrido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2BA2A-7329-40DF-8CEC-6381A702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0477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4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3CD9C-8E87-4CEF-A515-6818026E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81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8C264-F480-4531-8E42-A5A6F56D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04925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3300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Una tradición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300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3300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que vuelve a llamarnos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01D30-15A9-48DF-B99D-DE0AD3BC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memoria que despierta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experiencia que se descubre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prueba que reduce dudas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comunidad que invita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una decisión clara: volver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AE69E-947C-4D27-8884-A85587DB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67300"/>
            <a:ext cx="46672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E1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505EB-863A-45FF-9238-C2F46755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19700"/>
            <a:ext cx="414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2100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ES TRADICIÓN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D7838-9645-4389-A31B-67E6B495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38D2">
                <a:alpha val="3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4DA56-BA32-4261-9EBA-A7D5AAF1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ACAF3-A50D-4A52-87C0-9ABCB405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864506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07CAA7-1DCC-4A2C-9525-CE3D9727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/>
              </a:gs>
              <a:gs pos="46000">
                <a:srgbClr val="3E165F"/>
              </a:gs>
              <a:gs pos="100000">
                <a:srgbClr val="FFD447">
                  <a:alpha val="7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8C27C-C625-4107-9B14-315CD3DE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47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EAD0E-2845-47FF-A6A6-DB153EED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2E7B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51F6C-B4AF-4E8F-AB5D-C9BE2F74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35A04-6C95-4FDE-8295-09247EF3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PLATAFORMA DE MARCA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C4B60-F21A-4714-924C-B134DB05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Una promesa con jerarquía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989D9-C06C-4A11-8025-A2D19D5E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Cada frase tiene una función; no compiten entre sí.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80215-A0C8-447E-93AA-A5120FE6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2E7B">
                <a:alpha val="5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1CD5B-1165-460D-A655-8677CF50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57DA5-08FD-4136-AACC-A65A4899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D47B1-3F7A-47A5-9BB8-D9DC19AD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10871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A304B-74A2-47C6-9DE3-6F0DC45D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1 · IDEA MAESTRA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59A8C-EDA2-41AF-9011-6C7600DE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032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700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ES TRADICIÓN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3A1A4-1C97-4696-81E7-DD296C45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539115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DFC">
              <a:alpha val="10000"/>
            </a:srgbClr>
          </a:solidFill>
          <a:ln xmlns:a="http://schemas.openxmlformats.org/drawingml/2006/main" w="9525">
            <a:solidFill>
              <a:srgbClr val="FFF1DF">
                <a:alpha val="18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96C12-4505-4190-8175-22E81242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2 · PROMESA EMOCIONAL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56CB9-7E94-4D95-9748-588FF5CA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217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Cinco días para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217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volver a encontrarnos.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C69AC-83F1-43BA-8DE3-31E12AD6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71850"/>
            <a:ext cx="539115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DFC">
              <a:alpha val="10000"/>
            </a:srgbClr>
          </a:solidFill>
          <a:ln xmlns:a="http://schemas.openxmlformats.org/drawingml/2006/main" w="9525">
            <a:solidFill>
              <a:srgbClr val="FFF1DF">
                <a:alpha val="18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4B3E1-BD52-4EE7-A4D7-5E8962A2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3 · FIRMA DE EXPERIENCIA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903058-6197-4EAA-9806-31415BB1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20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La feria se vive.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20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La tradición se comparte.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5CB35-8E5C-465A-BC5F-43A5A4FA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Uso recomendado: idea maestra siempre; promesa en campaña; firma en contenido y experiencia.</a:t>
            </a:r>
          </a:p>
        </p:txBody>
      </p:sp>
    </p:spTree>
    <p:extLst>
      <p:ext uri="{BB962C8B-B14F-4D97-AF65-F5344CB8AC3E}">
        <p14:creationId xmlns:p14="http://schemas.microsoft.com/office/powerpoint/2010/main" val="13733906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70e057b164d0e"/>
          <a:srcRect xmlns:a="http://schemas.openxmlformats.org/drawingml/2006/main" l="0" t="7796" r="0" b="77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CF927-0345-4587-8FFC-65901085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>
                  <a:alpha val="88000"/>
                </a:srgbClr>
              </a:gs>
              <a:gs pos="44000">
                <a:srgbClr val="6E38D2">
                  <a:alpha val="56000"/>
                </a:srgbClr>
              </a:gs>
              <a:gs pos="72000">
                <a:srgbClr val="EC2E7B">
                  <a:alpha val="26000"/>
                </a:srgbClr>
              </a:gs>
              <a:gs pos="100000">
                <a:srgbClr val="FF8A24">
                  <a:alpha val="18000"/>
                </a:srgbClr>
              </a:gs>
            </a:gsLst>
            <a:lin ang="672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1F244-594A-445B-8EFD-7CE01FD4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3400"/>
            <a:ext cx="4133850" cy="4000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D447">
                  <a:alpha val="0"/>
                </a:srgbClr>
              </a:gs>
              <a:gs pos="72000">
                <a:srgbClr val="FFD447">
                  <a:alpha val="20000"/>
                </a:srgbClr>
              </a:gs>
              <a:gs pos="100000">
                <a:srgbClr val="16C7D7">
                  <a:alpha val="26000"/>
                </a:srgbClr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07660-AF7E-44F7-A379-FADCEEC5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TERRITORIO EMOCIONAL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E63C4-FD5D-4835-82CD-AA01D866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523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4800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Nostalgia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800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4800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luminosa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1950D-ED10-40ED-95CA-AACF638D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75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Recordar sin entristecer.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Conmover sin dramatizar.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Celebrar sin perder identidad.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6130B-E397-4B19-A257-93BD9151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4762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7132F">
              <a:alpha val="4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E54B6-B4C0-4BC5-91E2-21184674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432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La emoción no mira solo al pasado: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lo convierte en una razón presente para volver.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520F9-4C4B-4199-A5A1-D4F82B01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C7D7">
                <a:alpha val="55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A41C9-06FC-4753-822E-F33CC3F4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3CCE9-3C4C-4AFD-868C-A9C9F7E5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038777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2C1AAC-39B3-4BEC-A89A-30B34BFB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FF8A24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AE07D-7753-414C-AD1C-367AE26E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8A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3AE7A-AE59-4FC0-BA95-9738FC51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F8502-FFBD-47FA-8744-77B07AF4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5C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2A6C0-086C-44FD-8821-1D902CFF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ARQUITECTURA EMOCIONAL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942F8-F2F3-48C5-ADAF-0699832A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La historia debe avanzar, no repetirse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23179-9CB1-48EC-951A-3C0E4D30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Cada fase mueve a la persona un paso más cerca de la visita.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A9E37-5196-4987-81F5-C2556A19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C98A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B3738-932E-4B38-9741-F04E7562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B8EA6-D164-49F9-BA77-554C76F5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1CC5F-9FEF-41CC-8BA6-856CBB93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752600" cy="2076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A45DE2">
                <a:alpha val="6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1278C-8FFE-4AB7-8415-FD6F9716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A45DE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A45DE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A035E-E539-4C79-BE14-48033F01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RECUERDO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569DC-6C8A-448A-B410-6BB599C6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7132F"/>
                </a:solidFill>
                <a:latin typeface="New York"/>
                <a:ea typeface="New York"/>
                <a:cs typeface="New York"/>
              </a:defRPr>
            </a:pPr>
            <a:r>
              <a:rPr sz="1500" b="0" i="0">
                <a:solidFill>
                  <a:srgbClr val="17132F"/>
                </a:solidFill>
                <a:latin typeface="New York"/>
                <a:ea typeface="New York"/>
                <a:cs typeface="New York"/>
              </a:rPr>
              <a:t>Eso lo viví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02B2F-91C2-4D66-A969-15B9A8FD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43150"/>
            <a:ext cx="1752600" cy="2076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8E1F70">
                <a:alpha val="6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A88D4-8EEE-47CA-AE55-8288C297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3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3BAA7-ED30-4BE5-A6E7-329F2D49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A223A-D9DB-43D8-9993-3D1664BD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480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7132F"/>
                </a:solidFill>
                <a:latin typeface="New York"/>
                <a:ea typeface="New York"/>
                <a:cs typeface="New York"/>
              </a:defRPr>
            </a:pPr>
            <a:r>
              <a:rPr sz="1500" b="0" i="0">
                <a:solidFill>
                  <a:srgbClr val="17132F"/>
                </a:solidFill>
                <a:latin typeface="New York"/>
                <a:ea typeface="New York"/>
                <a:cs typeface="New York"/>
              </a:rPr>
              <a:t>Quiero saber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AE4EA-E4E8-4BFA-A29C-1119029C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1752600" cy="2076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FF8A24">
                <a:alpha val="6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9A6B9-E195-4A36-837B-1DB39CCD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D94CFB-6456-4C9E-8C34-A898A169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ORGULLO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680D85-BC07-4848-8CA9-9061E370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7132F"/>
                </a:solidFill>
                <a:latin typeface="New York"/>
                <a:ea typeface="New York"/>
                <a:cs typeface="New York"/>
              </a:defRPr>
            </a:pPr>
            <a:r>
              <a:rPr sz="1500" b="0" i="0">
                <a:solidFill>
                  <a:srgbClr val="17132F"/>
                </a:solidFill>
                <a:latin typeface="New York"/>
                <a:ea typeface="New York"/>
                <a:cs typeface="New York"/>
              </a:rPr>
              <a:t>Esto es nuestro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B730B0-3F38-4478-8D46-81C467B2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1752600" cy="2076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EC2E7B">
                <a:alpha val="6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916501-3F47-4933-AA62-700EA5E1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72965-BB3F-4463-BFD0-DBD66938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DESEO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BDDBA8-1408-4E3E-AFFA-8386DE4A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7132F"/>
                </a:solidFill>
                <a:latin typeface="New York"/>
                <a:ea typeface="New York"/>
                <a:cs typeface="New York"/>
              </a:defRPr>
            </a:pPr>
            <a:r>
              <a:rPr sz="1500" b="0" i="0">
                <a:solidFill>
                  <a:srgbClr val="17132F"/>
                </a:solidFill>
                <a:latin typeface="New York"/>
                <a:ea typeface="New York"/>
                <a:cs typeface="New York"/>
              </a:rPr>
              <a:t>Quiero estar ahí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7002CA-116A-4995-BFA2-3809875A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1752600" cy="2076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35C98A">
                <a:alpha val="6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E0026D-7BFF-4489-B7C1-E7026660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940A05-11E4-4B07-A19D-271F593C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ENCUENTRO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83A64F-1EE9-4F12-8B47-41A11775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480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7132F"/>
                </a:solidFill>
                <a:latin typeface="New York"/>
                <a:ea typeface="New York"/>
                <a:cs typeface="New York"/>
              </a:defRPr>
            </a:pPr>
            <a:r>
              <a:rPr sz="1500" b="0" i="0">
                <a:solidFill>
                  <a:srgbClr val="17132F"/>
                </a:solidFill>
                <a:latin typeface="New York"/>
                <a:ea typeface="New York"/>
                <a:cs typeface="New York"/>
              </a:rPr>
              <a:t>Vamos juntos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777F11-B7E3-4779-B143-FAEEA851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1752600" cy="2076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E165F"/>
          </a:solidFill>
          <a:ln xmlns:a="http://schemas.openxmlformats.org/drawingml/2006/main" w="19050">
            <a:solidFill>
              <a:srgbClr val="FFD447">
                <a:alpha val="6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99F63B-6593-4730-A53B-89C4B12D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3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E6C0F7-3D90-460E-8643-C8FEFA9D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CELEBRACIÓN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7EB390-6F54-489D-800E-05054285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480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FFFDFC"/>
                </a:solidFill>
                <a:latin typeface="New York"/>
                <a:ea typeface="New York"/>
                <a:cs typeface="New York"/>
              </a:defRPr>
            </a:pPr>
            <a:r>
              <a:rPr sz="1500" b="0" i="0">
                <a:solidFill>
                  <a:srgbClr val="FFFDFC"/>
                </a:solidFill>
                <a:latin typeface="New York"/>
                <a:ea typeface="New York"/>
                <a:cs typeface="New York"/>
              </a:rPr>
              <a:t>Ya volvimos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F82335-2A19-43EA-8133-5EBE786C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D4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37D2BC-5D1A-4E2D-93D0-65D194F8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292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La pauta amplifica el tramo correcto; no reemplaza el recorrido.</a:t>
            </a:r>
          </a:p>
        </p:txBody>
      </p:sp>
    </p:spTree>
    <p:extLst>
      <p:ext uri="{BB962C8B-B14F-4D97-AF65-F5344CB8AC3E}">
        <p14:creationId xmlns:p14="http://schemas.microsoft.com/office/powerpoint/2010/main" val="20989732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ed8cc0bee4c2f"/>
          <a:srcRect xmlns:a="http://schemas.openxmlformats.org/drawingml/2006/main" l="25873" t="0" r="25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01E50-C465-4A45-B815-5B29BE8F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6E38D2">
                  <a:alpha val="76000"/>
                </a:srgbClr>
              </a:gs>
              <a:gs pos="70000">
                <a:srgbClr val="EC2E7B">
                  <a:alpha val="12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23AB9-D101-4E8F-AA25-022B61FD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0000">
                <a:srgbClr val="FFFDFC"/>
              </a:gs>
              <a:gs pos="100000">
                <a:srgbClr val="16C7D7">
                  <a:alpha val="13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F5428-31BD-4139-9E87-6BB519F5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20002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4A8B6-6FBE-40BD-BA10-6CB6B050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334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AUDIENCIAS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9CC04-CC52-4CFD-8F9C-B9D3E133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87630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No vendemos lo mismo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a todas las personas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0D2A1-00D2-42DE-B6D1-C8111D62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33600"/>
            <a:ext cx="272415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F9C8F-A449-454F-902C-618AC953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33600"/>
            <a:ext cx="7620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2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49703-1A28-4D51-82C5-258A225D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Familias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A6DE0-41D9-4E55-B4F3-74DEC081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Seguridad, comodidad, comida, baños, rutas claras y actividades compartidas.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2CA1A-5DC3-4811-A33B-37AEF43E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272415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E1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5E9A9-41F8-4728-B948-5A5C7F3C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7620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CAF79-FDC3-4805-A507-EB1AA471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431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Jóvenes y parejas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C8CB9-DF06-4B37-91B9-8E6BA823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0035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Experiencias memorables, música, estética, participación y momentos para compartir.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EE490-9153-49B4-BB6D-1911BB85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90950"/>
            <a:ext cx="272415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DDF9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C28FE-64A8-41D8-A383-F717A091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90950"/>
            <a:ext cx="7620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C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02E02-C098-4A15-AFE3-06F236F6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005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Visitantes que regresan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0EE8A-5622-4043-99DA-81DB9B23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5770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Reconocimiento, continuidad, rituales y la sensación de que esta feria también les pertenece.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6DCC0-80F0-45DB-BD36-6DAD3EB7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90950"/>
            <a:ext cx="272415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EEE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C63DFA-0E3B-431A-9E76-86A2951B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90950"/>
            <a:ext cx="7620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3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11B383-7A8D-4BE7-990A-5ED8E9A4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Visitantes nuevos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3BC20-B746-405E-8760-A9CAF2C4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5770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Prueba concreta: qué hay, cómo llegar, qué cuesta, dónde estacionar y cómo aprovechar el día.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5943A2-66F8-4FA8-9EC1-EAE123F1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245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Trabajo común: reducir la incertidumbre y aumentar las ganas de compartir el plan.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59B9CD-98A8-43DD-98F1-4B00F21D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5E4A">
                <a:alpha val="32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D52A04-2F70-411B-84BD-085F38E3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BD21DC-8C6E-4713-87B9-4FE36166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654008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8A53CA-829F-421B-B55B-B6B45BF4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/>
              </a:gs>
              <a:gs pos="46000">
                <a:srgbClr val="3E165F"/>
              </a:gs>
              <a:gs pos="100000">
                <a:srgbClr val="EC2E7B">
                  <a:alpha val="7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7CC1B-4E87-4FAF-9FBC-E9B2B509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2E7B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CB2E8-A679-444E-8ABD-8EF2C196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BA365-BABF-42EF-90FE-E96AF5DF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C2E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F3AA0-8CF7-4106-B4A5-D85B9589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EXPERIENCIA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BE987-6399-4650-8AB0-478C1649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Cinco días, cinco razones distintas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FE2BA-1A93-4DCB-AE0F-C65AB07A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La campaña debe enseñar que no es el mismo evento repetido cinco veces.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E15A5-A2A9-4B33-98DE-C78EB176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8A24">
                <a:alpha val="5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1CEAF-CE61-423B-839D-A1A412D3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90AC0-BF86-418A-A552-002EE521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4487E-59B0-40CA-91D5-3CE50E90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8953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C7D7">
              <a:alpha val="22000"/>
            </a:srgbClr>
          </a:solidFill>
          <a:ln xmlns:a="http://schemas.openxmlformats.org/drawingml/2006/main" w="9525">
            <a:solidFill>
              <a:srgbClr val="16C7D7">
                <a:alpha val="5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FB964-9DDF-4279-9153-95E5E85F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rPr>
              <a:t>DÍA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6244E-C064-4A2C-9B92-036C7310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14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17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VOLVER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F240F-FE49-422B-972A-4378222A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526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Reencuentro · bienvenida · primera visita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2BA5D-CACC-4600-9C3E-3F2193EB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1DF">
                <a:alpha val="1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578F5-58A7-41CB-BBB5-76CAE9DF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8953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8A24">
              <a:alpha val="22000"/>
            </a:srgbClr>
          </a:solidFill>
          <a:ln xmlns:a="http://schemas.openxmlformats.org/drawingml/2006/main" w="9525">
            <a:solidFill>
              <a:srgbClr val="FF8A24">
                <a:alpha val="55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1E284-2104-4E0A-8808-D941A8B7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241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DÍA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DB16F-0A4F-477E-8C0E-F78D334A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57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17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DESCUBRIR LO NUESTRO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ADB2A-F1B9-41A6-873A-9F0BF954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956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Feria · sabores · oficios · rutas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CEA07-BD98-427C-A667-8E68F51C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1DF">
                <a:alpha val="1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7688F-B1A9-4AB1-80AC-2160AF25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8953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2E7B">
              <a:alpha val="22000"/>
            </a:srgbClr>
          </a:solidFill>
          <a:ln xmlns:a="http://schemas.openxmlformats.org/drawingml/2006/main" w="9525">
            <a:solidFill>
              <a:srgbClr val="EC2E7B">
                <a:alpha val="55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87E2E-2B0A-4E08-BE54-4D2BAA69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DÍA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1BFB8-9E1C-4A11-870E-5F2ADD51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00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17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CANTAR JUNTOS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94EC75-4DB0-495C-9A51-1ABB78E5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385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Energía · música · comunidad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B29E4B-162B-414E-A01A-A3943608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1DF">
                <a:alpha val="15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09F926-B088-43E7-B8FE-415B5F05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8953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D447">
              <a:alpha val="22000"/>
            </a:srgbClr>
          </a:solidFill>
          <a:ln xmlns:a="http://schemas.openxmlformats.org/drawingml/2006/main" w="9525">
            <a:solidFill>
              <a:srgbClr val="FFD447">
                <a:alpha val="55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6B598F-2061-44CA-909D-1F8F51CF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DÍA 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3A8ED5-A91C-4111-8978-1630EA67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43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17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COMPARTIR EN FAMILIA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947D83-2630-42C9-9550-BBE98633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81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Plan completo · comodidad · alegría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6EFEB1-704A-43D5-B2E8-9CA5831B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1DF">
                <a:alpha val="15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E3306B-4082-4FC6-BC02-8D814FC3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8953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5C98A">
              <a:alpha val="22000"/>
            </a:srgbClr>
          </a:solidFill>
          <a:ln xmlns:a="http://schemas.openxmlformats.org/drawingml/2006/main" w="9525">
            <a:solidFill>
              <a:srgbClr val="35C98A">
                <a:alpha val="5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E657C6-251C-4F0A-BD27-C27A2BC0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530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DÍA 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2412E3-23C3-4E20-8B8F-3029D5DC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86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17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RECORDAR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AC8768-7463-47BA-8DC1-D20B40CC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244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Cierre · gratitud · volver el próximo año</a:t>
            </a:r>
          </a:p>
        </p:txBody>
      </p:sp>
    </p:spTree>
    <p:extLst>
      <p:ext uri="{BB962C8B-B14F-4D97-AF65-F5344CB8AC3E}">
        <p14:creationId xmlns:p14="http://schemas.microsoft.com/office/powerpoint/2010/main" val="107335141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8d3dc68694b9b"/>
          <a:srcRect xmlns:a="http://schemas.openxmlformats.org/drawingml/2006/main" l="0" t="7833" r="0" b="7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90AAF-B704-4839-8D1F-5E1C4B0D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>
                  <a:alpha val="94000"/>
                </a:srgbClr>
              </a:gs>
              <a:gs pos="42000">
                <a:srgbClr val="6E38D2">
                  <a:alpha val="70000"/>
                </a:srgbClr>
              </a:gs>
              <a:gs pos="70000">
                <a:srgbClr val="2D78FF">
                  <a:alpha val="38000"/>
                </a:srgbClr>
              </a:gs>
              <a:gs pos="100000">
                <a:srgbClr val="EC2E7B">
                  <a:alpha val="22000"/>
                </a:srgbClr>
              </a:gs>
            </a:gsLst>
            <a:lin ang="58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4D810-CBE8-458E-97A2-88224C68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1581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/>
              </a:gs>
              <a:gs pos="64000">
                <a:srgbClr val="3E165F"/>
              </a:gs>
              <a:gs pos="100000">
                <a:srgbClr val="16C7D7"/>
              </a:gs>
            </a:gsLst>
            <a:lin ang="75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39E2A-48B2-4F0A-A38F-F4EB9EFA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24450"/>
            <a:ext cx="2552700" cy="17335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01A3E"/>
              </a:gs>
              <a:gs pos="62000">
                <a:srgbClr val="16C7D7"/>
              </a:gs>
              <a:gs pos="100000">
                <a:srgbClr val="EC2E7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65A53-73B4-417E-A9B4-9A2ACC03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"/>
            <a:ext cx="4191000" cy="4095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C7D7">
                  <a:alpha val="0"/>
                </a:srgbClr>
              </a:gs>
              <a:gs pos="62000">
                <a:srgbClr val="16C7D7">
                  <a:alpha val="25000"/>
                </a:srgbClr>
              </a:gs>
              <a:gs pos="100000">
                <a:srgbClr val="FFD447">
                  <a:alpha val="20000"/>
                </a:srgbClr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C20DF-C792-4A3C-98F9-408042F4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DIRECCIÓN MUSICAL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FE48B-BD16-4DFA-9CB1-4E31F811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3600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El recuerdo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3600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suena suave.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3600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El encuentro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3600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suena vivo.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814E0-2D1D-4A87-A8FB-197FF658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48006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132F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4A97C-6561-4946-84D5-F311A46A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3B195-5B28-4CC9-BFED-0D632F0B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Piano, charango, cuerdas, respiración, ambiente y silencios con intención.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F6978-7327-46CE-ACD3-8897AE61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SHOW / EN VIVO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AEFCA-CD14-45D8-978B-F18F634A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101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Percusión, coro, saltos, sonrisas, manos y público cantando.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A6416-B047-4BCF-8F1C-C6461ADE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2E7B">
                <a:alpha val="55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175A5-67C2-438E-92A1-4339AD76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EA59D-CE23-4D35-9937-F45A7351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6148575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C5F7DF-A889-4E5B-B57E-DBB7461E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2D78FF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7422E-165A-4926-8A7E-BD5DE1BF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2CBE3-AE34-4992-A573-C2F5FADF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8FF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EA245-CEFB-4DD2-AE5E-DADBB745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8A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BDBD0-76E1-496D-95DF-E2F9C0FC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SISTEMA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B3AB4-216B-4920-A1B5-A7F962A1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Una paleta que se siente como feria viva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E1C38-0F08-4914-A9A2-66DCC333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Teatro nocturno, color popular contemporáneo y luz de espectáculo; sin copiar marcas ni afiches.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DEFF5-47BD-419B-93AF-EE11F85D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8A24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E5DB2-A370-4796-9A58-4CF6999C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8A644-AC9D-4A1F-B75C-FECFE7D5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B51DA-BE02-4745-B85B-56831E45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6E3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741DA-2AE6-4656-AA62-0D61D704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VIOLETA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6B745-317E-4BF9-8188-E2ECC732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Teatro · misterio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F60D1-6476-4C8C-B294-80CA0A5E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2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BD4A3-3611-4C2C-844F-11C5A636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MAGENTA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3B726-9D59-4F45-A56E-780CD46A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Emoción · encuentro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CAB93-19B0-425B-B737-E77A828D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892D0-69E5-4435-BADF-98314B34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NARANJA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A8415-1E84-4BBB-AFB3-3517C4B2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Feria · movimiento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BFC472-592F-457F-B36D-C5799125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D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E9FBF-C9A1-44AA-B201-3134D5F7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AMARILLO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DAF13C-BC52-40C0-870B-1C7EB312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Luz · llamada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BF5F3D-FA08-4958-92C7-391C48DF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C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6AFF29-33F1-44F6-A8C7-3A8277C5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TURQUESA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7FE19A-0738-4483-B9A2-7EE8C47C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Frescura · orientación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28F81-74B8-41CE-B42E-AA08235B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D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080337-859F-4C46-BE60-9217D705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AZUL NOCHE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9AD654-C7B7-4F86-BB6C-011EFC23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Escenario · profundidad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A12262-2CD2-4C44-80CA-D2414941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11087100" cy="666750"/>
          </a:xfrm>
          <a:prstGeom xmlns:a="http://schemas.openxmlformats.org/drawingml/2006/main" prst="roundRect">
            <a:avLst>
              <a:gd name="adj" fmla="val 22857"/>
            </a:avLst>
          </a:prstGeom>
          <a:gradFill xmlns:a="http://schemas.openxmlformats.org/drawingml/2006/main">
            <a:gsLst>
              <a:gs pos="0">
                <a:srgbClr val="101A3E"/>
              </a:gs>
              <a:gs pos="38000">
                <a:srgbClr val="6E38D2"/>
              </a:gs>
              <a:gs pos="68000">
                <a:srgbClr val="EC2E7B"/>
              </a:gs>
              <a:gs pos="100000">
                <a:srgbClr val="FF8A24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82D870-1469-4D2D-9A91-4DED5601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REGLA DE COMBINACIÓN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DD7485-39B4-45D9-AAE3-B4720C16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3054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Base nocturna + 2 colores protagonistas + 1 señal luminosa. Nunca usar todo al mismo volumen.</a:t>
            </a:r>
          </a:p>
        </p:txBody>
      </p:sp>
    </p:spTree>
    <p:extLst>
      <p:ext uri="{BB962C8B-B14F-4D97-AF65-F5344CB8AC3E}">
        <p14:creationId xmlns:p14="http://schemas.microsoft.com/office/powerpoint/2010/main" val="19738266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4EA45-6604-4F45-B140-7CF32ADF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FF5E4A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08077-5A5F-4F3B-8AFF-6E0828A3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38D2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B3805-8686-453B-8288-D6227605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E4A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CCD0D-3028-4BEF-B4FE-3B166ABD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38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19E43-5A4A-452C-AA90-1908AA87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rPr>
              <a:t>TIPOGRAFÍA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CF661-E7F8-4FD4-BA42-A9B75E7B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Editorial para emocionar. Clara para decidir.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574AE-0064-4095-9907-FE3B8A28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La forma debe sostener una feria grande sin perder calidez humana.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2C488-9D8E-4F87-98C1-71003FDD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38D2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6250C-9B94-411A-AE38-38C36118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D93A1-3DBF-4AC6-BDE3-7CA4EFB6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5F7B3-806B-4006-B500-D52F0493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4650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ES TRADICIÓN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F71B4-A078-4640-9910-A3B7F4CF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1">
                <a:solidFill>
                  <a:srgbClr val="8E1F70"/>
                </a:solidFill>
                <a:latin typeface="New York"/>
                <a:ea typeface="New York"/>
                <a:cs typeface="New York"/>
              </a:defRPr>
            </a:pPr>
            <a:r>
              <a:rPr sz="1425" b="0" i="1">
                <a:solidFill>
                  <a:srgbClr val="8E1F70"/>
                </a:solidFill>
                <a:latin typeface="New York"/>
                <a:ea typeface="New York"/>
                <a:cs typeface="New York"/>
              </a:rPr>
              <a:t>Titulares emocionales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EF178-D960-4668-A96C-CD44A728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D4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786A7-5D3B-490A-988E-39EEA38D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DÍA 3 · CANTAR JUNTOS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795F7-EEF7-4D43-B62C-E8CE1EE3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Agenda, accesos, parqueaderos, horarios y llamadas a la acción deben leerse en segundos.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88E1E-7C97-4AC1-B888-5CE259DB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3638550" cy="3009900"/>
          </a:xfrm>
          <a:prstGeom xmlns:a="http://schemas.openxmlformats.org/drawingml/2006/main" prst="roundRect">
            <a:avLst>
              <a:gd name="adj" fmla="val 5696"/>
            </a:avLst>
          </a:prstGeom>
          <a:gradFill xmlns:a="http://schemas.openxmlformats.org/drawingml/2006/main">
            <a:gsLst>
              <a:gs pos="0">
                <a:srgbClr val="101A3E"/>
              </a:gs>
              <a:gs pos="54000">
                <a:srgbClr val="6E38D2"/>
              </a:gs>
              <a:gs pos="100000">
                <a:srgbClr val="EC2E7B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63864-2AB4-4944-B213-624767C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Jerarquía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42287-EADB-4F9E-8837-0ED99A86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718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9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01  Emoción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9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02  Promesa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9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03  Prueba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9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04  Acción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EAF99-3EE3-4186-A030-57F99728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733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Producción: validar familia tipográfica final y licencias antes del master.</a:t>
            </a:r>
          </a:p>
        </p:txBody>
      </p:sp>
    </p:spTree>
    <p:extLst>
      <p:ext uri="{BB962C8B-B14F-4D97-AF65-F5344CB8AC3E}">
        <p14:creationId xmlns:p14="http://schemas.microsoft.com/office/powerpoint/2010/main" val="63305704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e1ef932b7471f"/>
          <a:srcRect xmlns:a="http://schemas.openxmlformats.org/drawingml/2006/main" l="19378" t="0" r="19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B18E1-CCA8-4D67-A362-6A739044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D78FF">
                  <a:alpha val="74000"/>
                </a:srgbClr>
              </a:gs>
              <a:gs pos="64000">
                <a:srgbClr val="6E38D2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21239-22FD-4700-B6B3-A9A8836B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6000">
                <a:srgbClr val="FFFDFC"/>
              </a:gs>
              <a:gs pos="100000">
                <a:srgbClr val="EC2E7B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F361A-FE0B-4923-9AAB-13EC5FC9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1581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EE991-8D93-43F9-8BAE-7FD75560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4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FOTOGRAFÍA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D31EB-F6A8-43B5-B28F-52FF17A1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9144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32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Personas reales.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2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32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Miradas reales.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2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32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Feria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1BC3B-3DF5-41DF-A3A0-3E71F332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813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BUSCAR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E44AE-ABEC-415C-B300-DA3657A6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4343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vínculos entre generaciones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manos, gestos y miradas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escala con rostro humano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comercio y descubrimiento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alegría sin posar demasiado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8ED48-4171-418B-AF05-B48469E7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29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4B6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4B60"/>
                </a:solidFill>
                <a:latin typeface="Avenir Next"/>
                <a:ea typeface="Avenir Next"/>
                <a:cs typeface="Avenir Next"/>
              </a:rPr>
              <a:t>EVITAR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4AD8B-7887-44CA-BA63-5777D576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3400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Bancos genéricos, disfraces culturales, exceso de logos y rostros sin contexto.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39D18-B7F2-4962-A300-C2D51ECB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D447">
                <a:alpha val="3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5174F-9C45-489B-ACA6-FFEFE39D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F3A0C-E661-48B3-84B3-20178859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2070959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EB571-292E-4C33-B7C3-02DC2AEB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/>
              </a:gs>
              <a:gs pos="46000">
                <a:srgbClr val="3E165F"/>
              </a:gs>
              <a:gs pos="100000">
                <a:srgbClr val="2D78FF">
                  <a:alpha val="7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E4EC9-4946-4A6B-A76F-C78A342B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8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30885-D97B-458B-BC66-91CB57C7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7D7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6D5F8-4848-4C42-9791-56D7FE7A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D7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BEF12-BBE4-46B9-A6ED-BC33B5B2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rPr>
              <a:t>TRATAMIENTO DE IMAGEN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4EC91-8C6B-412B-AF48-9106C393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Tres temperaturas, una misma identidad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338AE-8293-44DC-97F4-91A9B3A1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El color cambia con la fase, pero la feria siempre se reconoce.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E84EC-A04C-4439-A460-6AEA1750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C7D7">
                <a:alpha val="5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C7C36-1591-4934-8961-ECAAAAEB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91A74-330B-4FA8-8474-B6FF9EE1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b78d1b3df49cb"/>
          <a:srcRect xmlns:a="http://schemas.openxmlformats.org/drawingml/2006/main" l="0" t="15556" r="0" b="1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BD679-CEC6-4FC9-BD2A-0F4388AD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6E38D2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A3C0C-E96B-488E-B357-95C8EC83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MEMORIA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A5479-3E89-4870-8E49-3DD92F65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Sombras ciruela · grano suave · ritmo lento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b421fc37a44d0"/>
          <a:srcRect xmlns:a="http://schemas.openxmlformats.org/drawingml/2006/main" l="0" t="15556" r="0" b="1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B55E4-753F-4947-89B4-729D20F8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2D78FF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94BC1-F559-48E9-9BFF-D40B14C1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2D42F-5EB7-4F84-9BA4-9366E200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Negros limpios · luz selectiva · detalle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4853ea9064974"/>
          <a:srcRect xmlns:a="http://schemas.openxmlformats.org/drawingml/2006/main" l="0" t="15556" r="0" b="1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EE90C-4009-45A0-8C8B-05392468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EC2E7B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C50A4-1C55-4BB2-9229-5DE0E180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CELEBRACIÓN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A8FA24-0E92-4447-9681-F85C9FEC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958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Color vivo · piel cálida · energía nítida</a:t>
            </a:r>
          </a:p>
        </p:txBody>
      </p:sp>
    </p:spTree>
    <p:extLst>
      <p:ext uri="{BB962C8B-B14F-4D97-AF65-F5344CB8AC3E}">
        <p14:creationId xmlns:p14="http://schemas.microsoft.com/office/powerpoint/2010/main" val="149583295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BB2CEE-E600-48B4-824F-318B6468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FF8A24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16D9C-6B1B-49D8-820E-96247197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8A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BB44D-D727-465F-A95F-CA86A306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5F389-BF21-406B-A234-829A169E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5C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4FBBF-E131-489D-9CFD-E3C0589B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GRAMÁTICA GRÁFICA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C0CE4-DB05-46B3-84B4-CC1AEFA4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La memoria se representa como un hilo que continúa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AF46B-CE35-49F5-AE34-3B8B422C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Una señal simple que une archivo, presente y experiencia.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27D80-03ED-4A46-991E-53340533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C98A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6CD27-E093-4953-B96D-8FE40E3A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A6CB4-F4A1-443B-B26A-722853CE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4339D-2EE5-4E76-9963-7927ACAC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5750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C2E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82CA5-5234-44A9-B44D-2EFC02E9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85750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8A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003D5-268A-4173-866A-DC2911AE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5750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D4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9A7D1-DC90-4EC8-B839-5F0457D3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5750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6C7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8F62D-35A9-406C-9FDB-4CE6B8FA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95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38D2"/>
          </a:solidFill>
          <a:ln xmlns:a="http://schemas.openxmlformats.org/drawingml/2006/main" w="28575">
            <a:solidFill>
              <a:srgbClr val="6E3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EC88B-1E8D-4D7E-B201-B7BF6E21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54832-7782-40A3-AB16-C6344282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archivo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82209-D3C6-4C5E-9923-4C270A99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95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2E7B"/>
          </a:solidFill>
          <a:ln xmlns:a="http://schemas.openxmlformats.org/drawingml/2006/main" w="28575">
            <a:solidFill>
              <a:srgbClr val="EC2E7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02B52-3273-40B0-B8F8-9A3C28F6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766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RECUERDO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88DB7A-8FC0-47E5-A35F-D5D0A13A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38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relato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84F8CA-9FB0-4DED-8228-633E274E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95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24"/>
          </a:solidFill>
          <a:ln xmlns:a="http://schemas.openxmlformats.org/drawingml/2006/main" w="28575">
            <a:solidFill>
              <a:srgbClr val="FF8A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426DDD-9D0E-413C-B0D8-9D5102C2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766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HOY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87FAF-E62B-42B5-9124-D0682D38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38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31317C-EC86-4E87-960E-7659E756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95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47"/>
          </a:solidFill>
          <a:ln xmlns:a="http://schemas.openxmlformats.org/drawingml/2006/main" w="28575">
            <a:solidFill>
              <a:srgbClr val="FFD44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23862C-5E95-481A-982B-74C79054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766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ENCUENTRO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60A8C1-6920-4B0F-91FE-AD1A8511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visita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D0E453-A367-40A9-B54C-2F6765A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95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47"/>
          </a:solidFill>
          <a:ln xmlns:a="http://schemas.openxmlformats.org/drawingml/2006/main" w="28575">
            <a:solidFill>
              <a:srgbClr val="16C7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5E1311-8CF3-48C0-935E-F5C7C556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MAÑANA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1FB8B3-6FFC-4BC4-9FDF-F495EEAC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38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regreso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DF3AAB-DE11-4E91-AE05-9BE34D6F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34290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E1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2394E0-F9B0-4325-8684-B8844588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7620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6457DC-40D6-4C68-A0DE-2B25670B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Hilo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978BAC-0D40-4F8B-A0E5-5E8F57B4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Una transición de color conecta recuerdo, visita y regreso.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1CC9FF-0D55-4DC2-90FF-9B057C11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91050"/>
            <a:ext cx="34290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2C10AB-9C51-4DF1-BCF7-717A04CF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91050"/>
            <a:ext cx="7620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2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16BC1D-A701-43AF-AA95-D2B2E3E2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006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Capas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F0B20A-48C3-484D-8AE8-4092E744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57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Fotografía real + luz teatral + tipografía editorial.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B506A2-71CE-46A6-B691-3459F661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91050"/>
            <a:ext cx="34290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DDF9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15AE35-B0A6-40B1-B192-693DCD96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91050"/>
            <a:ext cx="7620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C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D1C0B4-1B72-4E08-88CD-580E0460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006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Ritmo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858D36-5DAE-4637-9B91-0C08F4B6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57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Una idea protagonista; el color marca el cambio de energía.</a:t>
            </a:r>
          </a:p>
        </p:txBody>
      </p:sp>
    </p:spTree>
    <p:extLst>
      <p:ext uri="{BB962C8B-B14F-4D97-AF65-F5344CB8AC3E}">
        <p14:creationId xmlns:p14="http://schemas.microsoft.com/office/powerpoint/2010/main" val="55627559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E95D6B-7DCD-47B4-9210-52C69421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/>
              </a:gs>
              <a:gs pos="46000">
                <a:srgbClr val="3E165F"/>
              </a:gs>
              <a:gs pos="100000">
                <a:srgbClr val="FF5E4A">
                  <a:alpha val="7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715BF-6A06-46CA-B911-908F6D6B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E4A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D9EBE-8768-4DF7-BF87-F886ED50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38D2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1771B-96B6-4CC6-9266-065EDD18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5E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5D218-BFE3-4E5F-83DE-21F2FA04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rPr>
              <a:t>LENGUAJE AUDIOVISUAL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94FF3-5A87-4681-9197-7D056D27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Cada video tiene una respiración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81A13-D984-4634-B357-7E124A8D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La edición debe cambiar según la función de la pieza.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2F45F-E396-416D-87A1-4B3338BD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38D2">
                <a:alpha val="5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9735F-EFC2-4C89-97C6-51D5EDBB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F6449-EFAB-4D5E-8252-4981567A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7214C-07E8-46A6-902D-6AB4A759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4075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E38D2">
              <a:alpha val="18000"/>
            </a:srgbClr>
          </a:solidFill>
          <a:ln xmlns:a="http://schemas.openxmlformats.org/drawingml/2006/main" w="9525">
            <a:solidFill>
              <a:srgbClr val="6E38D2">
                <a:alpha val="5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931FD-4A62-473F-B968-C266F6AC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rPr>
              <a:t>MEMORIA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8F27A-B7C5-49C4-A76F-40815FE0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6–10 s por plano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3ADA5-4F25-484C-AC4B-F28C2878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detalles · rostros · archivo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8FC2F-4BD9-4D86-B15C-21E75F47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música suave + ambiente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F3399-4C61-4057-B1AB-A7D30D57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1DF">
                <a:alpha val="15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70D0B-DE8F-436A-A90A-0F3B07B2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7025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2E7B">
              <a:alpha val="18000"/>
            </a:srgbClr>
          </a:solidFill>
          <a:ln xmlns:a="http://schemas.openxmlformats.org/drawingml/2006/main" w="9525">
            <a:solidFill>
              <a:srgbClr val="EC2E7B">
                <a:alpha val="5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9D883-5A27-49A6-9933-1685B4D4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9F6111-B846-4DD3-9485-1468A2D2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2–4 s por plano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D8DE7-2394-443C-9CB7-13A52471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33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pistas · texturas · montaje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346A5E-33ED-496D-9926-36A2FF82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pulso creciente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FCAFFE-3EC2-43A2-9DCC-E4E90932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1DF">
                <a:alpha val="15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FC329-A214-4759-A868-1CCD57E6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C7D7">
              <a:alpha val="18000"/>
            </a:srgbClr>
          </a:solidFill>
          <a:ln xmlns:a="http://schemas.openxmlformats.org/drawingml/2006/main" w="9525">
            <a:solidFill>
              <a:srgbClr val="16C7D7">
                <a:alpha val="5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4C7E3A-0156-48FA-87FE-BC212BE0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rPr>
              <a:t>PRUEBA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260C2C-575E-4E39-9888-78F5C5B0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38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1–3 s por plano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18C588-3FF2-4B65-A7C8-E7E31CAF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mapa · baños · comida · acceso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70309D-74C2-4D4B-9E95-8959C96D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voz clara + subtítulos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46497F-5D22-4696-9999-291FB1FA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1DF">
                <a:alpha val="15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E363C7-A17D-4F19-ABF9-E014ED3A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52925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8A24">
              <a:alpha val="18000"/>
            </a:srgbClr>
          </a:solidFill>
          <a:ln xmlns:a="http://schemas.openxmlformats.org/drawingml/2006/main" w="9525">
            <a:solidFill>
              <a:srgbClr val="FF8A24">
                <a:alpha val="52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54F0B7-F6A1-48B3-A697-FE7D9C95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SHOW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EC1B70-CE6E-4987-9B85-B5D70250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81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0,5–2 s por plano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808E7D-7FDF-4E9B-87DE-788EFCB2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19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público · escenario · reacción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478281-4488-4AD4-AA0C-3AA8E023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19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música viva + coro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1CF4B2-A015-4195-AC8E-1910812D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1DF">
                <a:alpha val="15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5FD321-06D2-4CF8-80ED-2D33AB18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5C98A">
              <a:alpha val="18000"/>
            </a:srgbClr>
          </a:solidFill>
          <a:ln xmlns:a="http://schemas.openxmlformats.org/drawingml/2006/main" w="9525">
            <a:solidFill>
              <a:srgbClr val="35C98A">
                <a:alpha val="5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2B590D-F14D-4A8C-A2B8-57AC830B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SERVICIO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8C6BE2-D733-43B0-BE91-C335629F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24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ritmo funcional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B51D19-0220-43D5-815A-921538A6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625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dato primero · gráfico limpio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C1DCB1-FC9A-439E-B162-AFBB1789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audio secundario</a:t>
            </a:r>
          </a:p>
        </p:txBody>
      </p:sp>
    </p:spTree>
    <p:extLst>
      <p:ext uri="{BB962C8B-B14F-4D97-AF65-F5344CB8AC3E}">
        <p14:creationId xmlns:p14="http://schemas.microsoft.com/office/powerpoint/2010/main" val="35192453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F54939-FD14-4CC6-A6C1-026434A4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FF8A24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2F019-A8EB-477C-ABB8-CBD67F65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2E7B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BD35E-A51D-4AAF-A09D-7C2DEF0A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A998C-EBB4-4A4E-B5DC-DCC6E688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C2E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2E619-E171-4279-A9DC-4C9A3DD4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PIEZA HERO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37B4C-0517-4B18-8040-1E82034F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NOS LLAMA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AC05B-E5E0-408C-9801-5FA2E5AE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El manifiesto de expectativa: la feria existe antes de que aparezca el cartel.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651C7-7E31-4781-9DD2-7769CCB3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2E7B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38BEF-88F3-45E9-A4A3-FE390341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0D315-A33A-4FF5-966B-51010A87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d437e46f24bff"/>
          <a:srcRect xmlns:a="http://schemas.openxmlformats.org/drawingml/2006/main" l="0" t="16418" r="0" b="16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209800"/>
            <a:ext cx="2552700" cy="17145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867BB-9B83-490A-88DB-DCED70D6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861D9-5BFC-40FF-ACE5-D9CD7550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Un sonido conocido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0a2e0793c4622"/>
          <a:srcRect xmlns:a="http://schemas.openxmlformats.org/drawingml/2006/main" l="0" t="16418" r="0" b="16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2209800"/>
            <a:ext cx="2552700" cy="17145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1E1C9-8354-457F-A2DA-257074A9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14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FF8D8-EED5-4F7B-9967-03C5C517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0075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Una mirada que recuerda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70676e39a4d7a"/>
          <a:srcRect xmlns:a="http://schemas.openxmlformats.org/drawingml/2006/main" l="0" t="16418" r="0" b="16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2209800"/>
            <a:ext cx="2552700" cy="17145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8BBA80-3464-4BE1-9DBF-5230BB8B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14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4A179-92B6-4D50-ADEA-BD889182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10075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El espacio despierta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7719ebc0447ec"/>
          <a:srcRect xmlns:a="http://schemas.openxmlformats.org/drawingml/2006/main" l="0" t="16418" r="0" b="16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2209800"/>
            <a:ext cx="2552700" cy="17145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C36E9-247D-4A41-8D38-3B97DDF1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14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B6862F-4FB4-4DFF-981F-5E5F06CF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10075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Volvemos a encontrarnos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71881-9CEB-4B6C-9676-1904E770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0820400" cy="704850"/>
          </a:xfrm>
          <a:prstGeom xmlns:a="http://schemas.openxmlformats.org/drawingml/2006/main" prst="roundRect">
            <a:avLst>
              <a:gd name="adj" fmla="val 21622"/>
            </a:avLst>
          </a:prstGeom>
          <a:gradFill xmlns:a="http://schemas.openxmlformats.org/drawingml/2006/main">
            <a:gsLst>
              <a:gs pos="0">
                <a:srgbClr val="6E38D2"/>
              </a:gs>
              <a:gs pos="46000">
                <a:srgbClr val="EC2E7B"/>
              </a:gs>
              <a:gs pos="100000">
                <a:srgbClr val="FF8A24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EC50B5-25DC-45B0-9D1E-AECBA6BF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32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Cierre: “Hay lugares a los que uno no regresa. Hay lugares que vuelven a llamarnos.” · ES TRADICIÓN</a:t>
            </a:r>
          </a:p>
        </p:txBody>
      </p:sp>
    </p:spTree>
    <p:extLst>
      <p:ext uri="{BB962C8B-B14F-4D97-AF65-F5344CB8AC3E}">
        <p14:creationId xmlns:p14="http://schemas.microsoft.com/office/powerpoint/2010/main" val="149044864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A19C9C-80B6-409B-9CD9-6969FD08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/>
              </a:gs>
              <a:gs pos="46000">
                <a:srgbClr val="3E165F"/>
              </a:gs>
              <a:gs pos="100000">
                <a:srgbClr val="16C7D7">
                  <a:alpha val="7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09FD1-DFEF-4EC4-B233-1723858A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7D7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FDC56-D632-454A-8F12-7F0A2ADB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2E7B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9A2AE-11B4-4068-8380-BF4D703D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C7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D86D4-D100-4421-A5C6-EDBA8072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PIEZA HERO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748DF-D0EC-4769-A0E7-E9596EFE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HACER FERIA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52C9C-FE98-4CE6-AE4F-9AA2C7AF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El comercio vuelve a ser protagonista de la experiencia, no relleno entre conciertos.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06162-C035-4AAF-A399-E9B87744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2E7B">
                <a:alpha val="5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E953D-1130-4B30-9DE3-B4EDA5DD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AE52F-FC27-4934-A2E4-AF13C5D4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8716152f94e12"/>
          <a:srcRect xmlns:a="http://schemas.openxmlformats.org/drawingml/2006/main" l="0" t="1068" r="0" b="1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190750"/>
            <a:ext cx="4381500" cy="2857500"/>
          </a:xfrm>
          <a:prstGeom xmlns:a="http://schemas.openxmlformats.org/drawingml/2006/main" prst="roundRect">
            <a:avLst>
              <a:gd name="adj" fmla="val 600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DF09C-604C-475A-B950-B52EA912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71700"/>
            <a:ext cx="5981700" cy="2895600"/>
          </a:xfrm>
          <a:prstGeom xmlns:a="http://schemas.openxmlformats.org/drawingml/2006/main" prst="roundRect">
            <a:avLst>
              <a:gd name="adj" fmla="val 5921"/>
            </a:avLst>
          </a:prstGeom>
          <a:gradFill xmlns:a="http://schemas.openxmlformats.org/drawingml/2006/main">
            <a:gsLst>
              <a:gs pos="0">
                <a:srgbClr val="6E38D2">
                  <a:alpha val="52000"/>
                </a:srgbClr>
              </a:gs>
              <a:gs pos="58000">
                <a:srgbClr val="EC2E7B">
                  <a:alpha val="36000"/>
                </a:srgbClr>
              </a:gs>
              <a:gs pos="100000">
                <a:srgbClr val="FF8A24">
                  <a:alpha val="24000"/>
                </a:srgbClr>
              </a:gs>
            </a:gsLst>
            <a:lin ang="8100000"/>
          </a:gradFill>
          <a:ln xmlns:a="http://schemas.openxmlformats.org/drawingml/2006/main" w="9525">
            <a:solidFill>
              <a:srgbClr val="16C7D7">
                <a:alpha val="45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B6229-4DEA-45A1-9F37-1B6A0853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38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Estructura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4CD55-18BA-4135-92D4-E59334D1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765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1. Una mano que crea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2. Una persona que descubre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3. Un objeto con historia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4. Una compra que se comparte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5. Una ruta que invita a seguir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76EAF-3ADD-43C1-8015-5978B0BC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CTA: “Ven a hacer feria. Sigue la Ruta ES TRADICIÓN.”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41F88-80C4-4CB9-A854-EDAB9E30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La meta creativa: que la feria comercial se vea viva, diversa y deseable por sí misma.</a:t>
            </a:r>
          </a:p>
        </p:txBody>
      </p:sp>
    </p:spTree>
    <p:extLst>
      <p:ext uri="{BB962C8B-B14F-4D97-AF65-F5344CB8AC3E}">
        <p14:creationId xmlns:p14="http://schemas.microsoft.com/office/powerpoint/2010/main" val="37265118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71AED-A97F-4109-83DF-20C45F16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2D78FF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01525-D043-4553-B796-393EA8C6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18037-BFF5-4FEC-BCC4-553BF7AF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8FF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5A2EB-FDB9-4290-B7BE-A79D2B87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8A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CF854-9E00-4A8E-920B-3E83826D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PIEZA HERO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C7455-3B5E-4676-9185-14B892DC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LA CANCIÓN QUE VUELVE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67557-9060-4A6D-9D8D-0EEF3003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La música funciona cuando activa una memoria colectiva y desemboca en una experiencia presente.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1EE54-063A-40E4-8D44-F773C270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8A24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6835A-325A-4A69-8872-A97C6031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497E4-4382-453A-A905-95EDF380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19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eeb9269bd48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33600"/>
            <a:ext cx="3333750" cy="3333750"/>
          </a:xfrm>
          <a:prstGeom xmlns:a="http://schemas.openxmlformats.org/drawingml/2006/main" prst="roundRect">
            <a:avLst>
              <a:gd name="adj" fmla="val 514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8E2A4-56EA-40F4-BEBD-7F19162A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33600"/>
            <a:ext cx="34290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EEE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52012-80D5-48DE-939D-A401F45F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33600"/>
            <a:ext cx="7620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3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497DA-0E12-43BC-9F6D-6084EB81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Primera mitad · recuerdo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81341-396A-4BB1-B909-684E7962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30480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voz o instrumento aislado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archivo de años anteriores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planos largos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texto breve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“Hay canciones que uno no vuelve a escuchar. Vuelven a encontrarlo.”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6BF86-BA40-48FE-9CDC-1ABC1D05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367665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E1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1E3F7-532C-452A-B796-02A709F2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7620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A357B-E90A-43E1-8900-A80CA2AC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Segunda mitad · presente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4D09D-736A-4F77-BE62-8FA26459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32956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banda completa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gente cantando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movimiento y sonrisas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fecha/venta solo al final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La emoción se convierte en decisión: “Este año, volvemos.”</a:t>
            </a:r>
          </a:p>
        </p:txBody>
      </p:sp>
    </p:spTree>
    <p:extLst>
      <p:ext uri="{BB962C8B-B14F-4D97-AF65-F5344CB8AC3E}">
        <p14:creationId xmlns:p14="http://schemas.microsoft.com/office/powerpoint/2010/main" val="11885307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CE8773-AD4D-4F99-B1AC-048A1560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/>
              </a:gs>
              <a:gs pos="46000">
                <a:srgbClr val="3E165F"/>
              </a:gs>
              <a:gs pos="100000">
                <a:srgbClr val="6E38D2">
                  <a:alpha val="7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18B55-0B1B-4FAF-B736-FB6946DB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38D2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6D8BA-7242-405C-B9BF-03DAF7A6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E4A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FDFD4-A3A7-4215-8402-A6179278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38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DEFC1-571C-4CCC-BFBC-C52AD945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5E4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5E4A"/>
                </a:solidFill>
                <a:latin typeface="Avenir Next"/>
                <a:ea typeface="Avenir Next"/>
                <a:cs typeface="Avenir Next"/>
              </a:rPr>
              <a:t>SISTEMA DE CONTENIDOS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2DEC5-901E-4CBF-92A6-5AA273F7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Cinco pilares que trabajan juntos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3C8FB-2EE2-4614-9453-53C21C70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Ningún pilar debe ocupar por sí solo toda la conversación.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08CD7-F6A7-41FB-8782-BC6E2961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5E4A">
                <a:alpha val="5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58354-3004-495B-A68C-3AE8283D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9B83D-346D-4538-BCA3-71A7E048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4A1B6-E95B-414A-9CC2-AA609430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41C1C-1E1E-489D-82FD-9A862AB9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76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MEMORIA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DEB0E-6F83-493D-87D6-6D43AF8B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archivo · testimonios · rituales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2FD13-34D8-493A-844F-090AE08E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38350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38D2">
              <a:alpha val="20000"/>
            </a:srgbClr>
          </a:solidFill>
          <a:ln xmlns:a="http://schemas.openxmlformats.org/drawingml/2006/main" w="9525">
            <a:solidFill>
              <a:srgbClr val="6E38D2">
                <a:alpha val="6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4B54B-FC70-4A69-A603-A54AE1CC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rPr>
              <a:t>Recordar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ADED4-6760-4843-9931-E873721A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1DF">
                <a:alpha val="13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5D6DE-6416-4F18-9AB4-CDB5FB6E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0DD90-E2C6-48CD-A9EE-E70C623B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38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EXPERIENCIA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AFBF19-150B-45D5-AE4D-E922B7C9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76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rutas · comida · familia · feria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9C1C9-8F46-4521-9E9E-414FC755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24">
              <a:alpha val="20000"/>
            </a:srgbClr>
          </a:solidFill>
          <a:ln xmlns:a="http://schemas.openxmlformats.org/drawingml/2006/main" w="9525">
            <a:solidFill>
              <a:srgbClr val="FF8A24">
                <a:alpha val="62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84E228-E62C-4A40-A54B-BA67C908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05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Desear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81B06-F922-4CEF-8D95-331EFFDA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1DF">
                <a:alpha val="13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F10EA-5B68-425B-923F-20A49B5F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D3BEA-6A7A-4B88-95B0-E72B09D9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PROGRAMACIÓN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A4A55B-808D-4E8B-85E8-10017E57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revelaciones · momentos · agenda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90CC41-3030-4322-91F2-82837071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62350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2E7B">
              <a:alpha val="20000"/>
            </a:srgbClr>
          </a:solidFill>
          <a:ln xmlns:a="http://schemas.openxmlformats.org/drawingml/2006/main" w="9525">
            <a:solidFill>
              <a:srgbClr val="EC2E7B">
                <a:alpha val="62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2A02D0-9369-426B-916D-62F83F86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Elegir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6AB955-D040-4460-986B-242E072B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1DF">
                <a:alpha val="13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084924-F1A7-4FC6-8BD3-CB8C070F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27E28B-33B9-4500-A70D-5B8B83F8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62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CONFIANZA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9BC39C-3F98-4704-969F-72708302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00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acceso · mapa · precio · seguridad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76C393-9A8B-48A1-BD40-FA1DFBAF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24350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C7D7">
              <a:alpha val="20000"/>
            </a:srgbClr>
          </a:solidFill>
          <a:ln xmlns:a="http://schemas.openxmlformats.org/drawingml/2006/main" w="9525">
            <a:solidFill>
              <a:srgbClr val="16C7D7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863D26-1D94-4836-86D8-BFAA0CF2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29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rPr>
              <a:t>Decidir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9B4ADE-C202-4B6D-BCAE-16BB156B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1DF">
                <a:alpha val="13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F78121-6169-4643-BFAE-5D653C38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516635-527F-40B6-91E6-9812C48F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24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COMUNIDAD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6013D8-B9D4-41A6-8932-578F7B06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62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creadores · visitantes · comercios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EF5205-E9D5-4E8E-8C70-9B51DACB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86350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C98A">
              <a:alpha val="20000"/>
            </a:srgbClr>
          </a:solidFill>
          <a:ln xmlns:a="http://schemas.openxmlformats.org/drawingml/2006/main" w="9525">
            <a:solidFill>
              <a:srgbClr val="35C98A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2BBB29-402C-4060-BC0B-CD56AA31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91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Compartir</a:t>
            </a:r>
          </a:p>
        </p:txBody>
      </p:sp>
    </p:spTree>
    <p:extLst>
      <p:ext uri="{BB962C8B-B14F-4D97-AF65-F5344CB8AC3E}">
        <p14:creationId xmlns:p14="http://schemas.microsoft.com/office/powerpoint/2010/main" val="42180929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37C99E-6CAD-43EA-8156-8DF54401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EC2E7B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1B569-C93A-45BB-B701-71DC7CDE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47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4DA99-2DCE-4F3F-B89B-4D33410F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2E7B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34D91-8D37-4385-B222-FDEEAA64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48D7E-FDED-4851-A748-11FA807A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FORMATOS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3AD34-2BC2-4972-BAD7-3A0AC89E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Una idea, múltiples superficies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E794C-8B73-4E59-81A0-4B91E92B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Diseñar desde video vertical y producir un sistema, no archivos sueltos.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005C8-4CA3-4B40-BA8A-A163A684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D447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35B41-49E3-4E5D-A889-71F61A30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12997-06AF-4D9A-BE7E-F6886E00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A2BD5-6160-4FD2-9E85-6B3A7356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524000" cy="2190750"/>
          </a:xfrm>
          <a:prstGeom xmlns:a="http://schemas.openxmlformats.org/drawingml/2006/main" prst="roundRect">
            <a:avLst>
              <a:gd name="adj" fmla="val 10000"/>
            </a:avLst>
          </a:prstGeom>
          <a:gradFill xmlns:a="http://schemas.openxmlformats.org/drawingml/2006/main">
            <a:gsLst>
              <a:gs pos="0">
                <a:srgbClr val="101A3E"/>
              </a:gs>
              <a:gs pos="62000">
                <a:srgbClr val="6E38D2"/>
              </a:gs>
              <a:gs pos="100000">
                <a:srgbClr val="EC2E7B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A846D-8770-4DFB-B0F8-40257267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9:16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95677-9A0F-4909-A479-053C1DDE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REEL / SHORT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00674-1C20-427F-9C42-F5EC3B18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Idea emocional o prueba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6EAE0-A642-4DDF-9413-8009F8A8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28875"/>
            <a:ext cx="1524000" cy="1952625"/>
          </a:xfrm>
          <a:prstGeom xmlns:a="http://schemas.openxmlformats.org/drawingml/2006/main" prst="roundRect">
            <a:avLst>
              <a:gd name="adj" fmla="val 10000"/>
            </a:avLst>
          </a:prstGeom>
          <a:gradFill xmlns:a="http://schemas.openxmlformats.org/drawingml/2006/main">
            <a:gsLst>
              <a:gs pos="0">
                <a:srgbClr val="101A3E"/>
              </a:gs>
              <a:gs pos="62000">
                <a:srgbClr val="EC2E7B"/>
              </a:gs>
              <a:gs pos="100000">
                <a:srgbClr val="FF8A24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0F367-1478-452F-953B-BF25DEB4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574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4:5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FB98E-41D4-4BB2-880E-90204EEB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29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FEED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2B5F8-CC3C-47E8-A636-F4AACD7E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101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Promesa + información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C04E5-EB64-4E1A-ACFB-CD73EAB1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67000"/>
            <a:ext cx="1524000" cy="1714500"/>
          </a:xfrm>
          <a:prstGeom xmlns:a="http://schemas.openxmlformats.org/drawingml/2006/main" prst="roundRect">
            <a:avLst>
              <a:gd name="adj" fmla="val 10000"/>
            </a:avLst>
          </a:prstGeom>
          <a:gradFill xmlns:a="http://schemas.openxmlformats.org/drawingml/2006/main">
            <a:gsLst>
              <a:gs pos="0">
                <a:srgbClr val="101A3E"/>
              </a:gs>
              <a:gs pos="62000">
                <a:srgbClr val="FF8A24"/>
              </a:gs>
              <a:gs pos="100000">
                <a:srgbClr val="FFD447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9B683-6500-4000-9E9C-7EB68C3D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956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1:1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B3B2AC-334D-46B2-AA26-7D6D1742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29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ARCHIVO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8AAC7-01A1-4A5D-88A1-589B6D5C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01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Retrato / memoria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9CC0F-D6E9-45FA-A254-108F680F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90750"/>
            <a:ext cx="1524000" cy="2190750"/>
          </a:xfrm>
          <a:prstGeom xmlns:a="http://schemas.openxmlformats.org/drawingml/2006/main" prst="roundRect">
            <a:avLst>
              <a:gd name="adj" fmla="val 10000"/>
            </a:avLst>
          </a:prstGeom>
          <a:gradFill xmlns:a="http://schemas.openxmlformats.org/drawingml/2006/main">
            <a:gsLst>
              <a:gs pos="0">
                <a:srgbClr val="101A3E"/>
              </a:gs>
              <a:gs pos="62000">
                <a:srgbClr val="16C7D7"/>
              </a:gs>
              <a:gs pos="100000">
                <a:srgbClr val="2D78FF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47DEDA-47F1-446B-A475-2870807A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193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9:16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737F2E-45CE-4A3A-8E64-2D611830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29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72D05E-7B07-4E6E-9387-3F94322C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101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Secuencia + acción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8FD375-FF2B-4FD0-9BC7-5E9282B4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1524000" cy="1428750"/>
          </a:xfrm>
          <a:prstGeom xmlns:a="http://schemas.openxmlformats.org/drawingml/2006/main" prst="roundRect">
            <a:avLst>
              <a:gd name="adj" fmla="val 10667"/>
            </a:avLst>
          </a:prstGeom>
          <a:gradFill xmlns:a="http://schemas.openxmlformats.org/drawingml/2006/main">
            <a:gsLst>
              <a:gs pos="0">
                <a:srgbClr val="101A3E"/>
              </a:gs>
              <a:gs pos="62000">
                <a:srgbClr val="2D78FF"/>
              </a:gs>
              <a:gs pos="100000">
                <a:srgbClr val="6E38D2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BA8B2A-6740-483B-9F89-E528ECE0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16:9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7272FB-C9D3-43F6-9801-E48E3608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29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PANTALLA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4B3A91-205F-4DB6-BFB7-24898CCC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101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Evento / prensa / sala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802F0E-ACC1-4FB8-A45B-6B43A66A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Master mínimo por concepto: 1 video principal · 3 cortes · 1 portada · 1 carrusel · 3 stories · subtítulos · versión sin audio.</a:t>
            </a:r>
          </a:p>
        </p:txBody>
      </p:sp>
    </p:spTree>
    <p:extLst>
      <p:ext uri="{BB962C8B-B14F-4D97-AF65-F5344CB8AC3E}">
        <p14:creationId xmlns:p14="http://schemas.microsoft.com/office/powerpoint/2010/main" val="164682482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310DF-DEF1-4068-BEE8-B8B22D6C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/>
              </a:gs>
              <a:gs pos="46000">
                <a:srgbClr val="3E165F"/>
              </a:gs>
              <a:gs pos="100000">
                <a:srgbClr val="2D78FF">
                  <a:alpha val="7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8EAA8-C5CF-4913-9A50-659B6EC3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8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90DB9-4C64-482B-B29F-14119AC5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7D7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CEF51-A070-4316-B4DB-ABB9CB70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57250"/>
            <a:ext cx="4381500" cy="876300"/>
          </a:xfrm>
          <a:prstGeom xmlns:a="http://schemas.openxmlformats.org/drawingml/2006/main" prst="roundRect">
            <a:avLst>
              <a:gd name="adj" fmla="val 19565"/>
            </a:avLst>
          </a:prstGeom>
          <a:gradFill xmlns:a="http://schemas.openxmlformats.org/drawingml/2006/main">
            <a:gsLst>
              <a:gs pos="0">
                <a:srgbClr val="2D78FF">
                  <a:alpha val="0"/>
                </a:srgbClr>
              </a:gs>
              <a:gs pos="54000">
                <a:srgbClr val="2D78FF">
                  <a:alpha val="72000"/>
                </a:srgbClr>
              </a:gs>
              <a:gs pos="100000">
                <a:srgbClr val="16C7D7">
                  <a:alpha val="82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145B3-9F4D-43F4-B907-FAAD7C80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57700"/>
            <a:ext cx="5238750" cy="514350"/>
          </a:xfrm>
          <a:prstGeom xmlns:a="http://schemas.openxmlformats.org/drawingml/2006/main" prst="roundRect">
            <a:avLst>
              <a:gd name="adj" fmla="val 25926"/>
            </a:avLst>
          </a:prstGeom>
          <a:gradFill xmlns:a="http://schemas.openxmlformats.org/drawingml/2006/main">
            <a:gsLst>
              <a:gs pos="0">
                <a:srgbClr val="16C7D7">
                  <a:alpha val="0"/>
                </a:srgbClr>
              </a:gs>
              <a:gs pos="72000">
                <a:srgbClr val="16C7D7">
                  <a:alpha val="58000"/>
                </a:srgbClr>
              </a:gs>
              <a:gs pos="100000">
                <a:srgbClr val="2D78FF">
                  <a:alpha val="7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5B03D-8C81-4AC4-9252-4190F321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C7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81915-F463-484D-A138-CD4C6D3D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rPr>
              <a:t>CALENDARIO MAESTRO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C6C1F-65C6-4AE9-A0C7-EF675867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191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8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900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3900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Diez semanas para hacer que la tradición vuelva a sentirse.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39037-DD76-44BE-8595-4D2B3B40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942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De 25 de agosto al 2 de noviembre · supuesto interno de planificación.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B3D48-49DA-47A9-892D-404DED2F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C7D7">
                <a:alpha val="55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31D15-32C1-4E07-A86E-6714ABAF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FE95A-21F8-426D-9260-BBCCDC4B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1735813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39977-9832-473B-831D-691594AF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FF8A24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0FCD7-758B-44A8-A82F-5F85C4DC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8A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4B250-9A75-4560-A8E9-61068035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AEDF4-90CA-4323-A539-2809439B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5C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B2399-E63D-4933-A660-E1687E9E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SEMANA 1 · 25–30 AGO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EB499-FD26-4DC2-AED0-BE05C373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Alinear antes de publicar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27AE9-CAC6-4C56-A9FB-464DA3EC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La expectativa empieza dentro del equipo: una promesa, una voz y una ruta de aprobación.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8E638-0D2E-48A2-8B0A-383564E8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C98A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30007-ABC9-4356-8DEC-42EE72CA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82215-7826-4551-8089-140699AC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14FE3-1747-44FF-A232-99E1D52C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gradFill xmlns:a="http://schemas.openxmlformats.org/drawingml/2006/main">
            <a:gsLst>
              <a:gs pos="0">
                <a:srgbClr val="FFFDFC"/>
              </a:gs>
              <a:gs pos="72000">
                <a:srgbClr val="FF8A24">
                  <a:alpha val="10000"/>
                </a:srgbClr>
              </a:gs>
              <a:gs pos="100000">
                <a:srgbClr val="FF8A24">
                  <a:alpha val="16000"/>
                </a:srgbClr>
              </a:gs>
            </a:gsLst>
            <a:lin ang="8700000"/>
          </a:gradFill>
          <a:ln xmlns:a="http://schemas.openxmlformats.org/drawingml/2006/main" w="9525">
            <a:solidFill>
              <a:srgbClr val="FF8A24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0FC71-AE0E-41B9-AE1A-BA0A5AED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14300" cy="3619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703E6-9BCE-4DE7-A655-1270A041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A5036-24C3-41C8-8A61-21AE5C7C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aprobar ES TRADICIÓN y su jerarquía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inventariar archivo por emociones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elegir 12–16 historias humanas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definir permisos y responsables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cerrar shot list de grabación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BDD36-F43A-46EB-9EA8-F17FB296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ENTREGABLE CLAVE · Biblia creativa + archivo curado + tablero de producción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2722B-60F4-4AB3-8417-BEEBF152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101A3E"/>
              </a:gs>
              <a:gs pos="64000">
                <a:srgbClr val="FF8A24"/>
              </a:gs>
              <a:gs pos="100000">
                <a:srgbClr val="FF8A24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4E62A-DBF0-4991-BE7F-AA8FD5B1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DD459B-5FAE-4936-A8E5-F8FDE502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El equipo puede explicar la misma idea en una frase.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CDAFA-4E53-4FEA-9FED-A588F3C3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gradFill xmlns:a="http://schemas.openxmlformats.org/drawingml/2006/main">
            <a:gsLst>
              <a:gs pos="0">
                <a:srgbClr val="FFF1DF"/>
              </a:gs>
              <a:gs pos="100000">
                <a:srgbClr val="FF8A24">
                  <a:alpha val="18000"/>
                </a:srgbClr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9FC4CD-FA78-4A02-B438-7DD5C69E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B7268-9FD9-442E-AAA8-52A1C29F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Aprobación cultural, marca, operación y dirección.</a:t>
            </a:r>
          </a:p>
        </p:txBody>
      </p:sp>
    </p:spTree>
    <p:extLst>
      <p:ext uri="{BB962C8B-B14F-4D97-AF65-F5344CB8AC3E}">
        <p14:creationId xmlns:p14="http://schemas.microsoft.com/office/powerpoint/2010/main" val="66113286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C9BF23-FFBC-4400-99F8-5FFA6E4E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6E38D2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7D969-394A-49EE-9FF8-F0BD4C96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E4A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76362-F244-4AB7-AFDA-CBD4FA55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38D2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1986C-35F9-42BF-A14D-5799CEA8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5E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07729-C2EE-4011-AF6E-122EFDF1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5E4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5E4A"/>
                </a:solidFill>
                <a:latin typeface="Avenir Next"/>
                <a:ea typeface="Avenir Next"/>
                <a:cs typeface="Avenir Next"/>
              </a:rPr>
              <a:t>SEMANA 2 · 31 AGO–6 SEP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1B8BB-C24A-415D-9114-FAE58851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Lanzar la idea, no el cartel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902FC-8CB4-4855-AB59-CF43DD5B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Primero debe sentirse que algo propio vuelve.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62B37-1226-4D8A-8A90-F0876424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5E4A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B548A-C9E3-4D62-BEE7-EE2D92B2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52C03-811B-4F26-BF95-CE70258D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58FCB-1563-4B93-A38E-6CB7CAA8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gradFill xmlns:a="http://schemas.openxmlformats.org/drawingml/2006/main">
            <a:gsLst>
              <a:gs pos="0">
                <a:srgbClr val="FFFDFC"/>
              </a:gs>
              <a:gs pos="72000">
                <a:srgbClr val="8E1F70">
                  <a:alpha val="10000"/>
                </a:srgbClr>
              </a:gs>
              <a:gs pos="100000">
                <a:srgbClr val="6E38D2">
                  <a:alpha val="16000"/>
                </a:srgbClr>
              </a:gs>
            </a:gsLst>
            <a:lin ang="8700000"/>
          </a:gradFill>
          <a:ln xmlns:a="http://schemas.openxmlformats.org/drawingml/2006/main" w="9525">
            <a:solidFill>
              <a:srgbClr val="8E1F70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BC5B5-8CD0-4080-8F49-299BCB4F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14300" cy="3619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1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CA9FE-2DBA-4B5C-88E9-0F8EB928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6EAF6-84DF-462D-93B2-E8D5A439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publicar NOS LLAMA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abrir recuerdos: “¿Qué no falta en tu visita?”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microvideos de sonidos, vapor, luces y manos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fotografía editorial de archivo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stories de conversación, no de venta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1CC4F-C97D-4C93-ABAF-D54129BA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ENTREGABLE CLAVE · Hero 01 + 6 cortes + carrusel manifiesto + conversación guiada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05A99-4CF7-4C73-9FE7-C62C5A9E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101A3E"/>
              </a:gs>
              <a:gs pos="64000">
                <a:srgbClr val="8E1F70"/>
              </a:gs>
              <a:gs pos="100000">
                <a:srgbClr val="6E38D2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EF2DD-DD2E-4114-8618-59AFB6E7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192C7-8AD4-4583-873B-04A082DA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Comentarios que cuentan recuerdos, no solo preguntan por artistas.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5B3FDB-7AA9-442B-9CF8-6A2026E1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gradFill xmlns:a="http://schemas.openxmlformats.org/drawingml/2006/main">
            <a:gsLst>
              <a:gs pos="0">
                <a:srgbClr val="FFF1DF"/>
              </a:gs>
              <a:gs pos="100000">
                <a:srgbClr val="6E38D2">
                  <a:alpha val="18000"/>
                </a:srgbClr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56726-F059-4D8D-843C-9BEBF33F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153C0-DFEE-45EC-AABE-9B51F769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Moderación activa; no confirmar datos bajo embargo.</a:t>
            </a:r>
          </a:p>
        </p:txBody>
      </p:sp>
    </p:spTree>
    <p:extLst>
      <p:ext uri="{BB962C8B-B14F-4D97-AF65-F5344CB8AC3E}">
        <p14:creationId xmlns:p14="http://schemas.microsoft.com/office/powerpoint/2010/main" val="2355315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B8A05-E06C-453E-8161-43A4D8F3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FF8A24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91C86-B401-4856-BC82-4F9219D7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2E7B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227B6-598D-4944-AE1A-4DFCC60B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B01DD-D6B1-4F93-9D36-F852AB1F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C2E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499FB-FA0E-48F8-B104-08EEA7F0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SEMANA 3 · 7–13 SEP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67975-8F23-44DB-BE69-C3A0FDA6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Convertir memoria en comunidad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2777B-F116-481A-91C4-A79F78B8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La gente comienza a verse dentro de la historia.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8A93D-A70C-46F2-9523-0ED9EA5D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2E7B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5CF19-78DB-4B95-855B-D4482EF8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36453-6D59-47BC-9648-C5475EA8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1CF77-BC37-4A33-A8F6-B0F97FCA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gradFill xmlns:a="http://schemas.openxmlformats.org/drawingml/2006/main">
            <a:gsLst>
              <a:gs pos="0">
                <a:srgbClr val="FFFDFC"/>
              </a:gs>
              <a:gs pos="72000">
                <a:srgbClr val="35C98A">
                  <a:alpha val="10000"/>
                </a:srgbClr>
              </a:gs>
              <a:gs pos="100000">
                <a:srgbClr val="FF8A24">
                  <a:alpha val="16000"/>
                </a:srgbClr>
              </a:gs>
            </a:gsLst>
            <a:lin ang="8700000"/>
          </a:gradFill>
          <a:ln xmlns:a="http://schemas.openxmlformats.org/drawingml/2006/main" w="9525">
            <a:solidFill>
              <a:srgbClr val="35C98A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21E73-4119-4AE3-87D8-13926D30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14300" cy="3619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C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82DCE-C430-4E98-8171-31B63F9B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73DEB-7C41-4AA6-A2C9-217A7CF0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serie “La primera vez que fui”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archivo por generaciones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abrir convocatoria Camino al Megaescenario, si se aprueba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mostrar feria, comida y oficios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seleccionar testimonios verificables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0CDD9-9C48-4D81-AE57-095C9224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ENTREGABLE CLAVE · 3 retratos · 2 reels de archivo · 1 pieza de participación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6BE4A-34CD-4ACA-A1B6-4D542023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101A3E"/>
              </a:gs>
              <a:gs pos="64000">
                <a:srgbClr val="35C98A"/>
              </a:gs>
              <a:gs pos="100000">
                <a:srgbClr val="FF8A24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86ECC-096C-4382-BCBC-138D16C3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A47D6-A35A-45FD-9693-AB59F0B1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Historias compartidas, guardados y postulaciones válidas.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ED36D-E671-4F6C-AADD-D1677A9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gradFill xmlns:a="http://schemas.openxmlformats.org/drawingml/2006/main">
            <a:gsLst>
              <a:gs pos="0">
                <a:srgbClr val="FFF1DF"/>
              </a:gs>
              <a:gs pos="100000">
                <a:srgbClr val="FF8A24">
                  <a:alpha val="18000"/>
                </a:srgbClr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D21E8-87BA-41A7-996B-EC638C6B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8CF49-0C92-4456-9CEB-43676452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Bases, jurado, derechos, seguridad y voto propio verificable.</a:t>
            </a:r>
          </a:p>
        </p:txBody>
      </p:sp>
    </p:spTree>
    <p:extLst>
      <p:ext uri="{BB962C8B-B14F-4D97-AF65-F5344CB8AC3E}">
        <p14:creationId xmlns:p14="http://schemas.microsoft.com/office/powerpoint/2010/main" val="9933370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E217D-0CBA-4DDD-83C8-1E1B01C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EC2E7B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F0478-995E-4E1E-98E6-5ADAE473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7D7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552D6-A272-4695-B9D5-82614404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2E7B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6BD70-22E0-40D7-B7FA-9AE153E5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C7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0AD48-14BA-4B54-9834-0A1ED55A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rPr>
              <a:t>SEMANA 4 · 14–20 SEP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E985D-F872-4E2A-A76B-816AEA50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Abrir venta con confianza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BCB51-5EC7-4306-9CA4-39BD03F1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La tercera semana de septiembre es una ventana de lanzamiento, no una obligación ciega.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8BCAA-5E4B-4346-A097-20DE824F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C7D7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7E10E-773C-4149-B80B-A6A9BB0E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75A38-EDA4-40C1-86A7-3C664DF0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F78D5-5951-4960-B795-FA887E0C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gradFill xmlns:a="http://schemas.openxmlformats.org/drawingml/2006/main">
            <a:gsLst>
              <a:gs pos="0">
                <a:srgbClr val="FFFDFC"/>
              </a:gs>
              <a:gs pos="72000">
                <a:srgbClr val="EC2E7B">
                  <a:alpha val="10000"/>
                </a:srgbClr>
              </a:gs>
              <a:gs pos="100000">
                <a:srgbClr val="EC2E7B">
                  <a:alpha val="16000"/>
                </a:srgbClr>
              </a:gs>
            </a:gsLst>
            <a:lin ang="8700000"/>
          </a:gradFill>
          <a:ln xmlns:a="http://schemas.openxmlformats.org/drawingml/2006/main" w="9525">
            <a:solidFill>
              <a:srgbClr val="EC2E7B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0B8C7-746A-405A-8B51-E02ABB8F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14300" cy="3619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2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C5078-A0D3-4C77-B76E-216DAA41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3B71A1-BE43-489A-A3C9-F5B36A0C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proponer apertura desde el 17 SEP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revelar la primera razón de asistencia solo si está aprobada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explicar producto, condiciones y canal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publicar tutorial de compra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activar preguntas frecuentes y soporte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502BE-527A-4122-ACB5-06AAA8E3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ENTREGABLE CLAVE · Lanzamiento de venta + tutorial + pieza de confianza + FAQ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241F8-71BA-4CB4-AB82-0AA56CC7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101A3E"/>
              </a:gs>
              <a:gs pos="64000">
                <a:srgbClr val="EC2E7B"/>
              </a:gs>
              <a:gs pos="100000">
                <a:srgbClr val="EC2E7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00CE8-F939-4901-8CCD-5C83C8A7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43551-A9B7-4079-9430-37A63948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Compra real de prueba y atención que responde sin fricción.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01F5B-3EF5-47C0-AF9E-BB074100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gradFill xmlns:a="http://schemas.openxmlformats.org/drawingml/2006/main">
            <a:gsLst>
              <a:gs pos="0">
                <a:srgbClr val="FFF1DF"/>
              </a:gs>
              <a:gs pos="100000">
                <a:srgbClr val="EC2E7B">
                  <a:alpha val="18000"/>
                </a:srgbClr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5FF36-1CC7-4CC6-B6FF-827A72FC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8D37E-420F-4AA5-B142-3D77379E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Contrato, grafía, día, precio, capacidad, derechos, destino seguro y compra de prueba.</a:t>
            </a:r>
          </a:p>
        </p:txBody>
      </p:sp>
    </p:spTree>
    <p:extLst>
      <p:ext uri="{BB962C8B-B14F-4D97-AF65-F5344CB8AC3E}">
        <p14:creationId xmlns:p14="http://schemas.microsoft.com/office/powerpoint/2010/main" val="154103340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61E69D-4523-4216-87F3-4AA07307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2D78FF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8580C-A867-48F0-B233-6C298C22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F24AA-1EAF-4C2D-BC7E-CB4E59A5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8FF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BED8B-98FF-4056-A193-D594F16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8A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F17D6-250A-4CB9-B51F-85665468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SEMANA 5 · 21–27 SEP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8E087-8006-4447-A59D-67C8025A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Construir prueba social verdadera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9F932-1CC0-49DE-815F-580754A6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La emoción gana credibilidad cuando personas reales cuentan por qué regresan.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6DF16-6291-4E31-987A-1022675A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8A24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3C360-1169-43D5-9CCD-1DD44CF8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B603B-FB0E-4B4D-AD91-1E982F9F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8B380-6E34-49F3-89C7-F8EDAB3D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gradFill xmlns:a="http://schemas.openxmlformats.org/drawingml/2006/main">
            <a:gsLst>
              <a:gs pos="0">
                <a:srgbClr val="FFFDFC"/>
              </a:gs>
              <a:gs pos="72000">
                <a:srgbClr val="FFD447">
                  <a:alpha val="10000"/>
                </a:srgbClr>
              </a:gs>
              <a:gs pos="100000">
                <a:srgbClr val="2D78FF">
                  <a:alpha val="16000"/>
                </a:srgbClr>
              </a:gs>
            </a:gsLst>
            <a:lin ang="8700000"/>
          </a:gradFill>
          <a:ln xmlns:a="http://schemas.openxmlformats.org/drawingml/2006/main" w="9525">
            <a:solidFill>
              <a:srgbClr val="FFD447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31775-707A-40C9-A8DE-66A72A87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14300" cy="3619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CBB5C-ED42-403A-80D8-FCE21235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BD50B-70B3-4B5B-B8E6-8FCDD978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serie “Quienes siempre vuelven”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reconocer 4–6 visitantes frecuentes, con evidencia y consentimiento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segunda revelación validada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mostrar primeras rutas de feria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publicar hitos reales de venta, si existen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8D0BE-FBA1-4A42-B71D-F2B1A3BB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ENTREGABLE CLAVE · Microdocumental coral + retratos + ruta 01 + actualización real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527EA-C62B-42D7-AAA1-43097719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101A3E"/>
              </a:gs>
              <a:gs pos="64000">
                <a:srgbClr val="FFD447"/>
              </a:gs>
              <a:gs pos="100000">
                <a:srgbClr val="2D78F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F1413-E3BE-4DB7-A64E-BA200AB5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D1B52-06DB-44D4-881A-38D84131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Testimonios identificables, historias completas y evidencia conciliada.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3262B-6D9B-4ACD-98FA-F3466DD8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gradFill xmlns:a="http://schemas.openxmlformats.org/drawingml/2006/main">
            <a:gsLst>
              <a:gs pos="0">
                <a:srgbClr val="FFF1DF"/>
              </a:gs>
              <a:gs pos="100000">
                <a:srgbClr val="2D78FF">
                  <a:alpha val="18000"/>
                </a:srgbClr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C6CEE2-BBC5-4FF6-A9A5-6B141191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2D78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2D78FF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B4784-33B3-43C6-9865-A813E628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Criterio de selección, consentimiento, privacidad y no favoritismo.</a:t>
            </a:r>
          </a:p>
        </p:txBody>
      </p:sp>
    </p:spTree>
    <p:extLst>
      <p:ext uri="{BB962C8B-B14F-4D97-AF65-F5344CB8AC3E}">
        <p14:creationId xmlns:p14="http://schemas.microsoft.com/office/powerpoint/2010/main" val="129810691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0F6DF-64AA-43BF-A75E-F4B942BD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FF5E4A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0100F-013E-45B8-9922-132B7DDD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38D2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FFD1B-1937-42BB-828C-E854D45D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E4A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B1157-DDCF-4D80-844A-F85BCCD0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38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A0DD6-0E46-4639-8F32-FCF5997B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rPr>
              <a:t>SEMANA 6 · 28 SEP–4 OCT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FA6FF-0B44-42B4-A4FB-3040DDE5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Hacer visible la experiencia completa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FFFBB-4ADD-46C8-966A-D8A8A0F0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La persona debe poder imaginar su día antes de ver la agenda completa.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09F54-AB5D-4661-9D37-032B7111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38D2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58E5D-8D93-4631-B636-419A5C34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36D83-6A44-4EF0-82E2-EDAB3B04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FEBD6-7565-40CF-B7F1-300DC723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gradFill xmlns:a="http://schemas.openxmlformats.org/drawingml/2006/main">
            <a:gsLst>
              <a:gs pos="0">
                <a:srgbClr val="FFFDFC"/>
              </a:gs>
              <a:gs pos="72000">
                <a:srgbClr val="FF8A24">
                  <a:alpha val="10000"/>
                </a:srgbClr>
              </a:gs>
              <a:gs pos="100000">
                <a:srgbClr val="FF5E4A">
                  <a:alpha val="16000"/>
                </a:srgbClr>
              </a:gs>
            </a:gsLst>
            <a:lin ang="8700000"/>
          </a:gradFill>
          <a:ln xmlns:a="http://schemas.openxmlformats.org/drawingml/2006/main" w="9525">
            <a:solidFill>
              <a:srgbClr val="FF8A24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19F23-8B53-4D65-81E3-D2C4BC48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14300" cy="3619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3ACDA-FA92-435E-B31C-39E72FFE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15DCE-5145-4272-B89F-87C492C2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revelar capítulos de los cinco días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lanzar Hacer Feria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mostrar comida, compras, experiencias y familia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introducir la ampliación de zonas de estacionamiento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teaser de la guía móvil y rutas por intereses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40797-D4BD-404D-82BF-6FD7F431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ENTREGABLE CLAVE · Mapa narrativo de cinco días + Hero 02 + teaser de guía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4F8EAB-A79F-464A-88A9-0E1F23D6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101A3E"/>
              </a:gs>
              <a:gs pos="64000">
                <a:srgbClr val="FF8A24"/>
              </a:gs>
              <a:gs pos="100000">
                <a:srgbClr val="FF5E4A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EFFD4-4BFE-4AC2-9D7B-1D4FC06F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B476F-B8CE-4CDB-8FB3-130C7CC1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La feria se entiende como plan completo y no como sala de espera del show.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3AAA2-9527-49BB-8191-286299F8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gradFill xmlns:a="http://schemas.openxmlformats.org/drawingml/2006/main">
            <a:gsLst>
              <a:gs pos="0">
                <a:srgbClr val="FFF1DF"/>
              </a:gs>
              <a:gs pos="100000">
                <a:srgbClr val="FF5E4A">
                  <a:alpha val="18000"/>
                </a:srgbClr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85862-A8C3-4400-9BC7-77114918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5E4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5E4A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82668-4A67-4D40-9EA1-5392CC3C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Programación, mapa, servicios y parqueaderos validados por sus frentes dueños.</a:t>
            </a:r>
          </a:p>
        </p:txBody>
      </p:sp>
    </p:spTree>
    <p:extLst>
      <p:ext uri="{BB962C8B-B14F-4D97-AF65-F5344CB8AC3E}">
        <p14:creationId xmlns:p14="http://schemas.microsoft.com/office/powerpoint/2010/main" val="53181134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24439C-77A9-48F1-A0F1-38E6695F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EC2E7B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4DB5E-ECCC-485F-9219-980EEFD7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47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F1BD1-5E7D-484F-AAC2-3D8B2B32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2E7B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E79F7-F04C-4275-8029-589C711B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32FBF-CDFD-4151-8FA3-9AE501B8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SEMANA 7 · 5–11 OCT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8FFAA-B02D-4689-B106-EA7F6BF0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Profundizar el deseo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6963B-F1B7-466D-9E03-6AA2B21A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Cada contenido debe responder: ¿qué voy a vivir y con quién quiero compartirlo?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E92C9-3707-4FC3-BAFB-882C9D6B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D447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9A980-CC69-47AF-B4BD-7237EC7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69EF6-1FF4-45CB-8AFE-8A1A53B5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028D0-3796-4228-AE05-1C8D5529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gradFill xmlns:a="http://schemas.openxmlformats.org/drawingml/2006/main">
            <a:gsLst>
              <a:gs pos="0">
                <a:srgbClr val="FFFDFC"/>
              </a:gs>
              <a:gs pos="72000">
                <a:srgbClr val="8E1F70">
                  <a:alpha val="10000"/>
                </a:srgbClr>
              </a:gs>
              <a:gs pos="100000">
                <a:srgbClr val="EC2E7B">
                  <a:alpha val="16000"/>
                </a:srgbClr>
              </a:gs>
            </a:gsLst>
            <a:lin ang="8700000"/>
          </a:gradFill>
          <a:ln xmlns:a="http://schemas.openxmlformats.org/drawingml/2006/main" w="9525">
            <a:solidFill>
              <a:srgbClr val="8E1F70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CFB34-4FD5-4D19-9F38-147D03B9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14300" cy="3619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1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E5345-EFC9-4002-B904-2568B6CA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B5AC4-5594-47CF-9B46-F52E6E16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La Canción que Vuelve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historias por parejas, familias y grupos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mostrar ambiente nocturno y feria diurna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revelar nuevas razones aprobadas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retargeting con prueba, no repetición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8E80A-0F98-4069-A910-86589BDC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ENTREGABLE CLAVE · Hero 03 + 4 itinerarios emocionales + piezas de prueba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99E99-E5A7-41B0-AD15-7E483975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101A3E"/>
              </a:gs>
              <a:gs pos="64000">
                <a:srgbClr val="8E1F70"/>
              </a:gs>
              <a:gs pos="100000">
                <a:srgbClr val="EC2E7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B6F07-6AE1-480E-BF7B-2016E182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DA5A2-0EA6-4F9D-9D9B-A475D6E2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Guardados, compartidos y avance del recorrido de compra.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A0B83-416C-444B-B26E-D352A362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gradFill xmlns:a="http://schemas.openxmlformats.org/drawingml/2006/main">
            <a:gsLst>
              <a:gs pos="0">
                <a:srgbClr val="FFF1DF"/>
              </a:gs>
              <a:gs pos="100000">
                <a:srgbClr val="EC2E7B">
                  <a:alpha val="18000"/>
                </a:srgbClr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12B9E-DD73-455B-AC98-BED386F9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2E9506-FC77-4753-8904-DC153F0D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Derechos musicales, activos aprobados y promesas operativas conciliadas.</a:t>
            </a:r>
          </a:p>
        </p:txBody>
      </p:sp>
    </p:spTree>
    <p:extLst>
      <p:ext uri="{BB962C8B-B14F-4D97-AF65-F5344CB8AC3E}">
        <p14:creationId xmlns:p14="http://schemas.microsoft.com/office/powerpoint/2010/main" val="15201733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CF0FB7-DD6A-4AB5-BDD0-68BA2C21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16C7D7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CA033-5DD9-4139-84EB-55DAD547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8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BD1C3-05AC-4585-8AFF-C4AC0C9A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7D7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503DD-731C-4935-9800-A9A32976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D7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B04C5-C68F-4FC6-993A-98F79AD2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2D78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D78FF"/>
                </a:solidFill>
                <a:latin typeface="Avenir Next"/>
                <a:ea typeface="Avenir Next"/>
                <a:cs typeface="Avenir Next"/>
              </a:rPr>
              <a:t>SEMANA 8 · 12–18 OCT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E55F9-FAE4-4A65-8B05-E837B820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Ayudar a elegir el día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FD139-7B0E-4017-B603-DCE864B1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La campaña cambia de “quiero ir” a “ya sé cuándo y cómo”.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B4AFE-3490-4EDF-8E6E-1CAA5917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8FF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25577-F54D-4D5A-9A81-63C90C25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397D0-D17B-4C92-8B4C-21794B5B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D8019-9E75-490C-A4EF-624AF46D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gradFill xmlns:a="http://schemas.openxmlformats.org/drawingml/2006/main">
            <a:gsLst>
              <a:gs pos="0">
                <a:srgbClr val="FFFDFC"/>
              </a:gs>
              <a:gs pos="72000">
                <a:srgbClr val="35C98A">
                  <a:alpha val="10000"/>
                </a:srgbClr>
              </a:gs>
              <a:gs pos="100000">
                <a:srgbClr val="16C7D7">
                  <a:alpha val="16000"/>
                </a:srgbClr>
              </a:gs>
            </a:gsLst>
            <a:lin ang="8700000"/>
          </a:gradFill>
          <a:ln xmlns:a="http://schemas.openxmlformats.org/drawingml/2006/main" w="9525">
            <a:solidFill>
              <a:srgbClr val="35C98A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42F3A-7E6D-4B71-8011-55A62423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14300" cy="3619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C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7DEED-251D-4ABC-A724-D9401E84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3B47F-498B-42C0-A9B5-6956B3BE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agenda por capítulos, no cartel infinito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itinerarios: familiar, feria, música, gastronomía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testimonios de expositores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explicar nuevos parqueaderos, accesos y señalética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contenido de objeciones reales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79654-B3E7-48B2-A92F-0049C62F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ENTREGABLE CLAVE · 5 tarjetas de jornada + 4 rutas + guía visual de estacionamiento + FAQ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1C155-05AC-4B9B-ACA9-C8AC0A91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101A3E"/>
              </a:gs>
              <a:gs pos="64000">
                <a:srgbClr val="35C98A"/>
              </a:gs>
              <a:gs pos="100000">
                <a:srgbClr val="16C7D7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3F403-AAB3-44C4-A2AB-201D55FC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4F310-8B6D-46D8-A7B0-AA360B14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Personas que guardan su itinerario y completan compra o plan de visita.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1BD59-7B30-4627-A1E7-0DBFEFAF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gradFill xmlns:a="http://schemas.openxmlformats.org/drawingml/2006/main">
            <a:gsLst>
              <a:gs pos="0">
                <a:srgbClr val="FFF1DF"/>
              </a:gs>
              <a:gs pos="100000">
                <a:srgbClr val="16C7D7">
                  <a:alpha val="18000"/>
                </a:srgbClr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CFB601-C83A-4FC9-A072-81C7360C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FD1987-F35E-4012-B597-91C3D4EE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Horarios, capacidad real, entradas/salidas, accesos y señalética ratificados.</a:t>
            </a:r>
          </a:p>
        </p:txBody>
      </p:sp>
    </p:spTree>
    <p:extLst>
      <p:ext uri="{BB962C8B-B14F-4D97-AF65-F5344CB8AC3E}">
        <p14:creationId xmlns:p14="http://schemas.microsoft.com/office/powerpoint/2010/main" val="129690975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74F3FB-2A86-4F7A-893D-A48B2209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FF8A24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DEBC2-7099-4D05-97AC-CD914502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8A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B7C00-F058-4103-B74D-1A854AF5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FE7F2-04F2-4E77-AEC3-9395555A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5C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CB503-3627-4E34-8235-B52B7A65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SEMANA 9 · 19–25 OCT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A738F-43DE-4522-B9FD-2F3911FD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Lanzar la guía y reducir incertidumbre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2F296-36F5-4986-8F36-DD749425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La mejor innovación es la que ayuda a disfrutar mejor un lugar gigante.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26241-B46C-48E6-9F99-CD5967C7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C98A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C1E85-830B-4028-A3E6-0982AC00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C3386-014C-4283-817B-3E8A6370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995F9-F43C-414E-8011-A096D17F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gradFill xmlns:a="http://schemas.openxmlformats.org/drawingml/2006/main">
            <a:gsLst>
              <a:gs pos="0">
                <a:srgbClr val="FFFDFC"/>
              </a:gs>
              <a:gs pos="72000">
                <a:srgbClr val="EC2E7B">
                  <a:alpha val="10000"/>
                </a:srgbClr>
              </a:gs>
              <a:gs pos="100000">
                <a:srgbClr val="FF8A24">
                  <a:alpha val="16000"/>
                </a:srgbClr>
              </a:gs>
            </a:gsLst>
            <a:lin ang="8700000"/>
          </a:gradFill>
          <a:ln xmlns:a="http://schemas.openxmlformats.org/drawingml/2006/main" w="9525">
            <a:solidFill>
              <a:srgbClr val="EC2E7B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71E2A-5140-4ABC-A4FD-6C0D96BB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14300" cy="3619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2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FABD2-D122-4EE8-B21F-67A315A7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4E3B0-4490-4D30-9090-B1F06F63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lanzar guía móvil informativa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tutorial de mapa y agenda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ubicar nuevos parqueaderos, accesos y rutas peatonales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contenidos de baños, comida, escenarios y ayuda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recorridos por interés y simulación de día completo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16701-068D-4EE8-9DF9-6AA1A576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ENTREGABLE CLAVE · PWA informativa + video demo + QR interno + carrusel de utilidad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EF28D-A842-4BD3-9ABB-06020811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101A3E"/>
              </a:gs>
              <a:gs pos="64000">
                <a:srgbClr val="EC2E7B"/>
              </a:gs>
              <a:gs pos="100000">
                <a:srgbClr val="FF8A24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B5584-E19F-47BA-9DF2-513221B2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FDBE0E-7CCD-4152-A918-4CBE6BC0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Mapa, agenda y rutas se consultan y comparten.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136013-1CC8-48F3-9EEE-7CB16F77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gradFill xmlns:a="http://schemas.openxmlformats.org/drawingml/2006/main">
            <a:gsLst>
              <a:gs pos="0">
                <a:srgbClr val="FFF1DF"/>
              </a:gs>
              <a:gs pos="100000">
                <a:srgbClr val="FF8A24">
                  <a:alpha val="18000"/>
                </a:srgbClr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EDD28-E3F0-438E-9B94-5C133FA8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EBA11-FD92-4E99-9538-94F3BEEB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Inventario georreferenciado, plano operativo de parqueaderos, QA móvil, contingencia offline y URL segura.</a:t>
            </a:r>
          </a:p>
        </p:txBody>
      </p:sp>
    </p:spTree>
    <p:extLst>
      <p:ext uri="{BB962C8B-B14F-4D97-AF65-F5344CB8AC3E}">
        <p14:creationId xmlns:p14="http://schemas.microsoft.com/office/powerpoint/2010/main" val="42466296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51E1BB-0DB2-4698-A5F3-3365CD2A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6E38D2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AD4F9-AB3C-477E-B3C2-0D34A389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E4A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A6D58-D752-4D9D-93C0-D78E2580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38D2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6751E-0ADF-4857-9CF3-E0454401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5E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63E66-0F42-4983-BCD6-163B830E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5E4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5E4A"/>
                </a:solidFill>
                <a:latin typeface="Avenir Next"/>
                <a:ea typeface="Avenir Next"/>
                <a:cs typeface="Avenir Next"/>
              </a:rPr>
              <a:t>SEMANA 10 · 26–28 OCT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F86DB-C38E-4D2A-BB3C-4BF9E0C5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Cerrar la decisión con verdad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69791-EE71-4B53-81E9-D4F03B18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Urgencia sí; ansiedad fabricada, no.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A043D-6BDD-453E-A3A7-22FEDD97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5E4A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15070-25A5-45B5-8174-8BC90EAD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12CD0-ED8D-400F-8F70-7AA2C383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3E076-B663-4F6F-BA91-A50BA7DA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gradFill xmlns:a="http://schemas.openxmlformats.org/drawingml/2006/main">
            <a:gsLst>
              <a:gs pos="0">
                <a:srgbClr val="FFFDFC"/>
              </a:gs>
              <a:gs pos="72000">
                <a:srgbClr val="FF4B60">
                  <a:alpha val="10000"/>
                </a:srgbClr>
              </a:gs>
              <a:gs pos="100000">
                <a:srgbClr val="6E38D2">
                  <a:alpha val="16000"/>
                </a:srgbClr>
              </a:gs>
            </a:gsLst>
            <a:lin ang="8700000"/>
          </a:gradFill>
          <a:ln xmlns:a="http://schemas.openxmlformats.org/drawingml/2006/main" w="9525">
            <a:solidFill>
              <a:srgbClr val="FF4B60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FF6B6-50E6-434A-9D28-D4ED404A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14300" cy="3619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6E8B0-4776-4560-971A-77DC3B2B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4B6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4B60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B5574-C422-4A06-9AFA-A4D5BAF7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cuenta regresiva útil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disponibilidad solo con inventario real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clima, accesos, horarios y recomendaciones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historias del montaje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• llamados por día y tipo de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9C5FF-4E31-4572-93AD-2C5EC243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ENTREGABLE CLAVE · Paquete último tramo + tablero de disponibilidad conciliado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03A2A-D735-4631-9D3F-E6A946A2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101A3E"/>
              </a:gs>
              <a:gs pos="64000">
                <a:srgbClr val="FF4B60"/>
              </a:gs>
              <a:gs pos="100000">
                <a:srgbClr val="6E38D2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D588F-BD05-496A-B3EF-9596E66A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30EA5-9825-485A-B6B4-0968FFF2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Inventario, atención y operación dicen exactamente lo mismo.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E4174-2DCE-464F-B2CA-31A3B77F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gradFill xmlns:a="http://schemas.openxmlformats.org/drawingml/2006/main">
            <a:gsLst>
              <a:gs pos="0">
                <a:srgbClr val="FFF1DF"/>
              </a:gs>
              <a:gs pos="100000">
                <a:srgbClr val="6E38D2">
                  <a:alpha val="18000"/>
                </a:srgbClr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2A402-DBF6-4765-BD93-5F737C4B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200BE-3DBC-49F3-8106-F00CE8D2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Corte diario firmado entre entradas, finanzas, marketing y operación.</a:t>
            </a:r>
          </a:p>
        </p:txBody>
      </p:sp>
    </p:spTree>
    <p:extLst>
      <p:ext uri="{BB962C8B-B14F-4D97-AF65-F5344CB8AC3E}">
        <p14:creationId xmlns:p14="http://schemas.microsoft.com/office/powerpoint/2010/main" val="389100166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99B880-34FF-46FC-B336-687C7382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/>
              </a:gs>
              <a:gs pos="46000">
                <a:srgbClr val="3E165F"/>
              </a:gs>
              <a:gs pos="100000">
                <a:srgbClr val="EC2E7B">
                  <a:alpha val="7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34109-04C8-4FDA-9C04-AEAB6B81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2E7B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CC635-C5A6-442C-9BE8-641415D6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54E40-3AD0-413C-991A-FEEA1C30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C2E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25005-2CF4-4943-A99E-FB5E1A89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EN VIVO · 29 OCT–2 NOV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B3184-C738-4E31-8A2A-51F63E80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Cinco días, cinco narrativas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25B2B-1AA9-4118-B62F-9A359D82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La cobertura acompaña la experiencia; no convierte el feed en una transmisión interminable.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1FFF0-29A2-4F2B-BEBB-7E11A373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8A24">
                <a:alpha val="5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63641-6C4D-4D5B-A512-21BA6E35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B56B5-5B5B-48A9-9E02-B0E4BA42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E89CF-266B-47F9-A391-8F1D087A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C7D7">
              <a:alpha val="18000"/>
            </a:srgbClr>
          </a:solidFill>
          <a:ln xmlns:a="http://schemas.openxmlformats.org/drawingml/2006/main" w="9525">
            <a:solidFill>
              <a:srgbClr val="16C7D7">
                <a:alpha val="6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8F6DB-2AC2-43BF-9334-7ED0FB5E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rPr>
              <a:t>VOLVER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E2937-6430-41FD-85BD-DA46A558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240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bienvenida · primeras familias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ABE5E-DDBA-4F2C-91C2-5143A129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240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Invitar al Día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B7419-B526-46AC-941C-14AEEC2A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8A24">
              <a:alpha val="18000"/>
            </a:srgbClr>
          </a:solidFill>
          <a:ln xmlns:a="http://schemas.openxmlformats.org/drawingml/2006/main" w="9525">
            <a:solidFill>
              <a:srgbClr val="FF8A24">
                <a:alpha val="6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7C3C9-DAE1-4477-B218-29F7AC43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24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DESCUBRIR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5984AA-EA18-4026-80EB-F589CD20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860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feria · rutas · sabores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08747-3C09-41E3-8D8C-0BEA2FB3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860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Invitar al Día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7197C-874D-420B-81BA-58D96AFC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2E7B">
              <a:alpha val="18000"/>
            </a:srgbClr>
          </a:solidFill>
          <a:ln xmlns:a="http://schemas.openxmlformats.org/drawingml/2006/main" w="9525">
            <a:solidFill>
              <a:srgbClr val="EC2E7B">
                <a:alpha val="6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9A8B0-4795-40F5-9346-B1005D8B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CANTAR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B06CE-1D84-4181-90C9-7969182B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480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público · show · energía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E6ADEE-76E4-4406-9320-86ACB92C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480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Invitar al Día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D44525-3233-4773-96E8-D77A7A71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D447">
              <a:alpha val="18000"/>
            </a:srgbClr>
          </a:solidFill>
          <a:ln xmlns:a="http://schemas.openxmlformats.org/drawingml/2006/main" w="9525">
            <a:solidFill>
              <a:srgbClr val="FFD447">
                <a:alpha val="6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1E1F0-05D9-4596-9574-3D19C293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48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COMPARTIR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B8B293-C3E2-4FA1-B16E-49980434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100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familia · comodidad · alegría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C564D5-73E8-41D1-A186-8ABC7631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00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Invitar al Día 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719E37-E20E-4EF6-BBC0-E419D57C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5C98A">
              <a:alpha val="18000"/>
            </a:srgbClr>
          </a:solidFill>
          <a:ln xmlns:a="http://schemas.openxmlformats.org/drawingml/2006/main" w="9525">
            <a:solidFill>
              <a:srgbClr val="35C98A">
                <a:alpha val="6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E1EE21-8D6A-4742-B53E-3438404B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0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RECORDAR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E26D07-7C82-4DAF-936D-20721F38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720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gratitud · cierres · comercio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2A4876-02DC-4351-BE8B-D581BDBB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720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Sembrar 2027</a:t>
            </a:r>
          </a:p>
        </p:txBody>
      </p:sp>
    </p:spTree>
    <p:extLst>
      <p:ext uri="{BB962C8B-B14F-4D97-AF65-F5344CB8AC3E}">
        <p14:creationId xmlns:p14="http://schemas.microsoft.com/office/powerpoint/2010/main" val="2134443745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10B153-4916-4420-AACA-1B35780D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EC2E7B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E20BC-4CEE-4438-885B-DABB2285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7D7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09A4A-7505-4032-A917-9F7222D0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2E7B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6BC7B-E295-42D1-BEFC-3F77F523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C7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7E277-8856-4092-B964-78812516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rPr>
              <a:t>COBERTURA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A11B2-835C-42E6-A3CF-079E4A3B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El show se muestra desde la gente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0150B-4BA4-4327-A0E7-0A82B1E6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No basta con grabar el escenario: debemos hacer sentir la experiencia de estar ahí.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1E459-F900-4F0D-B38F-282F15D4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C7D7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88C8B-AF84-492C-ACAC-9732693C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0FDF2-FD4B-484B-B2A1-8D678481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34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4b12e8b814cdd"/>
          <a:srcRect xmlns:a="http://schemas.openxmlformats.org/drawingml/2006/main" l="0" t="3358" r="0" b="3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33600"/>
            <a:ext cx="2552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6b05dd2bf475b"/>
          <a:srcRect xmlns:a="http://schemas.openxmlformats.org/drawingml/2006/main" l="0" t="3358" r="0" b="3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2133600"/>
            <a:ext cx="2552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85b9d0c194dbf"/>
          <a:srcRect xmlns:a="http://schemas.openxmlformats.org/drawingml/2006/main" l="0" t="3358" r="0" b="3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2133600"/>
            <a:ext cx="2552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bdb15ec754f2d"/>
          <a:srcRect xmlns:a="http://schemas.openxmlformats.org/drawingml/2006/main" l="0" t="3358" r="0" b="3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2133600"/>
            <a:ext cx="2552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66C89-3D77-4B95-B432-B0011145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34290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E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6B136-A89A-4E9A-A79D-C8C5F9AD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762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3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2BE48-A672-45DC-8B3A-475CA8A7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1 · Escala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D736A-6785-4F42-BA1D-0E36ACEC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Plano general: la energía y el lugar.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06E87-1090-4A10-98A7-0F894F36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38700"/>
            <a:ext cx="34290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73A9D6-5536-417E-8196-01067209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38700"/>
            <a:ext cx="762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2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2B9F3-11E9-4458-B7E7-3A61D076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2 · Reacción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B4D845-550C-4C83-814C-399A8821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05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Rostros, coro, abrazos, manos y baile.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66591D-65CD-449F-B3C3-5AE04D02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38700"/>
            <a:ext cx="34290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9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FFF96B-E2FA-4DF0-8614-2D895EB8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38700"/>
            <a:ext cx="762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C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A0F91-3F30-4A70-8DE8-DA4438D7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48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3 · Detalle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A56617-A260-44BD-8FD1-F92D2BAB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505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Luz, vestuario, instrumento y gesto.</a:t>
            </a:r>
          </a:p>
        </p:txBody>
      </p:sp>
    </p:spTree>
    <p:extLst>
      <p:ext uri="{BB962C8B-B14F-4D97-AF65-F5344CB8AC3E}">
        <p14:creationId xmlns:p14="http://schemas.microsoft.com/office/powerpoint/2010/main" val="1762218241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2ABA7A-E5B6-48CD-B667-B576765D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/>
              </a:gs>
              <a:gs pos="46000">
                <a:srgbClr val="3E165F"/>
              </a:gs>
              <a:gs pos="100000">
                <a:srgbClr val="FF8A24">
                  <a:alpha val="7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F72E6-C057-4A01-B14E-30AB0DC8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98C28-D16E-4C13-A340-EC2CE2E1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8FF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B8A5C-3E61-4D29-A9D2-E06EFF71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8A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5E277-8760-4517-AABC-6FDEA807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2D78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D78FF"/>
                </a:solidFill>
                <a:latin typeface="Avenir Next"/>
                <a:ea typeface="Avenir Next"/>
                <a:cs typeface="Avenir Next"/>
              </a:rPr>
              <a:t>GUÍA MÓVIL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41036-DD3A-4588-9ABB-87B2F9A9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Una brújula para disfrutar un complejo gigante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A4E1F-4C1D-4C94-8A90-B7817CCB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Innovación útil, liviana y sin obligar a registrarse.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A3098-3072-4967-B065-2E7F04E9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8FF">
                <a:alpha val="5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17FC2-0A6A-4799-80CC-5E158FF6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47262-3461-44D3-A569-A8AE5CAA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B7142-1513-4BD9-865E-3689E2BA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009900" cy="3714750"/>
          </a:xfrm>
          <a:prstGeom xmlns:a="http://schemas.openxmlformats.org/drawingml/2006/main" prst="roundRect">
            <a:avLst>
              <a:gd name="adj" fmla="val 10759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BA1CA-AB1A-4D21-8A98-7B9D3EF3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590800" cy="476250"/>
          </a:xfrm>
          <a:prstGeom xmlns:a="http://schemas.openxmlformats.org/drawingml/2006/main" prst="roundRect">
            <a:avLst>
              <a:gd name="adj" fmla="val 36000"/>
            </a:avLst>
          </a:prstGeom>
          <a:gradFill xmlns:a="http://schemas.openxmlformats.org/drawingml/2006/main">
            <a:gsLst>
              <a:gs pos="0">
                <a:srgbClr val="6E38D2"/>
              </a:gs>
              <a:gs pos="58000">
                <a:srgbClr val="EC2E7B"/>
              </a:gs>
              <a:gs pos="100000">
                <a:srgbClr val="FF8A24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1E912-F7C2-4B3E-84EE-623A469B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66975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ES TRADICIÓN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DC224-1834-40CA-8B7A-9798AB4F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157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¿Qué buscas?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C99C5-3B32-442B-8411-9A2D1512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2E7B"/>
          </a:solidFill>
          <a:ln xmlns:a="http://schemas.openxmlformats.org/drawingml/2006/main" w="9525">
            <a:solidFill>
              <a:srgbClr val="EC2E7B">
                <a:alpha val="5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5D891-B01A-4B5E-9E5D-086476A6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Mapa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0997F-F19D-4DBB-84D2-29D2A6F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4330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8A24">
              <a:alpha val="12000"/>
            </a:srgbClr>
          </a:solidFill>
          <a:ln xmlns:a="http://schemas.openxmlformats.org/drawingml/2006/main" w="9525">
            <a:solidFill>
              <a:srgbClr val="FF8A24">
                <a:alpha val="5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431B97-12B2-472C-983C-7C01E845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67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Agenda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186B6-449E-48E5-95C2-FE11DD8D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C7D7">
              <a:alpha val="12000"/>
            </a:srgbClr>
          </a:solidFill>
          <a:ln xmlns:a="http://schemas.openxmlformats.org/drawingml/2006/main" w="9525">
            <a:solidFill>
              <a:srgbClr val="16C7D7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217C87-F101-41F4-9CCF-C0D95E36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576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Comida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3E65D-F796-4F4E-9A72-5A6B1176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3385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D78FF">
              <a:alpha val="12000"/>
            </a:srgbClr>
          </a:solidFill>
          <a:ln xmlns:a="http://schemas.openxmlformats.org/drawingml/2006/main" w="9525">
            <a:solidFill>
              <a:srgbClr val="2D78FF">
                <a:alpha val="55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85CC7F-0CE5-4F92-BEAA-2D2453D3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576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Baños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DCC7B-E8B8-4EBE-9D3A-55EC3ACB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5C98A">
              <a:alpha val="12000"/>
            </a:srgbClr>
          </a:solidFill>
          <a:ln xmlns:a="http://schemas.openxmlformats.org/drawingml/2006/main" w="9525">
            <a:solidFill>
              <a:srgbClr val="35C98A">
                <a:alpha val="55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0C8F3E-5255-4E33-8E41-551BB35C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482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Parqueo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51EA92-10E0-456A-8437-74CA9AA3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2440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6E38D2">
              <a:alpha val="12000"/>
            </a:srgbClr>
          </a:solidFill>
          <a:ln xmlns:a="http://schemas.openxmlformats.org/drawingml/2006/main" w="9525">
            <a:solidFill>
              <a:srgbClr val="6E38D2">
                <a:alpha val="55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2E648-52F3-4B92-B0D9-5015D562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482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Ayuda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303D5C-8D74-43DA-971A-DE4D0744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7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Funciona con señal limitada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DC4EF3-ED2B-4209-858F-F159B511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14550"/>
            <a:ext cx="32194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16C7D7">
              <a:alpha val="14000"/>
            </a:srgbClr>
          </a:solidFill>
          <a:ln xmlns:a="http://schemas.openxmlformats.org/drawingml/2006/main" w="9525">
            <a:solidFill>
              <a:srgbClr val="16C7D7">
                <a:alpha val="55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7F3619-B92A-4775-AD6E-D3AADACC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14550"/>
            <a:ext cx="76200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C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DF25FD-3EDE-4C28-B6E7-E80FA9A7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241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rPr>
              <a:t>SIN BACKEND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D8E02A-9DA3-4658-A4BE-801CB3C4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838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PWA estática, rápida y económica.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1CE1B4-09D4-49D9-9C85-552511DD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32194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8A24">
              <a:alpha val="14000"/>
            </a:srgbClr>
          </a:solidFill>
          <a:ln xmlns:a="http://schemas.openxmlformats.org/drawingml/2006/main" w="9525">
            <a:solidFill>
              <a:srgbClr val="FF8A24">
                <a:alpha val="55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B9C559-DF8A-4AEC-A11E-2DFC25C3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76200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EDA088-C626-45CF-BCB1-2424E565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SIN CUENTA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49AE65-FFAC-47F5-892F-FDD59117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2838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Abrir, consultar y seguir disfrutando.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79A4E3-7D18-4228-81CD-3C5D0DF4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24300"/>
            <a:ext cx="32194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35C98A">
              <a:alpha val="14000"/>
            </a:srgbClr>
          </a:solidFill>
          <a:ln xmlns:a="http://schemas.openxmlformats.org/drawingml/2006/main" w="9525">
            <a:solidFill>
              <a:srgbClr val="35C98A">
                <a:alpha val="55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8FEB81-CE44-40E1-8D5B-940E49D4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24300"/>
            <a:ext cx="76200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C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57BFDE-900F-466A-AC91-55F608E0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33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OFFLINE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E98E84-4035-4083-BCC4-922D9DE3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91050"/>
            <a:ext cx="2838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Mapa y agenda esencial disponibles.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A289E7-2AEF-4009-9FC4-DF25CBA9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24300"/>
            <a:ext cx="32194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EC2E7B">
              <a:alpha val="14000"/>
            </a:srgbClr>
          </a:solidFill>
          <a:ln xmlns:a="http://schemas.openxmlformats.org/drawingml/2006/main" w="9525">
            <a:solidFill>
              <a:srgbClr val="EC2E7B">
                <a:alpha val="55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E01D43-F575-4187-8B40-37CFBA83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24300"/>
            <a:ext cx="76200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2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0A21E6-862E-46C3-99C3-9887E6F5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33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MEDIBLE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C96104-CD08-42D1-B1C0-131B8406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91050"/>
            <a:ext cx="2838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Aperturas, rutas y consultas sin invadir.</a:t>
            </a:r>
          </a:p>
        </p:txBody>
      </p:sp>
    </p:spTree>
    <p:extLst>
      <p:ext uri="{BB962C8B-B14F-4D97-AF65-F5344CB8AC3E}">
        <p14:creationId xmlns:p14="http://schemas.microsoft.com/office/powerpoint/2010/main" val="1744632802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E9C01A-D342-40A1-9844-9027623B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FF5E4A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B84F8-B58E-411D-96EB-0DF4A190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38D2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10DDB-529A-4369-BAD7-E44A9CBE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E4A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2BE59-A5D7-4E30-B5A7-D9289DDD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38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AAE7C-A0B0-4D43-A8F8-DA586202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rPr>
              <a:t>CONVERSIÓN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D8C41-62AA-4BDC-9EAE-1FC72484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Cómo comunicar demanda sin inventarla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C4A36-B7B5-4C81-AFD2-01B53138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La urgencia es poderosa cuando se puede demostrar.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A3C78-BE60-48C2-A961-776A78B6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38D2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EF64A-0034-436A-A7F7-87018C70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8AABC-9FA0-4843-A91D-169B363E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041F3-0CE4-4E76-8C90-E73EEC1F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C7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785FD-48E1-4C37-BD50-431AA730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38100">
            <a:solidFill>
              <a:srgbClr val="16C7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4D1D9-30CA-4809-89BD-B594195A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78C9B-153C-4189-8E14-AFDEB71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14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Arranque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DCF00-FA8A-473B-9C0A-E64AB19C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38100">
            <a:solidFill>
              <a:srgbClr val="35C9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1794B-6BC0-4AFB-8113-FC1E7F5F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67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50%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3756C-0172-4671-9775-BFB77210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14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Tracción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1EF91-5E89-41A3-9B02-DC080CF2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38100">
            <a:solidFill>
              <a:srgbClr val="FFD44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EB702-2D66-43FA-93A9-2D0048B5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67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75%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3A28B-00F4-4C4A-897C-BF92EFB1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14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Último tramo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F61780-3905-43A3-AA97-BEBD6B26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38100">
            <a:solidFill>
              <a:srgbClr val="FF8A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B5408-53D9-4AAF-82E7-310663CC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90%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F0362-F521-4CFD-8284-0C5B347F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14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Quedan pocos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93B57D-F0F9-4518-8AE0-064CC4FE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2E7B"/>
          </a:solidFill>
          <a:ln xmlns:a="http://schemas.openxmlformats.org/drawingml/2006/main" w="38100">
            <a:solidFill>
              <a:srgbClr val="EC2E7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C202C3-A795-4758-9E74-AAFD356B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67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49C19-F523-4A33-BDC3-18585670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14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Agotado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D86546-8348-4D0A-A74F-3E8334B9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52578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DDF9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629B33-F7E9-48D5-A362-BE054DEF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SÍ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31E595-ACD2-4999-81EE-17C23217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339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Inventario conciliado · corte horario · captura de sistema · mensaje exacto.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679D14-C790-44E7-BFB7-2BFDB84E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62500"/>
            <a:ext cx="55245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D88A0E-8035-499F-A89A-6688E83D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91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4B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4B60"/>
                </a:solidFill>
                <a:latin typeface="Avenir Next"/>
                <a:ea typeface="Avenir Next"/>
                <a:cs typeface="Avenir Next"/>
              </a:rPr>
              <a:t>NO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99F41E-614D-4C35-B6AF-02B3628D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33950"/>
            <a:ext cx="432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17132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32F"/>
                </a:solidFill>
                <a:latin typeface="Avenir Next"/>
                <a:ea typeface="Avenir Next"/>
                <a:cs typeface="Avenir Next"/>
              </a:rPr>
              <a:t>Falso agotado · contador inventado · presión sin respaldo · escasez ambigua.</a:t>
            </a:r>
          </a:p>
        </p:txBody>
      </p:sp>
    </p:spTree>
    <p:extLst>
      <p:ext uri="{BB962C8B-B14F-4D97-AF65-F5344CB8AC3E}">
        <p14:creationId xmlns:p14="http://schemas.microsoft.com/office/powerpoint/2010/main" val="43576631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2B7DAB-4FF6-4EB2-8D33-835BB5A8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/>
              </a:gs>
              <a:gs pos="46000">
                <a:srgbClr val="3E165F"/>
              </a:gs>
              <a:gs pos="100000">
                <a:srgbClr val="FFD447">
                  <a:alpha val="7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27B6F-F2F8-4052-8E69-C5C0CA8B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47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32598-8518-474C-A1F4-D96DCC6D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2E7B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5E5B5-9624-4220-B8CF-C5D49F75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692B7-A2CD-4B98-96D6-5E4D9588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EQUIPO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008D9-0358-4D80-8EB8-D2CF617E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Una idea fuerte necesita dueños claros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A2AD9-0BCF-438B-B24F-A0A8C035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El organigrama 2025 sirve como referencia; las funciones 2026 deben ratificarse.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C308D-039D-4D01-BF23-E3F7BBE8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2E7B">
                <a:alpha val="5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3F1B4-7AC7-47F2-A176-281FBA49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604AF-F53F-4A57-8E50-2E5FC82F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37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46763-B0FF-47A1-9391-D72150BD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6C7D7">
              <a:alpha val="13000"/>
            </a:srgbClr>
          </a:solidFill>
          <a:ln xmlns:a="http://schemas.openxmlformats.org/drawingml/2006/main" w="9525">
            <a:solidFill>
              <a:srgbClr val="16C7D7">
                <a:alpha val="4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132C9-73B2-4EC8-AC31-E17A74EA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C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7B7B0-E332-4A63-B0AD-A74D4D61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rPr>
              <a:t>DIRECCIÓN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E4832-2B29-460F-BE18-0437D47B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812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Aprueba promesa, riesgo y publicación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3F5F1-4E5A-48C4-BA8F-487F5650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C2E7B">
              <a:alpha val="13000"/>
            </a:srgbClr>
          </a:solidFill>
          <a:ln xmlns:a="http://schemas.openxmlformats.org/drawingml/2006/main" w="9525">
            <a:solidFill>
              <a:srgbClr val="EC2E7B">
                <a:alpha val="4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01C4C5-D82E-4768-9507-17C417FC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2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EBE20-DED9-4C81-8AF9-5D6C1380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MARKETING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54ECE-4EFB-42A7-947C-288055D3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812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Orquesta calendario, pauta y medición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E9CD1-0657-46CA-A718-EB16FBDD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8A24">
              <a:alpha val="13000"/>
            </a:srgbClr>
          </a:solidFill>
          <a:ln xmlns:a="http://schemas.openxmlformats.org/drawingml/2006/main" w="9525">
            <a:solidFill>
              <a:srgbClr val="FF8A24">
                <a:alpha val="48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41613-552C-4A92-9F98-FC841F82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B808EB-2F6E-40E7-91D2-2300B1FD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CREATIVIDAD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F49C19-9AB8-430F-8B24-1EBBFBEF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527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Traduce plataforma a diseño y copy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0F7825-576A-44C3-BCA3-6F4C2CC3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35C98A">
              <a:alpha val="13000"/>
            </a:srgbClr>
          </a:solidFill>
          <a:ln xmlns:a="http://schemas.openxmlformats.org/drawingml/2006/main" w="9525">
            <a:solidFill>
              <a:srgbClr val="35C98A">
                <a:alpha val="48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BCBEB-DEA2-4AB7-8DD3-ADABE56C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C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5287B-8E5F-4B4B-972F-3C1747BD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AUDIOVISUAL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424026-F45A-4988-8DD1-166BDD57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527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Produce archivo, rodaje, edición y sonido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6DAFD6-89D2-42BB-A4CA-29BEE3F2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6E38D2">
              <a:alpha val="13000"/>
            </a:srgbClr>
          </a:solidFill>
          <a:ln xmlns:a="http://schemas.openxmlformats.org/drawingml/2006/main" w="9525">
            <a:solidFill>
              <a:srgbClr val="6E38D2">
                <a:alpha val="48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850D05-88BC-404E-82AF-9E6FA43E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3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C4B7B7-06BF-4D99-BEA2-6AE8D189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rPr>
              <a:t>COMUNICACIÓN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93945C-2DCB-4A76-85C9-9B0F120A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243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Prensa, relaciones, comunidad y vocerías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40BE3B-9CC4-444C-9E71-D4B6E362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D447">
              <a:alpha val="13000"/>
            </a:srgbClr>
          </a:solidFill>
          <a:ln xmlns:a="http://schemas.openxmlformats.org/drawingml/2006/main" w="9525">
            <a:solidFill>
              <a:srgbClr val="FFD447">
                <a:alpha val="48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11CAEE-33D3-4259-B6D6-04B483DA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2A073B-7EB5-49A1-BD6B-19F3AC5F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PRODUCCIÓN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F53C33-49B8-424C-8BFF-ECE2335A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243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Valida que la promesa pueda cumplirse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D83A1B-C2D5-452D-BA57-FC620EF8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5E4A">
              <a:alpha val="13000"/>
            </a:srgbClr>
          </a:solidFill>
          <a:ln xmlns:a="http://schemas.openxmlformats.org/drawingml/2006/main" w="9525">
            <a:solidFill>
              <a:srgbClr val="FF5E4A">
                <a:alpha val="48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EE9A97-D86B-4BE2-81ED-4A0762D2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B61896-C1C8-4CEA-BE2E-EDAA596D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5E4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5E4A"/>
                </a:solidFill>
                <a:latin typeface="Avenir Next"/>
                <a:ea typeface="Avenir Next"/>
                <a:cs typeface="Avenir Next"/>
              </a:rPr>
              <a:t>DATOS / VENTA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093B98-3AF9-4646-9080-F79DB222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958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Concilia tracking, inventario y resultados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2DCE69-B79E-4489-9D96-EFBFA0DD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7205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D78FF">
              <a:alpha val="13000"/>
            </a:srgbClr>
          </a:solidFill>
          <a:ln xmlns:a="http://schemas.openxmlformats.org/drawingml/2006/main" w="9525">
            <a:solidFill>
              <a:srgbClr val="2D78FF">
                <a:alpha val="48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F94B78-1224-4BC4-8659-C1E3AD05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7205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890485-B191-4BB2-909C-066A5D99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24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2D78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D78FF"/>
                </a:solidFill>
                <a:latin typeface="Avenir Next"/>
                <a:ea typeface="Avenir Next"/>
                <a:cs typeface="Avenir Next"/>
              </a:rPr>
              <a:t>SERVICIO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618CE1-3AF8-4C12-A976-D1A534E6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Responde y devuelve objeciones al equipo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52FE19-3780-4931-B51C-A2D41EB2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Regla: nadie publica un dato que pertenece a otro frente sin confirmación del dueño.</a:t>
            </a:r>
          </a:p>
        </p:txBody>
      </p:sp>
    </p:spTree>
    <p:extLst>
      <p:ext uri="{BB962C8B-B14F-4D97-AF65-F5344CB8AC3E}">
        <p14:creationId xmlns:p14="http://schemas.microsoft.com/office/powerpoint/2010/main" val="692565166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CD91DB-3E91-4146-AC5A-8AB4B85F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8EF"/>
              </a:gs>
              <a:gs pos="54000">
                <a:srgbClr val="FFFDFC"/>
              </a:gs>
              <a:gs pos="100000">
                <a:srgbClr val="16C7D7">
                  <a:alpha val="1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E45A0-4E0B-4AF1-88DB-C0100573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8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79201-C3EE-4E96-A3BE-E88363E5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7D7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82E50-AE2D-470A-A215-0F3A05E0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D7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AD7CD-3D53-4D26-BDF9-937830B1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2D78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D78FF"/>
                </a:solidFill>
                <a:latin typeface="Avenir Next"/>
                <a:ea typeface="Avenir Next"/>
                <a:cs typeface="Avenir Next"/>
              </a:rPr>
              <a:t>RITMO DE PRODUCCIÓN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45EF8-376E-456D-BE5E-37815D4E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3E165F"/>
                </a:solidFill>
                <a:latin typeface="New York"/>
                <a:ea typeface="New York"/>
                <a:cs typeface="New York"/>
              </a:rPr>
              <a:t>Una semana creativa que puede repetirse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01EEC-9E7A-47B0-B998-2E894935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1F70"/>
                </a:solidFill>
                <a:latin typeface="Avenir Next"/>
                <a:ea typeface="Avenir Next"/>
                <a:cs typeface="Avenir Next"/>
              </a:rPr>
              <a:t>Menos improvisación, más calidad y más espacio para aprender.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64852-51FD-444E-9F36-8A3355C3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8FF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AE0F4-99D6-4C70-8661-535E13A9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5BF9A-FC2A-4CCE-B118-61F377E4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E165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9B8BE-6AD8-4FE4-A31F-89F06D45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619250" cy="2647950"/>
          </a:xfrm>
          <a:prstGeom xmlns:a="http://schemas.openxmlformats.org/drawingml/2006/main" prst="roundRect">
            <a:avLst>
              <a:gd name="adj" fmla="val 9412"/>
            </a:avLst>
          </a:prstGeom>
          <a:gradFill xmlns:a="http://schemas.openxmlformats.org/drawingml/2006/main">
            <a:gsLst>
              <a:gs pos="0">
                <a:srgbClr val="FFFDFC"/>
              </a:gs>
              <a:gs pos="100000">
                <a:srgbClr val="6E38D2">
                  <a:alpha val="14000"/>
                </a:srgbClr>
              </a:gs>
            </a:gsLst>
            <a:lin ang="8700000"/>
          </a:gradFill>
          <a:ln xmlns:a="http://schemas.openxmlformats.org/drawingml/2006/main" w="9525">
            <a:solidFill>
              <a:srgbClr val="6E38D2">
                <a:alpha val="5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092B7-32A3-44CA-8CB1-7D309039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rPr>
              <a:t>LUN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67AF3-1E8D-49B8-95EC-C6288928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17132F"/>
                </a:solidFill>
                <a:latin typeface="New York"/>
                <a:ea typeface="New York"/>
                <a:cs typeface="New York"/>
              </a:defRPr>
            </a:pPr>
            <a:r>
              <a:rPr sz="1500" b="1" i="0">
                <a:solidFill>
                  <a:srgbClr val="17132F"/>
                </a:solidFill>
                <a:latin typeface="New York"/>
                <a:ea typeface="New York"/>
                <a:cs typeface="New York"/>
              </a:rPr>
              <a:t>Brief + 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45CC2-A3DA-42EA-B071-F17705B3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qué debe mover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9F1D3-437F-455F-9B3C-0C7AB813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66950"/>
            <a:ext cx="1619250" cy="2647950"/>
          </a:xfrm>
          <a:prstGeom xmlns:a="http://schemas.openxmlformats.org/drawingml/2006/main" prst="roundRect">
            <a:avLst>
              <a:gd name="adj" fmla="val 9412"/>
            </a:avLst>
          </a:prstGeom>
          <a:gradFill xmlns:a="http://schemas.openxmlformats.org/drawingml/2006/main">
            <a:gsLst>
              <a:gs pos="0">
                <a:srgbClr val="FFFDFC"/>
              </a:gs>
              <a:gs pos="100000">
                <a:srgbClr val="EC2E7B">
                  <a:alpha val="14000"/>
                </a:srgbClr>
              </a:gs>
            </a:gsLst>
            <a:lin ang="8700000"/>
          </a:gradFill>
          <a:ln xmlns:a="http://schemas.openxmlformats.org/drawingml/2006/main" w="9525">
            <a:solidFill>
              <a:srgbClr val="EC2E7B">
                <a:alpha val="5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898C8-D72A-46F4-ADA5-4436850D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A3C8D-ED25-477D-9723-D0F741BC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17132F"/>
                </a:solidFill>
                <a:latin typeface="New York"/>
                <a:ea typeface="New York"/>
                <a:cs typeface="New York"/>
              </a:defRPr>
            </a:pPr>
            <a:r>
              <a:rPr sz="1500" b="1" i="0">
                <a:solidFill>
                  <a:srgbClr val="17132F"/>
                </a:solidFill>
                <a:latin typeface="New York"/>
                <a:ea typeface="New York"/>
                <a:cs typeface="New York"/>
              </a:rPr>
              <a:t>Guion + diseño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B3C05-2E68-42AB-B993-E26D483E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idea y sistema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385DA-E102-4CEE-8E8F-BD45A0F7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1619250" cy="2647950"/>
          </a:xfrm>
          <a:prstGeom xmlns:a="http://schemas.openxmlformats.org/drawingml/2006/main" prst="roundRect">
            <a:avLst>
              <a:gd name="adj" fmla="val 9412"/>
            </a:avLst>
          </a:prstGeom>
          <a:gradFill xmlns:a="http://schemas.openxmlformats.org/drawingml/2006/main">
            <a:gsLst>
              <a:gs pos="0">
                <a:srgbClr val="FFFDFC"/>
              </a:gs>
              <a:gs pos="100000">
                <a:srgbClr val="FF8A24">
                  <a:alpha val="14000"/>
                </a:srgbClr>
              </a:gs>
            </a:gsLst>
            <a:lin ang="8700000"/>
          </a:gradFill>
          <a:ln xmlns:a="http://schemas.openxmlformats.org/drawingml/2006/main" w="9525">
            <a:solidFill>
              <a:srgbClr val="FF8A24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385EE-AD0E-4213-BB39-9F4EA1B0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MIÉ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589BF-A3D9-4FBA-8D1E-AEE5DF22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17132F"/>
                </a:solidFill>
                <a:latin typeface="New York"/>
                <a:ea typeface="New York"/>
                <a:cs typeface="New York"/>
              </a:defRPr>
            </a:pPr>
            <a:r>
              <a:rPr sz="1500" b="1" i="0">
                <a:solidFill>
                  <a:srgbClr val="17132F"/>
                </a:solidFill>
                <a:latin typeface="New York"/>
                <a:ea typeface="New York"/>
                <a:cs typeface="New York"/>
              </a:rPr>
              <a:t>Producción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BB2CA5-38FC-432E-9B69-6EC31663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rodaje y masters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7A8D3-474E-4FAD-9E6B-2B21C02C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1619250" cy="2647950"/>
          </a:xfrm>
          <a:prstGeom xmlns:a="http://schemas.openxmlformats.org/drawingml/2006/main" prst="roundRect">
            <a:avLst>
              <a:gd name="adj" fmla="val 9412"/>
            </a:avLst>
          </a:prstGeom>
          <a:gradFill xmlns:a="http://schemas.openxmlformats.org/drawingml/2006/main">
            <a:gsLst>
              <a:gs pos="0">
                <a:srgbClr val="FFFDFC"/>
              </a:gs>
              <a:gs pos="100000">
                <a:srgbClr val="16C7D7">
                  <a:alpha val="14000"/>
                </a:srgbClr>
              </a:gs>
            </a:gsLst>
            <a:lin ang="8700000"/>
          </a:gradFill>
          <a:ln xmlns:a="http://schemas.openxmlformats.org/drawingml/2006/main" w="9525">
            <a:solidFill>
              <a:srgbClr val="16C7D7">
                <a:alpha val="55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0A01F0-7012-47B3-A1BE-C05F5C34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rPr>
              <a:t>JUE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262E5F-A385-4FF3-AF52-E938908F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17132F"/>
                </a:solidFill>
                <a:latin typeface="New York"/>
                <a:ea typeface="New York"/>
                <a:cs typeface="New York"/>
              </a:defRPr>
            </a:pPr>
            <a:r>
              <a:rPr sz="1500" b="1" i="0">
                <a:solidFill>
                  <a:srgbClr val="17132F"/>
                </a:solidFill>
                <a:latin typeface="New York"/>
                <a:ea typeface="New York"/>
                <a:cs typeface="New York"/>
              </a:rPr>
              <a:t>QA + aprobación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D91F38-5825-4AF5-88A8-6D29D02A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marca, dato, derechos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C73557-DA61-4527-9921-BFE043CA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1619250" cy="2647950"/>
          </a:xfrm>
          <a:prstGeom xmlns:a="http://schemas.openxmlformats.org/drawingml/2006/main" prst="roundRect">
            <a:avLst>
              <a:gd name="adj" fmla="val 9412"/>
            </a:avLst>
          </a:prstGeom>
          <a:gradFill xmlns:a="http://schemas.openxmlformats.org/drawingml/2006/main">
            <a:gsLst>
              <a:gs pos="0">
                <a:srgbClr val="101A3E"/>
              </a:gs>
              <a:gs pos="100000">
                <a:srgbClr val="35C98A"/>
              </a:gs>
            </a:gsLst>
            <a:lin ang="8700000"/>
          </a:gradFill>
          <a:ln xmlns:a="http://schemas.openxmlformats.org/drawingml/2006/main" w="9525">
            <a:solidFill>
              <a:srgbClr val="35C98A">
                <a:alpha val="5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F29D8C-1E07-4111-9A79-BF87BFC1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VIE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6F55AB-8697-484A-AF66-5F543B94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1500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Publicación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726D87-7524-4408-A3D2-3EC55261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salida + comunidad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BDC5C7-5540-44DC-BA73-0C90C5C5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619250" cy="2647950"/>
          </a:xfrm>
          <a:prstGeom xmlns:a="http://schemas.openxmlformats.org/drawingml/2006/main" prst="roundRect">
            <a:avLst>
              <a:gd name="adj" fmla="val 9412"/>
            </a:avLst>
          </a:prstGeom>
          <a:gradFill xmlns:a="http://schemas.openxmlformats.org/drawingml/2006/main">
            <a:gsLst>
              <a:gs pos="0">
                <a:srgbClr val="FFFDFC"/>
              </a:gs>
              <a:gs pos="100000">
                <a:srgbClr val="2D78FF">
                  <a:alpha val="14000"/>
                </a:srgbClr>
              </a:gs>
            </a:gsLst>
            <a:lin ang="8700000"/>
          </a:gradFill>
          <a:ln xmlns:a="http://schemas.openxmlformats.org/drawingml/2006/main" w="9525">
            <a:solidFill>
              <a:srgbClr val="2D78FF">
                <a:alpha val="5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D25BFE-94F0-477A-A5FA-B0BE16DC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2D78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2D78FF"/>
                </a:solidFill>
                <a:latin typeface="Avenir Next"/>
                <a:ea typeface="Avenir Next"/>
                <a:cs typeface="Avenir Next"/>
              </a:rPr>
              <a:t>SÁB/DOM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659958-1BE0-44C5-859F-A0DE7A24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17132F"/>
                </a:solidFill>
                <a:latin typeface="New York"/>
                <a:ea typeface="New York"/>
                <a:cs typeface="New York"/>
              </a:defRPr>
            </a:pPr>
            <a:r>
              <a:rPr sz="1500" b="1" i="0">
                <a:solidFill>
                  <a:srgbClr val="17132F"/>
                </a:solidFill>
                <a:latin typeface="New York"/>
                <a:ea typeface="New York"/>
                <a:cs typeface="New York"/>
              </a:rPr>
              <a:t>Escucha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206B81-E4C7-456B-B490-9C134DBA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06982"/>
                </a:solidFill>
                <a:latin typeface="Avenir Next"/>
                <a:ea typeface="Avenir Next"/>
                <a:cs typeface="Avenir Next"/>
              </a:rPr>
              <a:t>señales y archivo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759E5B-57C9-484B-A9D2-EB638A3D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10820400" cy="590550"/>
          </a:xfrm>
          <a:prstGeom xmlns:a="http://schemas.openxmlformats.org/drawingml/2006/main" prst="roundRect">
            <a:avLst>
              <a:gd name="adj" fmla="val 25806"/>
            </a:avLst>
          </a:prstGeom>
          <a:gradFill xmlns:a="http://schemas.openxmlformats.org/drawingml/2006/main">
            <a:gsLst>
              <a:gs pos="0">
                <a:srgbClr val="EEE2FF"/>
              </a:gs>
              <a:gs pos="36000">
                <a:srgbClr val="FFE0EC"/>
              </a:gs>
              <a:gs pos="70000">
                <a:srgbClr val="FFE1B8"/>
              </a:gs>
              <a:gs pos="100000">
                <a:srgbClr val="DDF9F8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D5B03D-FDBB-441D-9221-9786B7C9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34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3E165F"/>
                </a:solidFill>
                <a:latin typeface="Avenir Next"/>
                <a:ea typeface="Avenir Next"/>
                <a:cs typeface="Avenir Next"/>
              </a:rPr>
              <a:t>Cada lunes: revisar ventas/visitas reales, preguntas, pieza ganadora, pieza débil y siguiente hipótesis.</a:t>
            </a:r>
          </a:p>
        </p:txBody>
      </p:sp>
    </p:spTree>
    <p:extLst>
      <p:ext uri="{BB962C8B-B14F-4D97-AF65-F5344CB8AC3E}">
        <p14:creationId xmlns:p14="http://schemas.microsoft.com/office/powerpoint/2010/main" val="1107670756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222BF1-982F-437B-BE77-958447F1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/>
              </a:gs>
              <a:gs pos="46000">
                <a:srgbClr val="3E165F"/>
              </a:gs>
              <a:gs pos="100000">
                <a:srgbClr val="35C98A">
                  <a:alpha val="72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779DD-D470-4634-940E-C2AD792D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8A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D8D52-3107-4C0F-8FC7-F90C1509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25717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E893C-2B9B-42FC-B98D-302E0757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5C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70DF1-B5B1-46FD-9E7E-6B9FB9AE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CONTROL DE CALIDAD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67489-34E1-44B2-BC74-483D5707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Nada sale por emoción solamente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A4D65-C322-4AE6-BE73-3914E335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La confianza se protege con gates visibles.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C62E8-60C3-4A41-A398-D1EF6F3F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8A24">
                <a:alpha val="5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47067-E35B-4E60-B6C1-B5671D7E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1535D-6049-4680-A8F7-3AECC2F3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5166E-BE20-4576-818E-AF8C675F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34099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16C7D7">
              <a:alpha val="12000"/>
            </a:srgbClr>
          </a:solidFill>
          <a:ln xmlns:a="http://schemas.openxmlformats.org/drawingml/2006/main" w="9525">
            <a:solidFill>
              <a:srgbClr val="16C7D7">
                <a:alpha val="5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A97B4-2410-4649-81AA-4C1407D6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6C7D7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F3322-F918-4859-A0BF-C6155F81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764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VERDAD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66E92-53F8-431E-A5D0-A4457AC7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¿El dato tiene dueño y evidencia?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C4A0A-B112-4B4A-8C42-9DB338A4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14550"/>
            <a:ext cx="34099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C2E7B">
              <a:alpha val="12000"/>
            </a:srgbClr>
          </a:solidFill>
          <a:ln xmlns:a="http://schemas.openxmlformats.org/drawingml/2006/main" w="9525">
            <a:solidFill>
              <a:srgbClr val="EC2E7B">
                <a:alpha val="52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45AF4-BAED-47EB-963E-349FADA8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05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C2E7B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986282-EA9D-40DA-A873-DB3BABDD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764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DERECHOS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60C61-C665-4941-88FC-2E2F01C3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¿Imagen, música y testimonio están autorizados?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AFA5E-24C2-4AA9-A119-0CBA1C7F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34099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8A24">
              <a:alpha val="12000"/>
            </a:srgbClr>
          </a:solidFill>
          <a:ln xmlns:a="http://schemas.openxmlformats.org/drawingml/2006/main" w="9525">
            <a:solidFill>
              <a:srgbClr val="FF8A24">
                <a:alpha val="52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9AB53C-71AA-4952-BD62-0D8F3A78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8A2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1AB16-3DDC-4B08-9A43-B35DBA47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764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PROMESA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828AD-68FB-4934-B163-BD0CA563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¿Operación puede cumplir lo que mostramos?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B66FAC-9D33-49A4-B21C-FD79C0EB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34099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35C98A">
              <a:alpha val="12000"/>
            </a:srgbClr>
          </a:solidFill>
          <a:ln xmlns:a="http://schemas.openxmlformats.org/drawingml/2006/main" w="9525">
            <a:solidFill>
              <a:srgbClr val="35C98A">
                <a:alpha val="5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52C06-5D2F-4C7A-A7D6-60C8E1E0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5C98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13FE40-C7BD-4C01-9270-D0AC56F9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19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CLARIDAD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FD5A94-0B42-414B-B636-6E5E8971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¿Se entiende en 3 segundos y sin sonido?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D121D9-FE46-48E8-BCC3-D0F7F528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10000"/>
            <a:ext cx="34099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6E38D2">
              <a:alpha val="12000"/>
            </a:srgbClr>
          </a:solidFill>
          <a:ln xmlns:a="http://schemas.openxmlformats.org/drawingml/2006/main" w="9525">
            <a:solidFill>
              <a:srgbClr val="6E38D2">
                <a:alpha val="52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6ED0A2-BB53-489B-AAFD-B9113DD6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00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E38D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6954B2-715F-4877-B2E8-4EF06614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719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ACCIÓN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03963A-D4AE-47AE-B712-FE6C6506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7675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¿La persona sabe qué hacer después?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95BB65-BA54-48EE-9587-42956D56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34099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D447">
              <a:alpha val="12000"/>
            </a:srgbClr>
          </a:solidFill>
          <a:ln xmlns:a="http://schemas.openxmlformats.org/drawingml/2006/main" w="9525">
            <a:solidFill>
              <a:srgbClr val="FFD447">
                <a:alpha val="52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8D0DCA-4FCC-49D1-AFE6-D0EF7D16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00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D88148-B972-4096-8017-F6A5922E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719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1DF"/>
                </a:solidFill>
                <a:latin typeface="Avenir Next"/>
                <a:ea typeface="Avenir Next"/>
                <a:cs typeface="Avenir Next"/>
              </a:rPr>
              <a:t>MEDICIÓN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A44A3A-5131-488C-B740-46B5E484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7675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7E8FF"/>
                </a:solidFill>
                <a:latin typeface="Avenir Next"/>
                <a:ea typeface="Avenir Next"/>
                <a:cs typeface="Avenir Next"/>
              </a:rPr>
              <a:t>¿Podremos saber si funcionó?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C7DA27-499F-4049-A4BB-91878063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Si una respuesta es “no”, la pieza no está lista: se corrige o se desplaza.</a:t>
            </a:r>
          </a:p>
        </p:txBody>
      </p:sp>
    </p:spTree>
    <p:extLst>
      <p:ext uri="{BB962C8B-B14F-4D97-AF65-F5344CB8AC3E}">
        <p14:creationId xmlns:p14="http://schemas.microsoft.com/office/powerpoint/2010/main" val="513005035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b7a37272e48dc"/>
          <a:srcRect xmlns:a="http://schemas.openxmlformats.org/drawingml/2006/main" l="0" t="7833" r="0" b="7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E1355-969B-4461-8F50-0B21A8D4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>
                  <a:alpha val="96000"/>
                </a:srgbClr>
              </a:gs>
              <a:gs pos="40000">
                <a:srgbClr val="6E38D2">
                  <a:alpha val="68000"/>
                </a:srgbClr>
              </a:gs>
              <a:gs pos="70000">
                <a:srgbClr val="EC2E7B">
                  <a:alpha val="38000"/>
                </a:srgbClr>
              </a:gs>
              <a:gs pos="100000">
                <a:srgbClr val="FF8A24">
                  <a:alpha val="24000"/>
                </a:srgbClr>
              </a:gs>
            </a:gsLst>
            <a:lin ang="63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247E9-A754-433D-846D-C2561036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1581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3E"/>
              </a:gs>
              <a:gs pos="64000">
                <a:srgbClr val="3E165F"/>
              </a:gs>
              <a:gs pos="100000">
                <a:srgbClr val="FF5E4A"/>
              </a:gs>
            </a:gsLst>
            <a:lin ang="75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ED056-2B92-43BF-B1D1-670F8295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24450"/>
            <a:ext cx="2552700" cy="17335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01A3E"/>
              </a:gs>
              <a:gs pos="62000">
                <a:srgbClr val="FF5E4A"/>
              </a:gs>
              <a:gs pos="100000">
                <a:srgbClr val="6E38D2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B8C21-7F38-4743-941F-26B0F358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"/>
            <a:ext cx="4381500" cy="4000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C7D7">
                  <a:alpha val="0"/>
                </a:srgbClr>
              </a:gs>
              <a:gs pos="64000">
                <a:srgbClr val="16C7D7">
                  <a:alpha val="24000"/>
                </a:srgbClr>
              </a:gs>
              <a:gs pos="100000">
                <a:srgbClr val="FFD447">
                  <a:alpha val="26000"/>
                </a:srgbClr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8D8E8-F94A-4B16-987B-C5EF069C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LA DECISIÓN CREATIVA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87BF2-87A7-4087-9F0C-6E86E4C8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950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4950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Volvamos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950" b="1" i="0">
                <a:solidFill>
                  <a:srgbClr val="FFF1DF"/>
                </a:solidFill>
                <a:latin typeface="New York"/>
                <a:ea typeface="New York"/>
                <a:cs typeface="New York"/>
              </a:defRPr>
            </a:pPr>
            <a:r>
              <a:rPr sz="4950" b="1" i="0">
                <a:solidFill>
                  <a:srgbClr val="FFF1DF"/>
                </a:solidFill>
                <a:latin typeface="New York"/>
                <a:ea typeface="New York"/>
                <a:cs typeface="New York"/>
              </a:rPr>
              <a:t>a hacer feria.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379A2-500D-4FAA-8A24-30CD2A38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619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1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Que la música atraiga.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1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Que la experiencia convenza.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1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FFFDFC"/>
                </a:solidFill>
                <a:latin typeface="Avenir Next"/>
                <a:ea typeface="Avenir Next"/>
                <a:cs typeface="Avenir Next"/>
              </a:rPr>
              <a:t>Que la tradición haga volver.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21612-1EB4-4B66-B5B7-ED589B83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6191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7132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DD24C-0CBC-47BD-9203-D232BF46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575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ES TRADICIÓN · CINCO DÍAS PARA VOLVER A ENCONTRARNOS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2F816-8046-400F-9EAE-126AF60C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38D2">
                <a:alpha val="5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38F41-2FEF-4BD2-9B60-C5937138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FBB61-07CD-4069-86C6-29802A22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1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036398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2026-08-25T18:04:23.0710000Z</dcterms:created>
  <dcterms:modified xsi:type="dcterms:W3CDTF">2026-08-25T18:04:23.0710000Z</dcterms:modified>
</coreProperties>
</file>