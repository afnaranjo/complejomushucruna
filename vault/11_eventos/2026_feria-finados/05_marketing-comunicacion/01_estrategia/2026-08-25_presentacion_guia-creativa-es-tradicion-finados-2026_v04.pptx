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f79dea4a604c15" /><Relationship Type="http://schemas.openxmlformats.org/officeDocument/2006/relationships/extended-properties" Target="/docProps/app.xml" Id="Re2a2d42be8574519" /><Relationship Type="http://schemas.openxmlformats.org/officeDocument/2006/relationships/officeDocument" Target="/ppt/presentation.xml" Id="Rcacc91e117654e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1f797bff64097"/>
  </p:sldMasterIdLst>
  <p:notesMasterIdLst>
    <p:notesMasterId xmlns:r="http://schemas.openxmlformats.org/officeDocument/2006/relationships" r:id="Rc932db775e8c4a2d"/>
  </p:notesMasterIdLst>
  <p:sldIdLst>
    <p:sldId xmlns:r="http://schemas.openxmlformats.org/officeDocument/2006/relationships" id="256" r:id="Rf071e4e76d5049bd"/>
    <p:sldId xmlns:r="http://schemas.openxmlformats.org/officeDocument/2006/relationships" id="257" r:id="R8374ba34e8364dc1"/>
    <p:sldId xmlns:r="http://schemas.openxmlformats.org/officeDocument/2006/relationships" id="258" r:id="R95ff2f33684742d9"/>
    <p:sldId xmlns:r="http://schemas.openxmlformats.org/officeDocument/2006/relationships" id="259" r:id="R68160e3c9e4b4df1"/>
    <p:sldId xmlns:r="http://schemas.openxmlformats.org/officeDocument/2006/relationships" id="260" r:id="R8a77eb84dd814aa0"/>
    <p:sldId xmlns:r="http://schemas.openxmlformats.org/officeDocument/2006/relationships" id="261" r:id="Re198368634634745"/>
    <p:sldId xmlns:r="http://schemas.openxmlformats.org/officeDocument/2006/relationships" id="262" r:id="R53140f7f77ae4cff"/>
    <p:sldId xmlns:r="http://schemas.openxmlformats.org/officeDocument/2006/relationships" id="263" r:id="R8978da53dc31492a"/>
    <p:sldId xmlns:r="http://schemas.openxmlformats.org/officeDocument/2006/relationships" id="264" r:id="Rae2c6a82c91b43fe"/>
    <p:sldId xmlns:r="http://schemas.openxmlformats.org/officeDocument/2006/relationships" id="265" r:id="R6e97670148154ba9"/>
    <p:sldId xmlns:r="http://schemas.openxmlformats.org/officeDocument/2006/relationships" id="266" r:id="Re677511173e94550"/>
    <p:sldId xmlns:r="http://schemas.openxmlformats.org/officeDocument/2006/relationships" id="267" r:id="R423d45ad969c4c00"/>
    <p:sldId xmlns:r="http://schemas.openxmlformats.org/officeDocument/2006/relationships" id="268" r:id="R4f78295e80444422"/>
    <p:sldId xmlns:r="http://schemas.openxmlformats.org/officeDocument/2006/relationships" id="269" r:id="R4734c8c5e91c4e04"/>
    <p:sldId xmlns:r="http://schemas.openxmlformats.org/officeDocument/2006/relationships" id="270" r:id="Re002ebcf3f2c432e"/>
    <p:sldId xmlns:r="http://schemas.openxmlformats.org/officeDocument/2006/relationships" id="271" r:id="R5e67c41619b7415f"/>
    <p:sldId xmlns:r="http://schemas.openxmlformats.org/officeDocument/2006/relationships" id="272" r:id="R0c7743dab4984cbe"/>
    <p:sldId xmlns:r="http://schemas.openxmlformats.org/officeDocument/2006/relationships" id="273" r:id="R0290318a3baa4053"/>
    <p:sldId xmlns:r="http://schemas.openxmlformats.org/officeDocument/2006/relationships" id="274" r:id="R3ecad3b3e344422a"/>
    <p:sldId xmlns:r="http://schemas.openxmlformats.org/officeDocument/2006/relationships" id="275" r:id="R1912c2baaad84a7b"/>
    <p:sldId xmlns:r="http://schemas.openxmlformats.org/officeDocument/2006/relationships" id="276" r:id="R350f32375eb9442a"/>
    <p:sldId xmlns:r="http://schemas.openxmlformats.org/officeDocument/2006/relationships" id="277" r:id="Rdb44577da6b6454a"/>
    <p:sldId xmlns:r="http://schemas.openxmlformats.org/officeDocument/2006/relationships" id="278" r:id="Rc0496f605b5b4b6a"/>
    <p:sldId xmlns:r="http://schemas.openxmlformats.org/officeDocument/2006/relationships" id="279" r:id="Rf263d96674bc4e03"/>
    <p:sldId xmlns:r="http://schemas.openxmlformats.org/officeDocument/2006/relationships" id="280" r:id="R6a1195afa9d845aa"/>
    <p:sldId xmlns:r="http://schemas.openxmlformats.org/officeDocument/2006/relationships" id="281" r:id="Ra74165b1d8a143a1"/>
    <p:sldId xmlns:r="http://schemas.openxmlformats.org/officeDocument/2006/relationships" id="282" r:id="R66f608f2bb9a43b2"/>
    <p:sldId xmlns:r="http://schemas.openxmlformats.org/officeDocument/2006/relationships" id="283" r:id="R3b38d1e63dda4d10"/>
    <p:sldId xmlns:r="http://schemas.openxmlformats.org/officeDocument/2006/relationships" id="284" r:id="Rb89e7567ad014eec"/>
    <p:sldId xmlns:r="http://schemas.openxmlformats.org/officeDocument/2006/relationships" id="285" r:id="Rd38c2d1e5389418f"/>
    <p:sldId xmlns:r="http://schemas.openxmlformats.org/officeDocument/2006/relationships" id="286" r:id="R5d32f1076b3745b8"/>
    <p:sldId xmlns:r="http://schemas.openxmlformats.org/officeDocument/2006/relationships" id="287" r:id="R5750ee2e57414ca4"/>
    <p:sldId xmlns:r="http://schemas.openxmlformats.org/officeDocument/2006/relationships" id="288" r:id="Rfe17d08b210f406f"/>
    <p:sldId xmlns:r="http://schemas.openxmlformats.org/officeDocument/2006/relationships" id="289" r:id="Ra2312e2766ae41eb"/>
    <p:sldId xmlns:r="http://schemas.openxmlformats.org/officeDocument/2006/relationships" id="290" r:id="R69327294ebd3402d"/>
    <p:sldId xmlns:r="http://schemas.openxmlformats.org/officeDocument/2006/relationships" id="291" r:id="R7d6202d0080b4ce7"/>
    <p:sldId xmlns:r="http://schemas.openxmlformats.org/officeDocument/2006/relationships" id="292" r:id="R681a90e36f3142c4"/>
    <p:sldId xmlns:r="http://schemas.openxmlformats.org/officeDocument/2006/relationships" id="293" r:id="R0e61a8f38b494ff3"/>
    <p:sldId xmlns:r="http://schemas.openxmlformats.org/officeDocument/2006/relationships" id="294" r:id="R5b218ce2a27b49ff"/>
    <p:sldId xmlns:r="http://schemas.openxmlformats.org/officeDocument/2006/relationships" id="295" r:id="R59d99d9d576e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de039d0f564700" /><Relationship Type="http://schemas.openxmlformats.org/officeDocument/2006/relationships/slideMaster" Target="/ppt/slideMasters/slideMaster1.xml" Id="Reb01f797bff64097" /><Relationship Type="http://schemas.openxmlformats.org/officeDocument/2006/relationships/notesMaster" Target="/ppt/notesMasters/notesMaster1.xml" Id="Rc932db775e8c4a2d" /><Relationship Type="http://schemas.openxmlformats.org/officeDocument/2006/relationships/presProps" Target="/ppt/presProps.xml" Id="Re843d63a3af54871" /><Relationship Type="http://schemas.openxmlformats.org/officeDocument/2006/relationships/tableStyles" Target="/ppt/tableStyles.xml" Id="Rf5139634a9f84328" /><Relationship Type="http://schemas.openxmlformats.org/officeDocument/2006/relationships/slide" Target="/ppt/slides/slide1.xml" Id="Rf071e4e76d5049bd" /><Relationship Type="http://schemas.openxmlformats.org/officeDocument/2006/relationships/slide" Target="/ppt/slides/slide2.xml" Id="R8374ba34e8364dc1" /><Relationship Type="http://schemas.openxmlformats.org/officeDocument/2006/relationships/slide" Target="/ppt/slides/slide3.xml" Id="R95ff2f33684742d9" /><Relationship Type="http://schemas.openxmlformats.org/officeDocument/2006/relationships/slide" Target="/ppt/slides/slide4.xml" Id="R68160e3c9e4b4df1" /><Relationship Type="http://schemas.openxmlformats.org/officeDocument/2006/relationships/slide" Target="/ppt/slides/slide5.xml" Id="R8a77eb84dd814aa0" /><Relationship Type="http://schemas.openxmlformats.org/officeDocument/2006/relationships/slide" Target="/ppt/slides/slide6.xml" Id="Re198368634634745" /><Relationship Type="http://schemas.openxmlformats.org/officeDocument/2006/relationships/slide" Target="/ppt/slides/slide7.xml" Id="R53140f7f77ae4cff" /><Relationship Type="http://schemas.openxmlformats.org/officeDocument/2006/relationships/slide" Target="/ppt/slides/slide8.xml" Id="R8978da53dc31492a" /><Relationship Type="http://schemas.openxmlformats.org/officeDocument/2006/relationships/slide" Target="/ppt/slides/slide9.xml" Id="Rae2c6a82c91b43fe" /><Relationship Type="http://schemas.openxmlformats.org/officeDocument/2006/relationships/slide" Target="/ppt/slides/slide10.xml" Id="R6e97670148154ba9" /><Relationship Type="http://schemas.openxmlformats.org/officeDocument/2006/relationships/slide" Target="/ppt/slides/slide11.xml" Id="Re677511173e94550" /><Relationship Type="http://schemas.openxmlformats.org/officeDocument/2006/relationships/slide" Target="/ppt/slides/slide12.xml" Id="R423d45ad969c4c00" /><Relationship Type="http://schemas.openxmlformats.org/officeDocument/2006/relationships/slide" Target="/ppt/slides/slide13.xml" Id="R4f78295e80444422" /><Relationship Type="http://schemas.openxmlformats.org/officeDocument/2006/relationships/slide" Target="/ppt/slides/slide14.xml" Id="R4734c8c5e91c4e04" /><Relationship Type="http://schemas.openxmlformats.org/officeDocument/2006/relationships/slide" Target="/ppt/slides/slide15.xml" Id="Re002ebcf3f2c432e" /><Relationship Type="http://schemas.openxmlformats.org/officeDocument/2006/relationships/slide" Target="/ppt/slides/slide16.xml" Id="R5e67c41619b7415f" /><Relationship Type="http://schemas.openxmlformats.org/officeDocument/2006/relationships/slide" Target="/ppt/slides/slide17.xml" Id="R0c7743dab4984cbe" /><Relationship Type="http://schemas.openxmlformats.org/officeDocument/2006/relationships/slide" Target="/ppt/slides/slide18.xml" Id="R0290318a3baa4053" /><Relationship Type="http://schemas.openxmlformats.org/officeDocument/2006/relationships/slide" Target="/ppt/slides/slide19.xml" Id="R3ecad3b3e344422a" /><Relationship Type="http://schemas.openxmlformats.org/officeDocument/2006/relationships/slide" Target="/ppt/slides/slide20.xml" Id="R1912c2baaad84a7b" /><Relationship Type="http://schemas.openxmlformats.org/officeDocument/2006/relationships/slide" Target="/ppt/slides/slide21.xml" Id="R350f32375eb9442a" /><Relationship Type="http://schemas.openxmlformats.org/officeDocument/2006/relationships/slide" Target="/ppt/slides/slide22.xml" Id="Rdb44577da6b6454a" /><Relationship Type="http://schemas.openxmlformats.org/officeDocument/2006/relationships/slide" Target="/ppt/slides/slide23.xml" Id="Rc0496f605b5b4b6a" /><Relationship Type="http://schemas.openxmlformats.org/officeDocument/2006/relationships/slide" Target="/ppt/slides/slide24.xml" Id="Rf263d96674bc4e03" /><Relationship Type="http://schemas.openxmlformats.org/officeDocument/2006/relationships/slide" Target="/ppt/slides/slide25.xml" Id="R6a1195afa9d845aa" /><Relationship Type="http://schemas.openxmlformats.org/officeDocument/2006/relationships/slide" Target="/ppt/slides/slide26.xml" Id="Ra74165b1d8a143a1" /><Relationship Type="http://schemas.openxmlformats.org/officeDocument/2006/relationships/slide" Target="/ppt/slides/slide27.xml" Id="R66f608f2bb9a43b2" /><Relationship Type="http://schemas.openxmlformats.org/officeDocument/2006/relationships/slide" Target="/ppt/slides/slide28.xml" Id="R3b38d1e63dda4d10" /><Relationship Type="http://schemas.openxmlformats.org/officeDocument/2006/relationships/slide" Target="/ppt/slides/slide29.xml" Id="Rb89e7567ad014eec" /><Relationship Type="http://schemas.openxmlformats.org/officeDocument/2006/relationships/slide" Target="/ppt/slides/slide30.xml" Id="Rd38c2d1e5389418f" /><Relationship Type="http://schemas.openxmlformats.org/officeDocument/2006/relationships/slide" Target="/ppt/slides/slide31.xml" Id="R5d32f1076b3745b8" /><Relationship Type="http://schemas.openxmlformats.org/officeDocument/2006/relationships/slide" Target="/ppt/slides/slide32.xml" Id="R5750ee2e57414ca4" /><Relationship Type="http://schemas.openxmlformats.org/officeDocument/2006/relationships/slide" Target="/ppt/slides/slide33.xml" Id="Rfe17d08b210f406f" /><Relationship Type="http://schemas.openxmlformats.org/officeDocument/2006/relationships/slide" Target="/ppt/slides/slide34.xml" Id="Ra2312e2766ae41eb" /><Relationship Type="http://schemas.openxmlformats.org/officeDocument/2006/relationships/slide" Target="/ppt/slides/slide35.xml" Id="R69327294ebd3402d" /><Relationship Type="http://schemas.openxmlformats.org/officeDocument/2006/relationships/slide" Target="/ppt/slides/slide36.xml" Id="R7d6202d0080b4ce7" /><Relationship Type="http://schemas.openxmlformats.org/officeDocument/2006/relationships/slide" Target="/ppt/slides/slide37.xml" Id="R681a90e36f3142c4" /><Relationship Type="http://schemas.openxmlformats.org/officeDocument/2006/relationships/slide" Target="/ppt/slides/slide38.xml" Id="R0e61a8f38b494ff3" /><Relationship Type="http://schemas.openxmlformats.org/officeDocument/2006/relationships/slide" Target="/ppt/slides/slide39.xml" Id="R5b218ce2a27b49ff" /><Relationship Type="http://schemas.openxmlformats.org/officeDocument/2006/relationships/slide" Target="/ppt/slides/slide40.xml" Id="R59d99d9d576e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f1838ecdc34d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8d605ed174532" /><Relationship Type="http://schemas.openxmlformats.org/officeDocument/2006/relationships/notesMaster" Target="/ppt/notesMasters/notesMaster1.xml" Id="Rf8f6cc888497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35a67f9aa4e18" /><Relationship Type="http://schemas.openxmlformats.org/officeDocument/2006/relationships/notesMaster" Target="/ppt/notesMasters/notesMaster1.xml" Id="R06ba59084fbb42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e96088118421c" /><Relationship Type="http://schemas.openxmlformats.org/officeDocument/2006/relationships/notesMaster" Target="/ppt/notesMasters/notesMaster1.xml" Id="R9abaeb8252ba48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5bdc28e5d3480c" /><Relationship Type="http://schemas.openxmlformats.org/officeDocument/2006/relationships/notesMaster" Target="/ppt/notesMasters/notesMaster1.xml" Id="Rfd41bc4a783b4f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4b16bc91634100" /><Relationship Type="http://schemas.openxmlformats.org/officeDocument/2006/relationships/notesMaster" Target="/ppt/notesMasters/notesMaster1.xml" Id="R6e2a34b1ffc4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14b7d6d09047a4" /><Relationship Type="http://schemas.openxmlformats.org/officeDocument/2006/relationships/notesMaster" Target="/ppt/notesMasters/notesMaster1.xml" Id="R8214da709c8a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a6694c71e54afc" /><Relationship Type="http://schemas.openxmlformats.org/officeDocument/2006/relationships/notesMaster" Target="/ppt/notesMasters/notesMaster1.xml" Id="Raa8cd361df0341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1f03c2b024a7f" /><Relationship Type="http://schemas.openxmlformats.org/officeDocument/2006/relationships/notesMaster" Target="/ppt/notesMasters/notesMaster1.xml" Id="R59de045319ab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179e919c848fb" /><Relationship Type="http://schemas.openxmlformats.org/officeDocument/2006/relationships/notesMaster" Target="/ppt/notesMasters/notesMaster1.xml" Id="R83e2e55980b444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8ecc2a7f8e4101" /><Relationship Type="http://schemas.openxmlformats.org/officeDocument/2006/relationships/notesMaster" Target="/ppt/notesMasters/notesMaster1.xml" Id="R6534b1ed65d649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0c8b2893d4ad9" /><Relationship Type="http://schemas.openxmlformats.org/officeDocument/2006/relationships/notesMaster" Target="/ppt/notesMasters/notesMaster1.xml" Id="R13e80dad1c364c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b76f13b18b47b3" /><Relationship Type="http://schemas.openxmlformats.org/officeDocument/2006/relationships/notesMaster" Target="/ppt/notesMasters/notesMaster1.xml" Id="Re7169b0f9a864b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b2afca6e764495" /><Relationship Type="http://schemas.openxmlformats.org/officeDocument/2006/relationships/notesMaster" Target="/ppt/notesMasters/notesMaster1.xml" Id="R293f8875e40e4d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8ae5130eca450b" /><Relationship Type="http://schemas.openxmlformats.org/officeDocument/2006/relationships/notesMaster" Target="/ppt/notesMasters/notesMaster1.xml" Id="R9c5ac1e53a2844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ff0b7742734f3b" /><Relationship Type="http://schemas.openxmlformats.org/officeDocument/2006/relationships/notesMaster" Target="/ppt/notesMasters/notesMaster1.xml" Id="R5979a66467a34a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a64f68d47641e7" /><Relationship Type="http://schemas.openxmlformats.org/officeDocument/2006/relationships/notesMaster" Target="/ppt/notesMasters/notesMaster1.xml" Id="R9c7b734ea0bf43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ad7d5a09f646e6" /><Relationship Type="http://schemas.openxmlformats.org/officeDocument/2006/relationships/notesMaster" Target="/ppt/notesMasters/notesMaster1.xml" Id="Rf75cfb368e5443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063cece6a543c1" /><Relationship Type="http://schemas.openxmlformats.org/officeDocument/2006/relationships/notesMaster" Target="/ppt/notesMasters/notesMaster1.xml" Id="Rad579c5bccb344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ce73d14c4c4ddb" /><Relationship Type="http://schemas.openxmlformats.org/officeDocument/2006/relationships/notesMaster" Target="/ppt/notesMasters/notesMaster1.xml" Id="R4ee9eabaf2744d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e2153638484d7d" /><Relationship Type="http://schemas.openxmlformats.org/officeDocument/2006/relationships/notesMaster" Target="/ppt/notesMasters/notesMaster1.xml" Id="R9a4362bf469d49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1ade19374745c2" /><Relationship Type="http://schemas.openxmlformats.org/officeDocument/2006/relationships/notesMaster" Target="/ppt/notesMasters/notesMaster1.xml" Id="Rbfc9ae36f00240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174f741dfb45dd" /><Relationship Type="http://schemas.openxmlformats.org/officeDocument/2006/relationships/notesMaster" Target="/ppt/notesMasters/notesMaster1.xml" Id="R8cb90c1b210042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1dcbb53124403b" /><Relationship Type="http://schemas.openxmlformats.org/officeDocument/2006/relationships/notesMaster" Target="/ppt/notesMasters/notesMaster1.xml" Id="R47700c3f97f544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678f8e77b64de9" /><Relationship Type="http://schemas.openxmlformats.org/officeDocument/2006/relationships/notesMaster" Target="/ppt/notesMasters/notesMaster1.xml" Id="R3859f91f115943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966ebee00b4e98" /><Relationship Type="http://schemas.openxmlformats.org/officeDocument/2006/relationships/notesMaster" Target="/ppt/notesMasters/notesMaster1.xml" Id="Rd398d234a0064a9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0d8ec616ba4c9c" /><Relationship Type="http://schemas.openxmlformats.org/officeDocument/2006/relationships/notesMaster" Target="/ppt/notesMasters/notesMaster1.xml" Id="R6e4518c5362045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a5a9512e244d5b" /><Relationship Type="http://schemas.openxmlformats.org/officeDocument/2006/relationships/notesMaster" Target="/ppt/notesMasters/notesMaster1.xml" Id="Rbe95c494172e4b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2b24f7fda5845f9" /><Relationship Type="http://schemas.openxmlformats.org/officeDocument/2006/relationships/notesMaster" Target="/ppt/notesMasters/notesMaster1.xml" Id="R7304ab4858db492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f041ded3034174" /><Relationship Type="http://schemas.openxmlformats.org/officeDocument/2006/relationships/notesMaster" Target="/ppt/notesMasters/notesMaster1.xml" Id="R31945ebc81724ac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f6d17abee948fe" /><Relationship Type="http://schemas.openxmlformats.org/officeDocument/2006/relationships/notesMaster" Target="/ppt/notesMasters/notesMaster1.xml" Id="Rcf6d218f526443c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80aa8322c9426e" /><Relationship Type="http://schemas.openxmlformats.org/officeDocument/2006/relationships/notesMaster" Target="/ppt/notesMasters/notesMaster1.xml" Id="R9fb2b6daa361497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b5b6dae54244e0" /><Relationship Type="http://schemas.openxmlformats.org/officeDocument/2006/relationships/notesMaster" Target="/ppt/notesMasters/notesMaster1.xml" Id="R1eaa764a603a4b6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235164b3734587" /><Relationship Type="http://schemas.openxmlformats.org/officeDocument/2006/relationships/notesMaster" Target="/ppt/notesMasters/notesMaster1.xml" Id="Rd583342dd32d479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c61add7fed84d6b" /><Relationship Type="http://schemas.openxmlformats.org/officeDocument/2006/relationships/notesMaster" Target="/ppt/notesMasters/notesMaster1.xml" Id="R9c68494f262649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e80d393cf794d7a" /><Relationship Type="http://schemas.openxmlformats.org/officeDocument/2006/relationships/notesMaster" Target="/ppt/notesMasters/notesMaster1.xml" Id="Rac5b35bd5a4041f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efba3e0c344564" /><Relationship Type="http://schemas.openxmlformats.org/officeDocument/2006/relationships/notesMaster" Target="/ppt/notesMasters/notesMaster1.xml" Id="Rb4c0abcad73344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e7d20facc14350" /><Relationship Type="http://schemas.openxmlformats.org/officeDocument/2006/relationships/notesMaster" Target="/ppt/notesMasters/notesMaster1.xml" Id="R869bb0e1ed984c6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ac515dc000d4381" /><Relationship Type="http://schemas.openxmlformats.org/officeDocument/2006/relationships/notesMaster" Target="/ppt/notesMasters/notesMaster1.xml" Id="R03e0c1ccfdb54f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d9f08c867640e5" /><Relationship Type="http://schemas.openxmlformats.org/officeDocument/2006/relationships/notesMaster" Target="/ppt/notesMasters/notesMaster1.xml" Id="R4a4d0491ba6249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cb44911a47843e9" /><Relationship Type="http://schemas.openxmlformats.org/officeDocument/2006/relationships/notesMaster" Target="/ppt/notesMasters/notesMaster1.xml" Id="R9f614f87afd2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central: la feria debe volver a sentirse propia antes de sentirse grande.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frase organiza todo el trabajo: identidad primero, experiencia después y programación como acelerador.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vault/_memoria-del-proyecto.md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estas cifras como evidencia de dirección creativa, no como juicio al equipo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vault/11_eventos/2026_feria-finados/05_marketing-comunicacion/01_estrategia/auditoria-meta-2021-2026-y-estrategia-digital-finados.md</a:t>
            </a:r>
          </a:p>
          <a:p xmlns:a="http://schemas.openxmlformats.org/drawingml/2006/main">
            <a:r>
              <a:t>- Datos procesados de auditoría Meta, consulta 2026-08-24.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plataforma debe producir una transición visible: de promoción de agenda a construcción de pertenencia.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Aprobar esta jerarquía antes de diseñar piezas para evitar múltiples lemas.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melancolía pedida por Alex se traduce en nostalgia luminosa: cálida, humana y con impulso de encuentro.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curva para evaluar cada pieza: debe tener una función emocional y una acción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comunicación debe combinar pertenencia y utilidad; una sin la otra no resuelve la decisión familiar.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nombres son capítulos de experiencia, no necesariamente nombres públicos finales de cada jornada.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con claridad el sonido de memoria del sonido de espectáculo. Nunca usar una canción festiva sobre un testimonio íntimo.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Paleta propuesta para desarrollar y aprobar. La referencia entregada por Alex se usa solo para energía cromática; no se copian logos, artistas, precios, fechas ni estructura del afiche.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a partir del archivo visual Finados 2025.</a:t>
            </a:r>
          </a:p>
          <a:p xmlns:a="http://schemas.openxmlformats.org/drawingml/2006/main">
            <a:r>
              <a:t>- Afiche histórico compartido por Alex Naranjo el 2026-08-25; referencia cromática interna únicamente.</a:t>
            </a:r>
          </a:p>
          <a:p xmlns:a="http://schemas.openxmlformats.org/drawingml/2006/main">
            <a:r>
              <a:t>- vault/03_marca/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recomendación es un contraste editorial/sans. La familia final debe validarse con el manual y las licencias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vault/03_marca/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autenticidad de la fotografía es una ventaja competitiva. Definir permisos de imagen y fichas de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vault/05_audiencias-investigacion/02_reputacion-fortalezas-y-voz-positiva/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imágenes de la galería pública se usan aquí como referencia interna de tratamiento, no como autorización automática de pauta.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hilo es un recurso propuesto; debe mantenerse sobrio para no convertirse en ornamento vacío.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Dirección creativa propuesta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pieza debe diseñarse primero para 9:16 y luego adaptarse. Todos los diálogos deben llevar subtítulos.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recomendada 45–60 segundos; cortes de 20, 10 y 6 segundos. Sin artistas en la primera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concepto requiere grabación adicional de expositores, demostraciones y visitantes, con consentimiento.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Archivo Finados 2025 compartido por Alex Naranjo; derechos para pauta por confirmar.</a:t>
            </a:r>
          </a:p>
          <a:p xmlns:a="http://schemas.openxmlformats.org/drawingml/2006/main">
            <a:r>
              <a:t>- vault/11_eventos/2026_feria-finados/01_concepto-experiencia/rutas-es-tradicion-y-comercio-finados-2026.md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repertorio sin licencias. La música debe producirse, licenciarse o venir de material autorizado.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calendario semanal debe contener al menos tres pilares. La información de servicio aumenta al acercarse la feria.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matriz reduce retrabajo y protege consistencia. Toda pieza clave debe funcionar sin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vault/11_eventos/2026_feria-finados/05_marketing-comunicacion/01_estrategia/sistema-contenidos-finados-2026.md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fechas de feria y los hitos de venta son de planificación. No se publican hasta pasar los gates correspondientes.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expectativa si el concepto, responsables y permisos mínimos no están cerrados.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vault/11_eventos/2026_feria-finados/00_direccion-control/hitos-y-cronograma.md</a:t>
            </a:r>
          </a:p>
          <a:p xmlns:a="http://schemas.openxmlformats.org/drawingml/2006/main">
            <a:r>
              <a:t>- vault/11_eventos/2026_feria-finados/05_marketing-comunicacion/01_estrategia/calendario-expectativa-y-revelacion-finados-2026.md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primer video no lleva cartel nominal ni promesas operativas no validadas.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“más likes gana”. La convocatoria debe proteger integridad, producción y seguridad.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vault/11_eventos/2026_feria-finados/05_marketing-comunicacion/01_estrategia/estrategia-competitiva-preventa-y-participacion-finados-2026.md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preventa solo inicia cuando la oferta es cierta y el recorrido de compra está probado de extremo a extremo.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vault/11_eventos/2026_feria-finados/05_marketing-comunicacion/01_estrategia/plan-revelacion-confidencial-cartel-finados-2026.md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reconocimiento propuesto por Alex debe basarse en registros o evidencia verificable, no en una afirmación imposible de comprobar.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Propuesta nueva registrada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guía puede anunciarse como “próximamente” solo cuando existe un alcance aprobado y un responsable técnico.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retargeting debe variar el argumento: emoción, utilidad, prueba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publicar cifras de parqueaderos, aforo ni tiempos de acceso sin validación operativa.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</a:t>
            </a:r>
          </a:p>
          <a:p xmlns:a="http://schemas.openxmlformats.org/drawingml/2006/main">
            <a:r>
              <a:t>- vault/11_eventos/2026_feria-finados/08_produccion-logistica/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MVP no requiere backend, cuentas ni transacciones. La ampliación de estacionamientos solo se publica cuando operación confirme ubicación, capacidad, accesos y estado. La IA se usa internamente para preparación y QA, no como chatbot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Nunca usar “sold out”, contadores o porcentajes falsos. La recuperación de confianza vale más que un pico de conversión.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vault/14_riesgos-contingencias/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ventana de fechas es un supuesto interno. Ajustar la secuencia si cambia el calendario ratificado.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vault/11_eventos/2026_feria-finados/01_concepto-experiencia/experiencia-200k-finados-2026.md</a:t>
            </a:r>
          </a:p>
          <a:p xmlns:a="http://schemas.openxmlformats.org/drawingml/2006/main">
            <a:r>
              <a:t>- Supuesto de planificación entregado por Alex Naranjo.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Priorizar planos de público con consentimiento y zonas de grabación señalizadas cuando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interfaz mostrada es un wireframe conceptual, no un diseño aprobado ni una app desarrollada. El mapa debe diferenciar parqueaderos nuevos, accesos vehiculares, rutas peatonales y puntos de ayuda una vez validados.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vault/11_eventos/2026_feria-finados/10_tecnologia-datos/guia-movil-informativa-finados-2026.md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de hitos es una propuesta. Los porcentajes solo pueden publicarse si ventas, finanzas y marketing concilian el mismo inventario.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vault/11_eventos/2026_feria-finados/07_entradas-accesos/arquitectura-preventa-y-retorno-finados-2026.md</a:t>
            </a:r>
          </a:p>
          <a:p xmlns:a="http://schemas.openxmlformats.org/drawingml/2006/main">
            <a:r>
              <a:t>- Principio de confianza documentado en vault/05_audiencias-investigacion/01_reputacion-riesgos-y-voz-publica/.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asignar nombres hasta ratificar vigencia y disponibilidad. El RACI funcional precede al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vault/02_equipo/organigrama-marketing-feria-finados-2025.md</a:t>
            </a:r>
          </a:p>
          <a:p xmlns:a="http://schemas.openxmlformats.org/drawingml/2006/main">
            <a:r>
              <a:t>- vault/11_eventos/2026_feria-finados/05_marketing-comunicacion/00_gestion/responsables-y-raci-finados-2026.md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día exacto de publicación puede variar; lo importante es mantener el ciclo de brief, producción, QA, salida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vault/11_eventos/2026_feria-finados/05_marketing-comunicacion/01_estrategia/plan-operativo-digital-finados-2026.md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checklist debe convertirse en campo obligatorio del tablero de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vault/00_gobernanza/criterios-calidad.md</a:t>
            </a:r>
          </a:p>
          <a:p xmlns:a="http://schemas.openxmlformats.org/drawingml/2006/main">
            <a:r>
              <a:t>- vault/11_eventos/2026_feria-finados/14_riesgos-contingencias/registro-riesgos-finados-2026.md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tres decisiones: aprobación de la plataforma, aprobación del sistema visual y validación del calendario/gates.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[Estado] Documento interno · propuesta en revisión · no autoriza publicación.</a:t>
            </a:r>
          </a:p>
          <a:p xmlns:a="http://schemas.openxmlformats.org/drawingml/2006/main">
            <a:r>
              <a:t>[Fuentes]</a:t>
            </a:r>
          </a:p>
          <a:p xmlns:a="http://schemas.openxmlformats.org/drawingml/2006/main">
            <a:r>
              <a:t>- https://www.facebook.com/FinadosMushucRunaEc/photos — consulta 2026-08-25.</a:t>
            </a:r>
          </a:p>
          <a:p xmlns:a="http://schemas.openxmlformats.org/drawingml/2006/main">
            <a:r>
              <a:t>- vault/11_eventos/2026_feria-finados/01_concepto-experiencia/plataforma-emocional-es-tradicion-finados-2026.md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f35573090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635cc6b4124252" /><Relationship Type="http://schemas.openxmlformats.org/officeDocument/2006/relationships/slideLayout" Target="/ppt/slideLayouts/slideLayout1.xml" Id="R931c3e7be8b749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c3e7be8b749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bafd1555d444e" /><Relationship Type="http://schemas.openxmlformats.org/officeDocument/2006/relationships/image" Target="/ppt/media/image.png" Id="Rc67a1addfda442a8" /><Relationship Type="http://schemas.openxmlformats.org/officeDocument/2006/relationships/notesSlide" Target="/ppt/notesSlides/notesSlide1.xml" Id="Rcb09c6421d3b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c7033500f4daf" /><Relationship Type="http://schemas.openxmlformats.org/officeDocument/2006/relationships/notesSlide" Target="/ppt/notesSlides/notesSlide2.xml" Id="Rbd60ccf17b1f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748cf06f844c4" /><Relationship Type="http://schemas.openxmlformats.org/officeDocument/2006/relationships/notesSlide" Target="/ppt/notesSlides/notesSlide3.xml" Id="Rcbdaa4c5f54347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b3ee34e494d59" /><Relationship Type="http://schemas.openxmlformats.org/officeDocument/2006/relationships/notesSlide" Target="/ppt/notesSlides/notesSlide4.xml" Id="R056ded0424a1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c85f003084951" /><Relationship Type="http://schemas.openxmlformats.org/officeDocument/2006/relationships/notesSlide" Target="/ppt/notesSlides/notesSlide5.xml" Id="Rf6eafbcc324d49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3144313e4c3d" /><Relationship Type="http://schemas.openxmlformats.org/officeDocument/2006/relationships/image" Target="/ppt/media/image2.png" Id="Rfac3f2477ab04deb" /><Relationship Type="http://schemas.openxmlformats.org/officeDocument/2006/relationships/notesSlide" Target="/ppt/notesSlides/notesSlide6.xml" Id="R03f6e423246549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0c6fb41824d63" /><Relationship Type="http://schemas.openxmlformats.org/officeDocument/2006/relationships/notesSlide" Target="/ppt/notesSlides/notesSlide7.xml" Id="R3001e3f209bf44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ce3fac1234938" /><Relationship Type="http://schemas.openxmlformats.org/officeDocument/2006/relationships/image" Target="/ppt/media/image3.png" Id="R22595254de634662" /><Relationship Type="http://schemas.openxmlformats.org/officeDocument/2006/relationships/notesSlide" Target="/ppt/notesSlides/notesSlide8.xml" Id="R656fab5277174e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9155cbc7146f0" /><Relationship Type="http://schemas.openxmlformats.org/officeDocument/2006/relationships/notesSlide" Target="/ppt/notesSlides/notesSlide9.xml" Id="Rd0878d3b8f6644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e202869b94e11" /><Relationship Type="http://schemas.openxmlformats.org/officeDocument/2006/relationships/image" Target="/ppt/media/image4.png" Id="Rabd1a15eced84ab8" /><Relationship Type="http://schemas.openxmlformats.org/officeDocument/2006/relationships/notesSlide" Target="/ppt/notesSlides/notesSlide10.xml" Id="R31f815b9a20544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b55f0954742fc" /><Relationship Type="http://schemas.openxmlformats.org/officeDocument/2006/relationships/notesSlide" Target="/ppt/notesSlides/notesSlide11.xml" Id="R243007a6c53e4c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4ca5bc2344078" /><Relationship Type="http://schemas.openxmlformats.org/officeDocument/2006/relationships/notesSlide" Target="/ppt/notesSlides/notesSlide12.xml" Id="Redaff82510b04e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23cc52d044087" /><Relationship Type="http://schemas.openxmlformats.org/officeDocument/2006/relationships/image" Target="/ppt/media/image5.png" Id="R548f98149c6e4b1f" /><Relationship Type="http://schemas.openxmlformats.org/officeDocument/2006/relationships/notesSlide" Target="/ppt/notesSlides/notesSlide13.xml" Id="R77b135ed05d641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1c420128b427a" /><Relationship Type="http://schemas.openxmlformats.org/officeDocument/2006/relationships/image" Target="/ppt/media/image.jpeg" Id="R77b12bb8ea1149a0" /><Relationship Type="http://schemas.openxmlformats.org/officeDocument/2006/relationships/image" Target="/ppt/media/image2.jpeg" Id="R45db6c2f0a93489b" /><Relationship Type="http://schemas.openxmlformats.org/officeDocument/2006/relationships/image" Target="/ppt/media/image3.jpeg" Id="Rc621660926fb45f2" /><Relationship Type="http://schemas.openxmlformats.org/officeDocument/2006/relationships/notesSlide" Target="/ppt/notesSlides/notesSlide14.xml" Id="Rbbfd3c66dafb4f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60398754405c" /><Relationship Type="http://schemas.openxmlformats.org/officeDocument/2006/relationships/notesSlide" Target="/ppt/notesSlides/notesSlide15.xml" Id="Red41770f5e5240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ce59257054492" /><Relationship Type="http://schemas.openxmlformats.org/officeDocument/2006/relationships/notesSlide" Target="/ppt/notesSlides/notesSlide16.xml" Id="R7d802e72526647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cd1c283594244" /><Relationship Type="http://schemas.openxmlformats.org/officeDocument/2006/relationships/image" Target="/ppt/media/image4.jpeg" Id="Rfdbe6609c46041a2" /><Relationship Type="http://schemas.openxmlformats.org/officeDocument/2006/relationships/image" Target="/ppt/media/image5.jpeg" Id="R80fa804bd2b44827" /><Relationship Type="http://schemas.openxmlformats.org/officeDocument/2006/relationships/image" Target="/ppt/media/image6.jpeg" Id="R2310c63e85b24c44" /><Relationship Type="http://schemas.openxmlformats.org/officeDocument/2006/relationships/image" Target="/ppt/media/image7.jpeg" Id="R98776df77b4249ce" /><Relationship Type="http://schemas.openxmlformats.org/officeDocument/2006/relationships/notesSlide" Target="/ppt/notesSlides/notesSlide17.xml" Id="R3dd8b0a3d2c248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3ab15bb5e42d9" /><Relationship Type="http://schemas.openxmlformats.org/officeDocument/2006/relationships/image" Target="/ppt/media/image6.png" Id="R5270cc2db33e4714" /><Relationship Type="http://schemas.openxmlformats.org/officeDocument/2006/relationships/notesSlide" Target="/ppt/notesSlides/notesSlide18.xml" Id="R1c7236d4ddc242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10567ecd64f1e" /><Relationship Type="http://schemas.openxmlformats.org/officeDocument/2006/relationships/image" Target="/ppt/media/image8.jpeg" Id="Re6b30aca5b94448c" /><Relationship Type="http://schemas.openxmlformats.org/officeDocument/2006/relationships/notesSlide" Target="/ppt/notesSlides/notesSlide19.xml" Id="R74096df062e840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9f6661f374be1" /><Relationship Type="http://schemas.openxmlformats.org/officeDocument/2006/relationships/notesSlide" Target="/ppt/notesSlides/notesSlide20.xml" Id="R6a6ef77c2e044a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81b7fa9624742" /><Relationship Type="http://schemas.openxmlformats.org/officeDocument/2006/relationships/notesSlide" Target="/ppt/notesSlides/notesSlide21.xml" Id="R4fd118dc2aa247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e0ef5869342e1" /><Relationship Type="http://schemas.openxmlformats.org/officeDocument/2006/relationships/notesSlide" Target="/ppt/notesSlides/notesSlide22.xml" Id="R0635e8b596e74e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62d47dcff4c8d" /><Relationship Type="http://schemas.openxmlformats.org/officeDocument/2006/relationships/notesSlide" Target="/ppt/notesSlides/notesSlide23.xml" Id="R0d7b20aee8cc4f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ab70115164652" /><Relationship Type="http://schemas.openxmlformats.org/officeDocument/2006/relationships/notesSlide" Target="/ppt/notesSlides/notesSlide24.xml" Id="R2594bcdf36a140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9d2504a834eae" /><Relationship Type="http://schemas.openxmlformats.org/officeDocument/2006/relationships/notesSlide" Target="/ppt/notesSlides/notesSlide25.xml" Id="Rdc995c36b2964c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7f612c8a54bc0" /><Relationship Type="http://schemas.openxmlformats.org/officeDocument/2006/relationships/notesSlide" Target="/ppt/notesSlides/notesSlide26.xml" Id="R4f21974104e149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1c58c72a94b50" /><Relationship Type="http://schemas.openxmlformats.org/officeDocument/2006/relationships/notesSlide" Target="/ppt/notesSlides/notesSlide27.xml" Id="R21af2efd83b045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40aebed5347e6" /><Relationship Type="http://schemas.openxmlformats.org/officeDocument/2006/relationships/notesSlide" Target="/ppt/notesSlides/notesSlide28.xml" Id="R08f7dad0f52346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ca0ee0c4540dd" /><Relationship Type="http://schemas.openxmlformats.org/officeDocument/2006/relationships/notesSlide" Target="/ppt/notesSlides/notesSlide29.xml" Id="Ra6d5903b7907473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b62c723c741c3" /><Relationship Type="http://schemas.openxmlformats.org/officeDocument/2006/relationships/notesSlide" Target="/ppt/notesSlides/notesSlide30.xml" Id="R2a1fbddccb624e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b9bf072a24f9b" /><Relationship Type="http://schemas.openxmlformats.org/officeDocument/2006/relationships/notesSlide" Target="/ppt/notesSlides/notesSlide31.xml" Id="R73848f56ff6f40d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0bcaf256149e2" /><Relationship Type="http://schemas.openxmlformats.org/officeDocument/2006/relationships/notesSlide" Target="/ppt/notesSlides/notesSlide32.xml" Id="R3a4316999a654e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f74551387452f" /><Relationship Type="http://schemas.openxmlformats.org/officeDocument/2006/relationships/notesSlide" Target="/ppt/notesSlides/notesSlide33.xml" Id="R855dfb6085a9475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32b7609404da5" /><Relationship Type="http://schemas.openxmlformats.org/officeDocument/2006/relationships/image" Target="/ppt/media/image9.jpeg" Id="R9f9b43056c8848d7" /><Relationship Type="http://schemas.openxmlformats.org/officeDocument/2006/relationships/image" Target="/ppt/media/image10.jpeg" Id="Re6216b10bae1487b" /><Relationship Type="http://schemas.openxmlformats.org/officeDocument/2006/relationships/image" Target="/ppt/media/image11.jpeg" Id="R63a064c3e50d4e64" /><Relationship Type="http://schemas.openxmlformats.org/officeDocument/2006/relationships/image" Target="/ppt/media/image12.jpeg" Id="R75d81f74fa5d4f86" /><Relationship Type="http://schemas.openxmlformats.org/officeDocument/2006/relationships/notesSlide" Target="/ppt/notesSlides/notesSlide34.xml" Id="R47c2a8b718a84bb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1371ad55d448a" /><Relationship Type="http://schemas.openxmlformats.org/officeDocument/2006/relationships/notesSlide" Target="/ppt/notesSlides/notesSlide35.xml" Id="Re38fac38a76f465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5366cffbe4018" /><Relationship Type="http://schemas.openxmlformats.org/officeDocument/2006/relationships/notesSlide" Target="/ppt/notesSlides/notesSlide36.xml" Id="Raa1e7fda2206411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8263dcf3d4a72" /><Relationship Type="http://schemas.openxmlformats.org/officeDocument/2006/relationships/notesSlide" Target="/ppt/notesSlides/notesSlide37.xml" Id="R97bdc1470c744f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9d82f1f40410e" /><Relationship Type="http://schemas.openxmlformats.org/officeDocument/2006/relationships/notesSlide" Target="/ppt/notesSlides/notesSlide38.xml" Id="R236fff27bf9244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4c83645804b70" /><Relationship Type="http://schemas.openxmlformats.org/officeDocument/2006/relationships/notesSlide" Target="/ppt/notesSlides/notesSlide39.xml" Id="R671449c3558240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2908d8444ffd" /><Relationship Type="http://schemas.openxmlformats.org/officeDocument/2006/relationships/image" Target="/ppt/media/image7.png" Id="R6179cd01a9054904" /><Relationship Type="http://schemas.openxmlformats.org/officeDocument/2006/relationships/notesSlide" Target="/ppt/notesSlides/notesSlide40.xml" Id="R72d4ad3691504f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a1addfda442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53D8E-A78C-48DA-BC63-89A8284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>
                  <a:alpha val="94000"/>
                </a:srgbClr>
              </a:gs>
              <a:gs pos="43000">
                <a:srgbClr val="6840A8">
                  <a:alpha val="58000"/>
                </a:srgbClr>
              </a:gs>
              <a:gs pos="72000">
                <a:srgbClr val="E63B7A">
                  <a:alpha val="28000"/>
                </a:srgbClr>
              </a:gs>
              <a:gs pos="100000">
                <a:srgbClr val="F47B20">
                  <a:alpha val="20000"/>
                </a:srgbClr>
              </a:gs>
            </a:gsLst>
            <a:lin ang="66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5F4F2-28B9-48C9-B1BA-6966A6C8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5389-0D34-466A-AA21-A39C1F1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050E0-A4F6-49A6-A773-3AC07E98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AD1AF-DF7E-4A06-8C0D-468D218E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FINADOS MUSHUC RUNA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212BB-3AD5-4F6C-8A47-FCCE5FF3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8102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69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ES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69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69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TRADICIÓN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ED32E-892D-4E94-8EFE-A9A165C3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Dirección creativa y campaña integral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24BD4-F93B-40E3-A2F2-B8A092D6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Recuerdo, orgullo y experiencia real convertidos en deseo de volver.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9D20E-A7E4-464B-AB1C-47EA150E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3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71B8E-49A1-4A7D-B096-DB486DF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DIRECCIÓN · MARKETING · DISEÑO · AUDIOVISUAL · PRODUCCIÓN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458D4-6FA2-4A21-A1CF-FABF7DE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5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F6E14-F45D-4B52-98C4-F7C0B72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43775-D412-42DF-9715-E746402F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70255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9C4BA-D317-4CE0-9B50-8A62BC88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00B8B0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912F2-F36F-48A7-A26D-A1AD0BD3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9E7B8-8BCF-4D20-BE35-EDE208FC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9984C-BDAC-444B-A101-5DA0B35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C14B2-EDF1-46DB-84BC-0F6E203D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5E930-5590-4A83-97D3-FD8C2F86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52DA6-E65E-436C-9055-BA0AA28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6AFB8-245D-4FD6-BEE7-AE9ED70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878F8-02E1-4EF7-A97A-A4AB9EC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BF657-347C-4EED-8E8E-8A0D8E03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8B0">
                  <a:alpha val="8000"/>
                </a:srgbClr>
              </a:gs>
              <a:gs pos="72000">
                <a:srgbClr val="00B8B0">
                  <a:alpha val="62000"/>
                </a:srgbClr>
              </a:gs>
              <a:gs pos="100000">
                <a:srgbClr val="E63B7A">
                  <a:alpha val="7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DB18E-C21B-4D37-8A9F-2F74E09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150" b="1" i="0">
                <a:solidFill>
                  <a:srgbClr val="FFFCF5">
                    <a:alpha val="1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9150" b="1" i="0">
                <a:solidFill>
                  <a:srgbClr val="FFFCF5">
                    <a:alpha val="16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699CB-08AD-4790-B5D0-52263F3C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A206A-B3B9-4BC4-B11D-5643EAFB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EL ENCARGO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3DE7B-240C-47E1-B20D-2A6F5F11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No necesitamos anunciar otra feria.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58A31-3C15-40A6-AE46-FCA565E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Necesitamos hacer que la gente quiera volver, quedarse y regresar otro día.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89630-737F-4264-B39A-FC57898E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5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B163F-E4CB-4088-A9D5-719A015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B1C00-6AA2-4468-BB47-20BD193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94473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C4540-D430-48BC-9DF2-3D16A2B6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3556C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1C402-260C-47F7-9664-25A3B29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AAB02-19F7-44C0-89FC-2D27C2C1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A99E-584B-40C8-8A5B-EDB6EAB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85674-E679-4FE2-B800-E4125DEC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A0AEC-C12C-42E2-8909-1CBCDBEE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EFF39-A458-42CD-9C26-FE9326AA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6C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CF8EB-6DC1-4C4A-BA2D-06616C6E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D1BEB-AFB2-48FC-B393-BDC07DD3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D9F60-1AAF-456E-9119-6064A3E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BF9C1-65A5-4D8D-B35C-A6CAACF0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10B08-F0BE-4177-8E28-553A6A06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PUNTO DE PARTIDA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E4911-7E63-4CC2-874A-278BB0C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 verdad que obliga a cambiar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61EF7-465B-4485-98BD-DCA8EEC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Más publicaciones no garantizan una feria más llena ni comercios con mejores resultados.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4469B-76A4-4F1E-B1E0-C0804854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85490-A3F3-4C57-8331-40AA740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E1F3B-4DA1-41AC-BC7B-8C8FA7F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7D926-8579-4372-A8BB-AB28D330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35,8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9762E-5B11-425D-AB28-62AC33B5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PUBLICACIONES POR DÍA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8E868-C382-4C55-9FAA-BF00233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08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179 piezas en cinco días: demasiadas salidas compitiendo por la misma atención.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71F4F-489D-40FC-B237-233021E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05050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A59C5-2FAF-42AA-BE3D-E6BCC6D2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25,8%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FF38A-874E-4605-8205-E46DC9BD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EN UNA SOLA PIEZA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52E29-400A-4F52-B66A-E64FDE78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308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Una cuarta parte de la interacción dependió de un pico; no de un sistema sostenido.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33907-AFA7-4905-B6EE-BB78380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8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D6291-C098-48AD-811A-2034F6F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28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D7005-FB16-4291-8BB3-10F9693E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SUPERA A FOTO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63C3A-F4E3-4DA1-AA3C-8FF85693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308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La historia y el movimiento construyen deseo; la gráfica debe ordenar la decisión.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B46FB-647C-4065-89DA-90CBFD36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1219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56F339-50DD-4EEC-B402-F68B1BFC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LA CONCLUSIÓN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CC6CE-48A9-4DB2-84F3-4B374446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24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2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No falta volumen. Falta una historia que avance de emoción a acción.</a:t>
            </a:r>
          </a:p>
        </p:txBody>
      </p:sp>
    </p:spTree>
    <p:extLst>
      <p:ext uri="{BB962C8B-B14F-4D97-AF65-F5344CB8AC3E}">
        <p14:creationId xmlns:p14="http://schemas.microsoft.com/office/powerpoint/2010/main" val="1516066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7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5D262-A92F-43A3-BBC4-B402BE5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AA860-36C7-4322-8A83-38C7D8EF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0" i="0">
                <a:solidFill>
                  <a:srgbClr val="756B7E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0" i="0">
                <a:solidFill>
                  <a:srgbClr val="756B7E"/>
                </a:solidFill>
                <a:latin typeface="DIN Condensed"/>
                <a:ea typeface="DIN Condensed"/>
                <a:cs typeface="DIN Condensed"/>
              </a:rPr>
              <a:t>Una cartelera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0" i="0">
                <a:solidFill>
                  <a:srgbClr val="756B7E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0" i="0">
                <a:solidFill>
                  <a:srgbClr val="756B7E"/>
                </a:solidFill>
                <a:latin typeface="DIN Condensed"/>
                <a:ea typeface="DIN Condensed"/>
                <a:cs typeface="DIN Condensed"/>
              </a:rPr>
              <a:t>que se anuncia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6BF3E-10E0-4A54-8AA5-0D3B5C72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• piezas aisladas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• artistas como único argumento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• urgencia sin confianza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• cantidad sin recorrido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D7348-A464-46A1-A884-CC21B919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04775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A4549-1481-4775-9E36-17162F64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81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029ED-4570-4648-A350-4E967691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0492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Una tradición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3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que vuelve a llamarnos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0BCEB-D32C-49D7-AEF8-CA8692A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memoria que despierta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experiencia que se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prueba que reduce dudas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comunidad que invita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una decisión clara: volver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F8F91-7070-4D6D-A1BB-0688C9D7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466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AC0FE-EEE3-4D55-8907-6E20A1C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197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1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ES TRADICIÓN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E100C-BCEF-4F95-834A-1B2E3738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34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FB903-8C6B-415F-9147-9D385FC5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799D6-CC30-45EF-8E42-0E1BA21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41127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50515-E1D2-418E-9130-A0B5640E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F7B32B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E31A2-D992-4D75-A11C-7FD3402B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16B93-E8C1-495A-BDE9-CB1C60E1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DA9D-FE28-4BF4-9A8E-4F633A4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4F37E-70C6-47E8-857F-C1832518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1B260-D47D-417B-AB25-35E86004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32B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80303-7CB3-4707-96A4-A5DB640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225BF-214A-47B0-94F9-D49FF672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C928D-B6BF-4067-A217-799F3959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29774-B7B9-4B1B-8326-13D4812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848B2-397A-4A0E-B5CF-257A0551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ABEBA-ADC7-4AE0-B534-65A946C5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PLATAFORMA DE MARCA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07163-59F7-408A-9E06-7A05386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Una promesa con jerarquía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66B74-B30F-474E-98BD-147BF593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Cada frase tiene una función; no compiten entre sí.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34C49-1D57-4A38-BAE8-AA188FB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1C3B-41FB-4A2F-B374-DE5838D3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E132F-4764-461D-A962-241863E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1F7AE-0E63-4136-B36B-94E22439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087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A9EBF-644F-42CD-9415-B14A43A6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1 · IDEA MAESTRA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088C4-3007-469C-93A9-A235E460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27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ES TRADICIÓN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9986-215E-4DFC-BCE0-A6201D4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391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>
              <a:alpha val="10000"/>
            </a:srgbClr>
          </a:solidFill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9D0D2-BF96-4885-B2CE-C54E867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2 · PROMESA EMOCIONAL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0776F-9752-4D8B-AB6F-618E69F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Cinco días para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volver a encontrarnos.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11DD5-B933-4743-9C6C-2A48D04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5391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>
              <a:alpha val="10000"/>
            </a:srgbClr>
          </a:solidFill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BB888-58A5-42EB-A546-746C9C96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3 · FIRMA DE EXPERIENCIA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73485-3B4A-4961-9F11-17F52E8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La feria se vive.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20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La tradición se comparte.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D69D5-596D-4744-8057-43E13DA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Uso recomendado: idea maestra siempre; promesa en campaña; firma en contenido y experiencia.</a:t>
            </a:r>
          </a:p>
        </p:txBody>
      </p:sp>
    </p:spTree>
    <p:extLst>
      <p:ext uri="{BB962C8B-B14F-4D97-AF65-F5344CB8AC3E}">
        <p14:creationId xmlns:p14="http://schemas.microsoft.com/office/powerpoint/2010/main" val="1421942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3f2477ab04deb"/>
          <a:srcRect xmlns:a="http://schemas.openxmlformats.org/drawingml/2006/main" l="0" t="7796" r="0" b="7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2BEFD-10B6-4146-83DC-3ACEB11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>
                  <a:alpha val="88000"/>
                </a:srgbClr>
              </a:gs>
              <a:gs pos="44000">
                <a:srgbClr val="6840A8">
                  <a:alpha val="56000"/>
                </a:srgbClr>
              </a:gs>
              <a:gs pos="72000">
                <a:srgbClr val="E63B7A">
                  <a:alpha val="26000"/>
                </a:srgbClr>
              </a:gs>
              <a:gs pos="100000">
                <a:srgbClr val="F47B20">
                  <a:alpha val="18000"/>
                </a:srgbClr>
              </a:gs>
            </a:gsLst>
            <a:lin ang="672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2154B-66E6-4F04-B1E6-F58F79E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BAADD-D57C-4157-92F5-4121A3F5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2B930-EDCA-42A8-B4A6-D8D49FE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32B">
                <a:alpha val="4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E0DD9-1F25-4C56-9CA3-3EB66E3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EF4B-9163-4F6F-9E0E-A5C4FE1F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>
                <a:alpha val="4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92089-0C9A-417B-9AAE-DF2B7665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TERRITORIO EMOCIONAL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64A9-8E73-4FD0-A53C-DEB6D775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Nostalgia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luminosa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2AFB-6E16-48A8-B4BE-A1D9BB3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Recordar sin entristecer.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Conmover sin dramatizar.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Celebrar sin perder identidad.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C28D8-78C9-4DD2-8BA0-36E8F574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02A">
              <a:alpha val="4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45AF4-5772-4BFC-B462-F60504DD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La emoción no mira solo al pasado: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lo convierte en una razón presente para volver.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E14DB-060F-4C94-8C85-AC2B7148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B8B0">
                <a:alpha val="5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78606-64B2-4952-AAA7-EF8422B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22A09-2A6D-4ECC-A522-0AB75958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37740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04A198-584C-4F95-93BB-BC6EC7C3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B357-FCC6-4E35-B14A-76B9916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3970-2FF0-4CBD-A483-6D4D8CE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47E56-C82C-4B92-AB8A-02F1E541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CEFE4-319F-42E9-93E9-4A44825B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70146-F8DB-4633-8AEF-68AB251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56282-2148-4214-88FB-9DAB7595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B09DB-1BAC-4A1B-8CE2-A53F9E7F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99F95-0CDA-4BFC-A558-7B39304D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B6B8-46B6-4655-AE4E-48BE4737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A79EB-A9C6-4AD1-83F8-D93C5839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96F0D-3D39-44A9-9C0F-A2B77D6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ARQUITECTURA EMOCIONAL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D352F-F466-4D76-ABD0-DE9D2ACD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 historia debe avanzar, no repetirse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F493-5BAA-49B4-A0BF-C25ABEB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Cada fase mueve a la persona un paso más cerca de la visita.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213EB-7744-40CD-A1AA-D957EA7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A67A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D14A8-4F7B-401C-9D99-5B73A8C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9F280-B5F7-4CBD-AA1D-F33C196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94E99-C776-4757-90C2-82E2D593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113F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8B1AE-BBA7-48F2-AC58-3CFF3B8D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5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F84AC-8EB4-4D80-A3C1-477647F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54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DC647-EF04-45F0-9C96-C3B1C296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9D54CC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9D54CC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40CB3-1068-4DA8-B91B-D434F3F3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096BC-3211-48B7-95FE-99EE86A6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Eso lo viví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61DBB-82A2-4DBE-9B61-766CCA57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1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1073D-AEED-4832-94ED-7FEAA83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004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1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7FC5B-F2C7-4378-947C-A75BF72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957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7B164D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7B164D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7C139-03AC-40E5-8099-F2D9874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72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1C9DA-4AD0-46AE-BD1C-E5B74B05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57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Quiero saber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0F66E-EA74-479C-919C-57A6A2A9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35EAD-52CC-4445-97FF-4A29121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765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7B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77192-A074-4F52-820E-AB8C23DA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04BE2-5D20-4CA0-A1C9-959B784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ORGULLO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78EAF9-760C-44BA-A406-65CAC8FA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Esto es nuestro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B5A51-C30A-490C-BA7F-606462D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456D8-2DD8-4C00-87B9-63D4011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3B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A826F-D011-4533-B63C-87B366CA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12C8A2-C30F-449C-9AD6-6111E946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72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DESEO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05C2BF-7E89-47A9-941B-9482765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57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Quiero estar ahí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A9169-3C71-405C-8FE6-EC1A6E7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2A2B3C-607F-4C2C-9CC4-EFC57BD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A6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6222FE-91F4-4987-B88B-A24668C8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0EA58-7AEA-4DF9-A629-C93CA41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98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D40978-B483-4F88-B8B8-7E93A88B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Vamos juntos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07F8C8-F21A-46AE-A163-65E129E2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3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035797-22CC-464C-8AAC-E1B098ED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004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3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564B4-EF92-40AC-B58C-32EA22F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957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0494DA-7344-44A7-A3C5-D9FC0C6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720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4CCB54-566B-43FA-8395-46E8ABB7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577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Ya volvimos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48D949-3B3E-428C-B94E-5257DE5A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21CB9A-B308-42B8-940D-C3791CDB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29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pauta amplifica el tramo correcto; no reemplaza el recorrido.</a:t>
            </a:r>
          </a:p>
        </p:txBody>
      </p:sp>
    </p:spTree>
    <p:extLst>
      <p:ext uri="{BB962C8B-B14F-4D97-AF65-F5344CB8AC3E}">
        <p14:creationId xmlns:p14="http://schemas.microsoft.com/office/powerpoint/2010/main" val="9640459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95254de634662"/>
          <a:srcRect xmlns:a="http://schemas.openxmlformats.org/drawingml/2006/main" l="25873" t="0" r="25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0B49D-CDC9-432C-A640-7FE91A9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6840A8">
                  <a:alpha val="76000"/>
                </a:srgbClr>
              </a:gs>
              <a:gs pos="70000">
                <a:srgbClr val="E63B7A">
                  <a:alpha val="1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3D8C-BDE1-4718-93E6-A831A53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50000">
                <a:srgbClr val="FFFCF5"/>
              </a:gs>
              <a:gs pos="100000">
                <a:srgbClr val="00B8B0">
                  <a:alpha val="13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D30B7-31D3-45E1-B753-6ED0A8E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20002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B912A-9871-4240-908F-2769C52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34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AUDIENCIAS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A5282-A486-4936-A5F9-6747F3D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7630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29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No vendemos lo mismo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9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29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a todas las personas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356EA-AFF0-4195-9195-9BA9BCEC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520B-BC93-46DC-985B-E14B77A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DE51C-7667-469F-8BEA-7763FDA0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Familias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FD2CD-28E0-4537-B76D-2000E33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Seguridad, comodidad, comida, baños, rutas claras y actividades compartidas.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BE5BE-7DB3-4BC0-BFF6-0535D8A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74331-4022-4BA5-834A-1BB22545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23B34-0089-46AE-84D1-AC2759A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Jóvenes y parejas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249A-69DC-4C78-8F57-852B8313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Experiencias memorables, música, estética, participación y momentos para compartir.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AB75D-7F00-4803-8059-7731DF6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46CFA-790A-48A4-9B67-A43B9BE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A19DE-56BA-4671-8386-00A49195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624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Visitantes que regresan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97F0E-4EE5-47F1-B11C-01EB549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96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Reconocimiento, continuidad, rituales y la sensación de que esta feria también les pertenece.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E4773-A23F-4000-8356-1901EC85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4DDC6-2556-4C42-AD70-E03F04A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69988-7E44-40B8-B469-E8AC4C87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Visitantes nuevos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167BC-3597-42F5-9A0F-A175577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96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Prueba concreta: qué hay, cómo llegar, qué cuesta, dónde estacionar y cómo aprovechar el día.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FA3B9-56C8-4526-A448-5A52C830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Trabajo común: reducir la incertidumbre y aumentar las ganas de compartir el plan.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E92DF-F493-4663-BE79-C7FA9EF8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A3C">
                <a:alpha val="3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7DCD6-FAE2-4598-BD2C-575BB37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8C9DD-5266-437F-AF67-25B9637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15323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8A06B-FD08-4EA6-9902-C857155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E63B7A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2DAE-23F0-4235-BAAC-9EC8E6D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DC82F-7C7A-4C3C-84A2-A1DAF5C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48253-401A-481B-A1B9-8468FF99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436F8-4F48-4A93-85BA-D75304F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7A14-204C-4570-9C1E-50F02736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18F49-6F71-4397-AF23-C25A736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A86A5-7CD6-4684-BF90-50A56E6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CC529-B202-4CFF-A05C-A6740D6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CC5B3-5199-4A6E-90A1-EB03F19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96E74-1929-4D6A-B4E7-03619C1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665F9-0698-4C73-ABF7-BBE7352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EXPERIENCIA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B3B2F-2292-41FF-9D7F-3C810341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Cinco días, cinco razones distintas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9D090-2F9A-4451-B2F0-12AEAAFA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La campaña debe enseñar que no es el mismo evento repetido cinco veces.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B28C6-A98E-4746-B74D-163A92C0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B6AEB-79DD-44DA-89A3-59E305A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18A2A-AA34-42A0-A1A8-50ED57F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149-02A9-4379-8D81-75A3A25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4CC2E-7EB3-4E23-9074-85E6588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574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4F4EC-B296-4980-9517-A227AD4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VOLVER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AB4CC-24C2-4AD9-A867-EADE50C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Reencuentro · bienvenida · primera visita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1A19B-AB20-4E18-9BAB-71F05EE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C1773-A113-4800-93AA-796C94F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B7C1C-BB57-4EC7-A6CE-BC39A607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DE886-DCE5-4C4A-8AEC-820EBCB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DESCUBRIR LO NUESTRO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5DC41-2328-41FB-9F94-F519AE53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Feria · sabores · oficios · rutas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22B8C8-9175-4410-B0D7-DF424A6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0ACD4-3C34-4CC8-B80A-31639567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F90DC-55C7-4393-8129-E162472B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43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58201-DA11-4536-8362-EF755F07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CANTAR JUNTOS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D9CDA-2D0B-4725-946B-58E9EF7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Energía · música · comunidad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C0DC7-8698-476D-BD60-A010E358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6CF71-A191-4CC3-B3C6-6192B75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0526E4-6807-4BE5-B784-E270D50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862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50C9A7-5B3C-404E-A618-4E0B842F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COMPARTIR EN FAMILIA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0AE89-7B0B-497F-8C05-9D76B411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81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Plan completo · comodidad · alegría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741A31-4226-45CD-9104-46FB7E5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0F8E6-4E25-4E7A-BFAA-DCF4AAFF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3D242D-AD3A-4249-93D6-CF13C819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292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3AA1B3-4A2D-45A0-8151-63DBD57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86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7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RECORDAR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93551-0936-4A3B-A8B5-8344190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24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Cierre · gratitud · volver el próximo año</a:t>
            </a:r>
          </a:p>
        </p:txBody>
      </p:sp>
    </p:spTree>
    <p:extLst>
      <p:ext uri="{BB962C8B-B14F-4D97-AF65-F5344CB8AC3E}">
        <p14:creationId xmlns:p14="http://schemas.microsoft.com/office/powerpoint/2010/main" val="18599907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1a15eced84a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10CA-4D26-42DC-A764-17D0A83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>
                  <a:alpha val="94000"/>
                </a:srgbClr>
              </a:gs>
              <a:gs pos="42000">
                <a:srgbClr val="6840A8">
                  <a:alpha val="70000"/>
                </a:srgbClr>
              </a:gs>
              <a:gs pos="70000">
                <a:srgbClr val="3556C8">
                  <a:alpha val="38000"/>
                </a:srgbClr>
              </a:gs>
              <a:gs pos="100000">
                <a:srgbClr val="E63B7A">
                  <a:alpha val="22000"/>
                </a:srgbClr>
              </a:gs>
            </a:gsLst>
            <a:lin ang="58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6A2A9-34B2-45B4-89FA-E4F28EB0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9F97-0F86-4E6A-902D-78A7B1B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9F0CD-1702-4878-9342-6C60AC77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32B">
                <a:alpha val="4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7E98E-B9AC-427A-9E81-E5DDE230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6FE8-81E0-4FA3-BE1F-F802C72E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>
                <a:alpha val="4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E5AFD-CC2E-40E1-B536-D330766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DIRECCIÓN MUSICAL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EFF4C-6101-4910-AE1A-D0B396F8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El recuerdo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suena suave.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El encuentro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6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suena vivo.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097B5-6EB4-40CA-A7D6-1C1085A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48006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B102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1C69D-EA72-486A-93FF-31CB40C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A4758-3882-4F4D-8A01-59E87992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Piano, charango, cuerdas, respiración, ambiente y silencios con intención.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B99F1-A4DF-477B-95E0-0FA92F7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SHOW / EN VIVO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74FB6-A1C6-469E-863F-E17300D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01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Percusión, coro, saltos, sonrisas, manos y público cantando.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BBC72-50E7-4EA6-A2FE-43B8B675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10BA3-F665-4D4F-8F47-B40E1EE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C4D96-0DEE-4A00-A07C-5678538F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92259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0704A-CC1B-405B-A1F5-CD2F8DC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3556C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C13E7-324F-4E60-BFBC-CFA2FD2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9E600-6467-4326-A626-B443775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A5E6D-EA81-4B70-94D3-B547EC02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EF639-922E-4C74-9720-CC52C2B9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B8374-8910-481C-A124-A215EC0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04825-8E89-49B4-A03E-2EF86CD5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6C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80705-F382-4255-B762-B220E1E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5715-1FE4-4CCA-B594-731D86D0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65D70-3657-482E-AE20-CCE5D203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50ABA-2456-411E-8830-8DD2F3F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3CBE3-6F8A-47EF-9F9F-1FFE257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SISTEMA 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014F3-8A73-4F5C-A466-4CCA695A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Una paleta que se siente como feria viva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6B081-B5B3-409B-8093-19A3377E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Teatro nocturno, color popular contemporáneo y luz de espectáculo; sin copiar marcas ni afiches.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0330E-C37C-4548-9AEB-01D028C9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9440C-EB21-4A2F-A3C7-5AF97F3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B69F1-B7D2-4052-881A-371FEEA5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A8AF3-ACDC-45A1-90B5-1F403FC4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CAAA7-E890-459B-B6AD-DBD88983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VIOLETA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B7423-48E6-4D76-8AD7-569E4690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Teatro · misterio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494FE-C80A-4FF6-976F-44707C4E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DB60E-1C13-4115-A726-621D8C2C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MAGENTA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C1807-9893-4F63-AA87-28139F51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Emoción · encuentro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891D1-58A4-4D60-BDE9-882052DF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58FDB-7D42-4118-A891-52B4186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NARANJA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3C066-A653-4E85-B29D-2938607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Feria · movimiento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609C5-19D8-47FF-9173-749969E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2D326F-8805-4B50-BC64-58EFDFEC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AMARILLO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0D9E8-A07D-4EAB-AE95-336A523C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Luz · llamada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F6423-F00B-4370-BC4B-AE1DE39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3F0CB-FD76-446A-A594-8F275B3D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TURQUESA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A9CC4-EDF4-467D-8EA9-2AB65716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Frescura · orientación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9E417-69DD-4CB7-9864-7F5BAF0E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38300" cy="16764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6AB73F-B26A-4200-896C-269F582E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AZUL NOCHE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B549D4-4A2B-46CC-BAD6-8D1F6FDC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767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Escenario · profundidad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2786B1-7913-46B0-B5C6-3CDBAB52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1087100" cy="666750"/>
          </a:xfrm>
          <a:prstGeom xmlns:a="http://schemas.openxmlformats.org/drawingml/2006/main" prst="roundRect">
            <a:avLst>
              <a:gd name="adj" fmla="val 22857"/>
            </a:avLst>
          </a:prstGeom>
          <a:gradFill xmlns:a="http://schemas.openxmlformats.org/drawingml/2006/main">
            <a:gsLst>
              <a:gs pos="0">
                <a:srgbClr val="120B24"/>
              </a:gs>
              <a:gs pos="38000">
                <a:srgbClr val="6840A8"/>
              </a:gs>
              <a:gs pos="68000">
                <a:srgbClr val="E63B7A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5E2ADA-E83E-4192-A4CC-3549A10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REGLA DE COMBINACIÓN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3B1B34-A022-49D5-A5CC-83F196B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054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Base nocturna + 2 colores protagonistas + 1 señal luminosa. Nunca usar todo al mismo volumen.</a:t>
            </a:r>
          </a:p>
        </p:txBody>
      </p:sp>
    </p:spTree>
    <p:extLst>
      <p:ext uri="{BB962C8B-B14F-4D97-AF65-F5344CB8AC3E}">
        <p14:creationId xmlns:p14="http://schemas.microsoft.com/office/powerpoint/2010/main" val="4147136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E6A30-D2C5-4E50-81A7-EEA9819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05A3C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55109-6DBF-4C84-8E23-1CC37A3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9FF7E-C44B-4422-9F4A-C64A76B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D5224-C260-4DC0-8656-A00E4949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8DC13-D5EF-4354-909B-6112C9AD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48466-FE3F-40ED-9F77-F9207420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916C1-320C-4EDD-AF9E-90637AFB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3C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06C0C-6EDA-44B6-8C1F-94B20F8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0221B-72D7-4538-8E2D-66E1027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C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A8DF-3670-42A4-8969-6A54B00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A6E92-8B80-4598-A4DA-21874A8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719A3-2C46-45FE-961C-A47FB5B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TIPOGRAFÍA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E2329-0940-4634-964E-676CEA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Editorial para emocionar. Clara para decidir.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33831-35A9-4C08-8D64-C99B4A93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forma debe sostener una feria grande sin perder calidez humana.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A48B3-71F6-4C26-B5D6-DD12DF7A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E5214-4C91-4E00-92E3-0B538F9F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5631D-4E62-4D2D-AB65-834EA6E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0C874-2624-4730-8B8B-9288581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ES TRADICIÓN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65847-D251-4E64-A853-A4C31B0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1">
                <a:solidFill>
                  <a:srgbClr val="7B164D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0" i="1">
                <a:solidFill>
                  <a:srgbClr val="7B164D"/>
                </a:solidFill>
                <a:latin typeface="DIN Condensed"/>
                <a:ea typeface="DIN Condensed"/>
                <a:cs typeface="DIN Condensed"/>
              </a:rPr>
              <a:t>Titulares emocionales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FBAE4-9B7C-4AC2-A008-F001950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3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E646B-8F50-479D-85E4-11D85CBF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DÍA 3 · CANTAR JUNTOS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956C2-33D2-40C0-83C5-971F89F3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Agenda, accesos, parqueaderos, horarios y llamadas a la acción deben leerse en segundos.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598B1-9B8A-4CA0-8017-59942367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4191000" cy="3695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4000">
                <a:srgbClr val="6840A8"/>
              </a:gs>
              <a:gs pos="100000">
                <a:srgbClr val="E63B7A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F1632-77FC-479F-9A3F-90CBCDD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JERARQUÍA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5E5F8-AF61-4C75-AD45-8CA46828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61E6A-7351-44F4-853B-6F5B0C8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05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EMOCIÓN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D1CC7-E838-4B63-8D41-107EACF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49B86-05EB-469E-91E4-4FF7D7E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956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PROMESA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658367-F44E-4402-9B81-4AA479DE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D8DA8-4BC6-4A5E-9E5D-3FFB1DD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PRUEBA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90B36-0111-4A07-80F2-C010547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8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B9FF1-A7FB-4DFE-8E82-63CDB24E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767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ACCIÓN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82571D-1E95-4754-BFC4-E3140A80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Producción: validar familia tipográfica final y licencias antes del master.</a:t>
            </a:r>
          </a:p>
        </p:txBody>
      </p:sp>
    </p:spTree>
    <p:extLst>
      <p:ext uri="{BB962C8B-B14F-4D97-AF65-F5344CB8AC3E}">
        <p14:creationId xmlns:p14="http://schemas.microsoft.com/office/powerpoint/2010/main" val="7938997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f98149c6e4b1f"/>
          <a:srcRect xmlns:a="http://schemas.openxmlformats.org/drawingml/2006/main" l="19378" t="0" r="19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16C92-5B4D-4C10-B0A8-5B4A108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556C8">
                  <a:alpha val="74000"/>
                </a:srgbClr>
              </a:gs>
              <a:gs pos="64000">
                <a:srgbClr val="6840A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E8286-1EA8-4F31-8BA7-9713ED2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56000">
                <a:srgbClr val="FFFCF5"/>
              </a:gs>
              <a:gs pos="100000">
                <a:srgbClr val="E63B7A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545A3-3419-47F5-BC6B-4B524783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B20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029F6-06F2-4AFA-BC1C-C6A2C90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4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FOTOGRAFÍA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6F368-9A5E-4775-9794-10B358B7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9144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Personas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Miradas reales.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22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Feria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1C56C-F00C-4C9A-A372-3FE99C0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BUSCAR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A8612-C957-4EF0-9A7C-F916FD9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343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vínculos entre generaciones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manos, gestos y miradas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escala con rostro humano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comercio y descubrimiento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alegría sin posar demasiado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C016-CDD1-4E49-A57C-32A8ACB6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29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rPr>
              <a:t>EVITAR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8C27E-3BF1-4C30-927A-AD7EF300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Bancos genéricos, disfraces culturales, exceso de logos y rostros sin contexto.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BD23D-063C-423A-A30D-9462DDC1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7B32B">
                <a:alpha val="34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80FE4-4E61-4453-AA75-82E112AA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F8872-757F-4AD3-9732-37ADAB0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98079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1D6B52-9BF3-4221-A11C-F97F24A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3556C8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79B04-44F1-44A5-9EDB-C4F175AB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A0EF1-3AD4-48C3-B0FF-5DFE9328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96065-953B-4269-BEC8-BB9BC5D6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1E0E0-41AD-458C-A1B4-BF8F681B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01AD0-019B-4B22-9E12-6B21F201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56C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6874C-522C-4E30-B628-F4FAAE6E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8B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84B13-26E0-483B-A294-2C01455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4F3CC-61CF-43A5-909B-48CD57FF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F5710-A576-4F4E-8BCE-4127B2F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2B84E-6FD8-4145-BB7F-8B80E67E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820CD-C8B8-45CC-A5F0-1E5C00E6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TRATAMIENTO DE IMAGEN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D67FF-451B-40E0-A6CF-DD31A95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Tres temperaturas, una misma identidad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BCA42-50CE-4866-A5D6-805B2DCF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El color cambia con la fase, pero la feria siempre se reconoce.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8A92F-2DA4-4B84-9CA9-FE5202B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B8B0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48659-3755-4180-B637-859F36F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40EB3-3E62-48AA-BAAA-414C18D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12bb8ea1149a0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29C70-01E9-4C34-9346-8E4C1B5B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6840A8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02646-91CB-435F-B93D-85B1E1E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00B7E-ED43-4179-93E8-4D7448FA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Sombras ciruela · grano suave · ritmo lento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b6c2f0a93489b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9D07E-EB32-448C-96F9-DDBD2BC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3556C8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B7330-7913-4833-BB09-4FA327B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C9AF3-4EE8-4EF3-BC33-54BFB963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Negros limpios · luz selectiva · detalle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1660926fb45f2"/>
          <a:srcRect xmlns:a="http://schemas.openxmlformats.org/drawingml/2006/main" l="0" t="15556" r="0" b="1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86855-45F0-469D-87E7-4BCC51E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E63B7A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D7C11-D46A-4AEC-A2C7-E732F3D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CELEBRACIÓN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04DEF-B617-4F80-AC74-6C960A82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95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Color vivo · piel cálida · energía nítida</a:t>
            </a:r>
          </a:p>
        </p:txBody>
      </p:sp>
    </p:spTree>
    <p:extLst>
      <p:ext uri="{BB962C8B-B14F-4D97-AF65-F5344CB8AC3E}">
        <p14:creationId xmlns:p14="http://schemas.microsoft.com/office/powerpoint/2010/main" val="13734083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6ADA11-F5C2-41AA-AFB7-FFDF9266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382D3-8443-4EF7-B8C2-C5D83691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C258F-8AB5-42FE-9840-9C051187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B8E76-9A08-44ED-879C-9AB142A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63ABF-1B38-4B1A-8D02-4BD32224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65E5B-5E87-4805-9D48-DB45B20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89F04-6F6E-4689-9D67-A1ADFDE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A9D9F-9C43-4E47-9115-0CA865B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B06D3-7627-4D13-9F6D-00EFAC7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113C9-88F1-4C3E-9F1D-EE939254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2B92E-46D3-4A65-BED7-77DBAB8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E6A21-292F-4172-B6E4-05EC3472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GRAMÁTICA GRÁFICA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90D2D-F530-4267-AF81-745C2A1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 memoria se representa como un hilo que continúa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D4AC0-D93C-4043-9F12-981D9D5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Una señal simple que une archivo, presente y experiencia.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8EE73-3A37-4795-A796-8B5E07B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A67A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4EF79-9B0D-45CD-9F38-6AFA146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98519-18AB-43BF-91BC-7166F477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B0176-420E-4695-89EC-05415E39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48E2-D6E5-4CFD-A1A6-7507E49C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47B2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7C43B-0B98-46A3-BBD5-AB8B8F3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B861F-B4DE-4F5C-8DFC-54B9085D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B8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99337-C1CF-4E77-8149-E46BBF8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0A8"/>
          </a:solidFill>
          <a:ln xmlns:a="http://schemas.openxmlformats.org/drawingml/2006/main" w="28575">
            <a:solidFill>
              <a:srgbClr val="6840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EE41C-E1B9-4064-B56B-1AAD0981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388B1-0415-49CF-AD3E-72F6628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98FD3-AA50-4F97-83A5-9A8B94E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28575">
            <a:solidFill>
              <a:srgbClr val="E63B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A9DD2-80D4-44BA-B9E0-6809554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RECUERDO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D545A-84B7-4841-A5A7-8F4DD788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relato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80B0D-1709-41CF-873F-F02CDDE4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28575">
            <a:solidFill>
              <a:srgbClr val="F47B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689A6-B764-4FBE-A2BC-D9A528B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HOY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AECE07-29CE-4B07-8196-0EC0BC8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43A82-FE93-4257-9066-63392C1B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28575">
            <a:solidFill>
              <a:srgbClr val="F7B3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2CEFD1-3ABD-408C-8CDF-21AD46CE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ENCUENTRO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8A3DA4-2EED-4C5D-932C-344000FE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visita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36F5E2-D492-4A78-B9E4-7ECC7FE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95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28575">
            <a:solidFill>
              <a:srgbClr val="00B8B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DCB45C-8B1D-4E76-A0B2-002730D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MAÑANA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95E420-131E-467C-B617-9FA92DF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regreso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C3FFE3-421E-498B-AC66-3CABF10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B59FB6-2ED8-4C54-B378-AC26735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A5D78-9519-4DFA-8750-ADEE2D75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Hilo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039DD3-D120-4213-AB37-2332903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Una transición de color conecta recuerdo, visita y regreso.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D4495-BEF7-4602-844E-3DD0CB8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07C0D9-924E-498F-BDAA-056415A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BB7A6E-5C54-4E4E-B83D-30B48349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Capas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9B2B56-4F6A-4E64-80ED-99E3A42C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1970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Fotografía real + luz teatral + tipografía editorial.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B82CCA-B9AB-407A-BA95-102ED9C1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95284D-0BC0-489F-B92F-4B2378C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8F524F-20A7-4E34-8E65-728052F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Ritmo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950778-CA28-4CCA-A8BF-5A7A3E53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Una idea protagonista; el color marca el cambio de energía.</a:t>
            </a:r>
          </a:p>
        </p:txBody>
      </p:sp>
    </p:spTree>
    <p:extLst>
      <p:ext uri="{BB962C8B-B14F-4D97-AF65-F5344CB8AC3E}">
        <p14:creationId xmlns:p14="http://schemas.microsoft.com/office/powerpoint/2010/main" val="2510594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EFF6E1-291D-4B87-85DC-F7890EBC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F05A3C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2FAF7-FC00-4F41-885C-8B1D1F9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CE813-CA7B-4CF2-BE0D-2F7E434C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3C636-BEC3-4AFE-9B7D-45523BA0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7EF4F-8F65-488E-BDD7-EF16B19C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D4390-795E-435C-8689-B269AC3E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5A3C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7F43B-041F-4AB0-B6D8-53B33B2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40A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EB05B-AE83-40F1-9F2F-565AA48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B95E4-4978-4BD2-83DC-91772A14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0BB8-C919-4310-BB11-BC49783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7C8DF-CE41-4547-8CEA-1E09D853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80ABB-0F01-452C-9AF4-A85058E1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LENGUAJE AUDIOVISUAL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9FF42-2E7D-4FCC-BF60-239DF2E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Cada video tiene una respiración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6A51E-3AB9-49A8-9363-C767C6C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La edición debe cambiar según la función de la pieza.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9C3E3-624B-4575-8210-9BC69643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A115D-2C7C-40A7-89A7-2BC34421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2215D-0F6F-44FD-834C-B314330B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87B12-82ED-4FDA-8AAE-2810D87D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3205F-45A0-49BC-B5DF-504C2349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rPr>
              <a:t>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E32FA-A0D9-40B5-BBF0-B8D38968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6–10 s por plano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97DA2-BDB2-4A66-85E3-70F65AB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detalles · rostros · archivo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4BC1C-8DCA-409B-848D-C5289A8C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música suave + ambiente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7F66C-8F12-4700-B41E-6A38F35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9FE56-3561-4412-9A44-90F5D18D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535C2-928E-4F2A-8DCF-0EEFBC7E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E8327-F1BB-440D-AA3B-B253454C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2–4 s por plano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66F8C-AEBD-4EF3-852B-4D93445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pistas · texturas · montaje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A63526-C741-4D64-A091-3A118A43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pulso creciente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0BACE-21E9-45E6-AA17-5D95F391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BEEC7-4C59-4006-851D-83F477E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E6A6E-3260-4FE6-BC6F-9A9815D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PRUEBA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A34CD-68F4-43D0-B6D3-A963B87A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1–3 s por plano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B77AC-D1B4-4CE8-8FD0-C42921E3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mapa · baños · comida · acceso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750B0E-6C50-4155-97A3-B026B6E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voz clara + subtítulos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6FF475-4235-446C-AECC-892A028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80B45E-0B32-4B39-BD96-CD5D4D6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EB45E2-63C7-4210-9877-EBA71EE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SHOW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47F491-753C-49FC-9E8D-F653B7AB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0,5–2 s por plano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37766E-2B9A-4E36-979A-D57DBF36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público · escenario · reacción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1FC274-38D2-46BD-9D6D-7929411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música viva + coro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970B79-8F55-4AE3-A803-0C7DB266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5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04E5F-2206-44E7-AEA0-769575E5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BD56D6-B3A4-4AE2-80DE-0814E5B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0798C2-4CFE-42EE-8425-8945C82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ritmo funcional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E3DA0D-A2FD-4D73-8A61-538086A4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62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dato primero · gráfico limpio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238C2-2221-4F3F-8685-809D4A4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audio secundario</a:t>
            </a:r>
          </a:p>
        </p:txBody>
      </p:sp>
    </p:spTree>
    <p:extLst>
      <p:ext uri="{BB962C8B-B14F-4D97-AF65-F5344CB8AC3E}">
        <p14:creationId xmlns:p14="http://schemas.microsoft.com/office/powerpoint/2010/main" val="15813132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DF89F9-559C-46D4-BC7C-20963C4C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D97E3-D277-44F2-B68D-3312C16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74248-36AA-494E-A4B7-366D6228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CF6F-70EC-478F-93DF-C7F75B2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9A391-C39F-46E5-A573-4DB1E9A9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F9AD0-4257-4BF2-AF74-297D1923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56D9A-B21F-41A0-9EEA-494F9F97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57364-0CCC-4983-A510-2B7E9C52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D4012-78AF-42DA-AD3B-1F4642B8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6C8EE-D678-4FFF-ADF6-2E4EEEC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CC1C1-8BDC-461C-8A43-1517F74D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A3BC4-7647-4E54-9204-BDFB17D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PIEZA HERO 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3F7C1-0A1E-4E9B-A554-DFFC117A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NOS 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94505-5B0D-44DE-B775-9F46F559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El manifiesto de expectativa: la feria existe antes de que aparezca el cartel.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704F9-C9EB-4355-8F4B-FFD21B5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68E8C-C632-47B3-AB56-54B8899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33C536-65C0-42D7-8D07-4599FD8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e6609c46041a2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4F380-DE57-44AF-B3CF-7141AD90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F8C5E-7CC3-4AFB-9C3B-FB508E8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Un sonido conocido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a804bd2b44827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D6021-3D88-4914-B3E9-A558F523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A5936-7330-4125-9A6B-36B891A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Una mirada que recuerda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0c63e85b24c44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7624E-0394-43A0-A644-AD24A4F3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028CD-9D17-42FF-B499-259C98C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El espacio despierta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76df77b4249ce"/>
          <a:srcRect xmlns:a="http://schemas.openxmlformats.org/drawingml/2006/main" l="0" t="16418" r="0" b="16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209800"/>
            <a:ext cx="2552700" cy="17145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23B72-92DE-4497-B41A-94D758B4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8E06A-51FB-49B6-B2DF-3223EA9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10075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Volvemos a encontrarnos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AB0DB-34F5-4E08-B079-A04AE5F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0820400" cy="704850"/>
          </a:xfrm>
          <a:prstGeom xmlns:a="http://schemas.openxmlformats.org/drawingml/2006/main" prst="roundRect">
            <a:avLst>
              <a:gd name="adj" fmla="val 21622"/>
            </a:avLst>
          </a:prstGeom>
          <a:gradFill xmlns:a="http://schemas.openxmlformats.org/drawingml/2006/main">
            <a:gsLst>
              <a:gs pos="0">
                <a:srgbClr val="6840A8"/>
              </a:gs>
              <a:gs pos="46000">
                <a:srgbClr val="E63B7A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A08AE-673F-42F6-BC57-CE0970D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32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Cierre: “Hay lugares a los que uno no regresa. Hay lugares que vuelven a llamarnos.” · ES TRADICIÓN</a:t>
            </a:r>
          </a:p>
        </p:txBody>
      </p:sp>
    </p:spTree>
    <p:extLst>
      <p:ext uri="{BB962C8B-B14F-4D97-AF65-F5344CB8AC3E}">
        <p14:creationId xmlns:p14="http://schemas.microsoft.com/office/powerpoint/2010/main" val="203982448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E7D09-AAC6-4AE6-9CAC-B17DEC74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00B8B0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AC555-EF71-49C6-9C5B-BA6A34C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72E6E-B377-4267-BA34-2775E68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A9A06-4C13-40A8-990D-3B7340F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0EA80-2F83-438A-B5C8-2D06A7E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000CE-DC93-419D-9579-B304B6D2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76E8F-990D-4FFD-91D0-81D84BE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771EA-F0CF-45E9-8E9D-59BB371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77FC3-0117-4F05-A4CD-67CBB6BC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08267-05E6-44A9-8328-315D24C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0838B-9D89-4418-B44D-F5507FD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FBF40-8902-4F80-9AB4-5368D78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PIEZA HERO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1ED72-0D4C-453F-909B-60FABD1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HACER FERIA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2CD9D-D164-467A-97C2-1CD056D0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El comercio vuelve a ser protagonista de la experiencia, no relleno entre conciertos.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2B994-83BC-4F1B-AD8E-5329CF3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C556E-C41B-4D79-AC99-DF5F4853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43F5C-D952-473C-B2D9-A3E17684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0cc2db33e4714"/>
          <a:srcRect xmlns:a="http://schemas.openxmlformats.org/drawingml/2006/main" l="0" t="1068" r="0" b="1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0750"/>
            <a:ext cx="4381500" cy="285750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C7AF8-2AAC-4C77-9588-DB52D9B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5981700" cy="2895600"/>
          </a:xfrm>
          <a:prstGeom xmlns:a="http://schemas.openxmlformats.org/drawingml/2006/main" prst="roundRect">
            <a:avLst>
              <a:gd name="adj" fmla="val 5921"/>
            </a:avLst>
          </a:prstGeom>
          <a:gradFill xmlns:a="http://schemas.openxmlformats.org/drawingml/2006/main">
            <a:gsLst>
              <a:gs pos="0">
                <a:srgbClr val="6840A8">
                  <a:alpha val="52000"/>
                </a:srgbClr>
              </a:gs>
              <a:gs pos="58000">
                <a:srgbClr val="E63B7A">
                  <a:alpha val="36000"/>
                </a:srgbClr>
              </a:gs>
              <a:gs pos="100000">
                <a:srgbClr val="F47B20">
                  <a:alpha val="2400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00B8B0">
                <a:alpha val="4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53D2A-C088-41DD-A43A-9D69091F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Estructura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A95C8-F210-4425-BC3D-8C12EF6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1. Una mano que crea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2. Una persona que descubre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3. Un objeto con historia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4. Una compra que se comparte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5. Una ruta que invita a seguir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2CE1D-BCE6-4468-A4FC-593C04D0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CTA: “Ven a hacer feria. Sigue la Ruta ES TRADICIÓN.”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64288-0E90-4968-98F2-0F488BAE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La meta creativa: que la feria comercial se vea viva, diversa y deseable por sí misma.</a:t>
            </a:r>
          </a:p>
        </p:txBody>
      </p:sp>
    </p:spTree>
    <p:extLst>
      <p:ext uri="{BB962C8B-B14F-4D97-AF65-F5344CB8AC3E}">
        <p14:creationId xmlns:p14="http://schemas.microsoft.com/office/powerpoint/2010/main" val="9384799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D5DEF-7C72-4442-B4E4-A755C61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3556C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C60F5-B413-4C65-9C7E-42365167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DB8EA-6C7D-4431-988F-A518E4D6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ACABD-D702-4698-83B7-10C9882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7591D-2EDE-41A3-B192-8DA6371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C9992-400D-4674-81F5-2AB965A2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B91D-04CC-4798-9789-85F7E66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6C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7EF0F-F733-4857-95BD-82FD9AD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D0931-0888-4727-904D-359238FD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A6BA7-FB82-413B-9C8E-5BAEE52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F9331-9B21-430C-ACCA-5226F0B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DCFEB-3F33-4C64-A929-3101FA3D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PIEZA HERO 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48023-5372-4E83-97DD-3033321D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 CANCIÓN QUE VUELVE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35F82-1552-4459-A6D7-6E9BBC8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música funciona cuando activa una memoria colectiva y desemboca en una experiencia presente.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30DBF-2BDB-437B-B573-586FB6D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D88F5-BFF9-44E3-AFAE-C64B7A6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B3D98-C3F6-4D94-86B6-964BFEC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30aca5b9444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3333750" cy="3333750"/>
          </a:xfrm>
          <a:prstGeom xmlns:a="http://schemas.openxmlformats.org/drawingml/2006/main" prst="roundRect">
            <a:avLst>
              <a:gd name="adj" fmla="val 514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64FA2-4A66-4B63-A11C-1B1AA8A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42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0A708-C11F-40E8-B581-259BE139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D69BC-60B4-4F13-92B2-8CCA8B4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Primera mitad · recuerdo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460E4-76F1-4EB0-853B-D344590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32575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voz o instrumento aislado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archivo de años anteriores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planos largos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texto breve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“Hay canciones que uno no vuelve a escuchar. Vuelven a encontrarlo.”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7E330-11BF-47AD-B759-C192D05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6766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A3D40-65F0-4FF8-8F3C-063C5CF0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B28C1-FE4C-4504-ACED-F4DC571E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Segunda mitad · presente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83354-777F-42C7-B933-A8D26953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5052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banda completa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gente cantando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movimiento y sonrisas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fecha/venta solo al final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La emoción se convierte en decisión: “Este año, volvemos.”</a:t>
            </a:r>
          </a:p>
        </p:txBody>
      </p:sp>
    </p:spTree>
    <p:extLst>
      <p:ext uri="{BB962C8B-B14F-4D97-AF65-F5344CB8AC3E}">
        <p14:creationId xmlns:p14="http://schemas.microsoft.com/office/powerpoint/2010/main" val="164199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902C97-4ABA-440D-85EB-7D1A58C3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6840A8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149B9-5CD0-4671-A10D-17372C2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ADEA9-7334-47C7-B39E-F8F4F064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C75A-A212-430B-888D-BF497DB1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624B5-C723-4EE3-8DD4-C896660C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E7875-FDE3-40C0-B7EA-1BE4E7A0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C9113-6BF9-4F2C-9579-437E8127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3C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88C1E-E881-4353-AD81-0156842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0404-7165-4377-9EB6-A87C5BB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C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DA092-CB51-4D90-8CAD-7110988E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05A3C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05A3C"/>
                </a:solidFill>
                <a:latin typeface="DIN Condensed"/>
                <a:ea typeface="DIN Condensed"/>
                <a:cs typeface="DIN Condensed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3A7EE-9270-40EF-AA8A-509284A2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1229F-BD6E-479F-9C31-B7548B46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SISTEMA DE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6D16A-F10F-4028-A7B0-4EFD08B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Cinco pilares que trabajan juntos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B3613-6CCE-4FD3-B844-E5C9D756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Ningún pilar debe ocupar por sí solo toda la conversación.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20BB5-719E-4A10-BE2E-ABB99ED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A3C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B70A6-3CD0-4EEC-9C1E-C745A60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57197-D65C-4F78-97FE-126E6D82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BEEED-994A-4E8B-89DB-C0B2C06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A2895-3219-4993-9851-609E0FE3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B303F-1F47-493A-9A13-218F6B4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archivo · testimonios · rituales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024BD-9280-46D2-93E8-A55EF35D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635AB-40BC-4D95-B325-06296C2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ED51B-1FCD-496C-A2F4-16D51310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EAB1F-DF18-489A-A446-53875FE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433F2-7DF5-48AF-B94C-0303CEF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EXPERIENCIA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CC31E-606A-452E-8B4E-D514D1E9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rutas · comida · familia · feria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6BC9D1-4A7F-46DE-9EC9-227504C5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C0C29-61DA-449A-A9D1-3FA0B38E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DESEAR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6604A-7C40-476B-A92F-688D76EE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C6C19-C166-423B-8102-6328E70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D0180-CC14-4B7A-BF26-3FFF5A6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PROGRAMACIÓN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BA117-4AA9-41E5-B5CC-FE6637DE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revelaciones · momentos · agenda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9EF9AF-314B-44AA-B0DB-77D221C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AD4BA-1923-463F-B176-1FC07E6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ELEGIR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4B620F-9DD6-4F5A-B63F-5F86713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710E4-0520-42A2-BD75-808E9CD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172D0C-CEB0-4F69-B3E2-27EC4A2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CONFIANZA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B91A06-9F72-4FBE-BF4C-4092811B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acceso · mapa · precio · seguridad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ABE942-B422-4951-A543-3638D805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33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92D2E-3668-4E3A-BA40-9156895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81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DECIDIR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B73D0C-5DE4-4F8B-8E3B-CF39838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98BF84-FD81-4C70-AA2C-36B62D18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2325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79EA62-5E19-42DA-A564-CBDFD71F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COMUNIDAD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69533A-99C0-4C86-A3D1-6C32619F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62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creadores · visitantes · comercios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137ADA-1ADF-4D63-9B8F-61960DAA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959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BAD4AA-07E0-4E19-8E14-6A1A5862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43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</p:spTree>
    <p:extLst>
      <p:ext uri="{BB962C8B-B14F-4D97-AF65-F5344CB8AC3E}">
        <p14:creationId xmlns:p14="http://schemas.microsoft.com/office/powerpoint/2010/main" val="36555501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003437-48F2-4632-A12C-1BFB321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E63B7A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075F-4985-4FA2-B2AE-5F5FCB85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10028-6E73-4C23-BE81-F27E4585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AF83-CF5F-4823-A49E-D5111F8A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F1815-59AF-48DA-B314-99A249E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4B876-BDAE-4AD9-B38F-C93649BF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32B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47D43-FF7F-45A3-8FFC-B14A3FD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CBA7C-80D5-4DE4-8413-18D95D22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E3568-8912-4C08-8C9C-222BA7B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1E148-23E1-4423-9F5F-1D203325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8237A-9D2E-4C98-A859-BA013C3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21F7-4883-4C83-A1A5-0A97D79A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FORMATOS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74D0F-40D5-4FD3-9A77-980212A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Una idea, múltiples superficies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2DCA0-9B4B-472B-8E28-D4C53B4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Diseñar desde video vertical y producir un sistema, no archivos sueltos.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E20D6-D96F-4A3F-B14C-D78CC8F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7B32B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DAC71-B156-48E2-AE96-5BF8B7EB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21161-5DE6-49CA-ABD5-149CF2D0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2A27E-F139-404C-A511-B8BF070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20B24"/>
              </a:gs>
              <a:gs pos="62000">
                <a:srgbClr val="6840A8"/>
              </a:gs>
              <a:gs pos="100000">
                <a:srgbClr val="E63B7A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7F3AF8-3DA6-4056-A085-A92EB97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69F34-8869-46CF-9C4D-1675028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REEL / SHORT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2B98E-5D75-4EF8-A79B-B23429A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Idea emocional o 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DE110-CEBE-4ECE-AA22-0CAB5614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1524000" cy="1952625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20B24"/>
              </a:gs>
              <a:gs pos="62000">
                <a:srgbClr val="E63B7A"/>
              </a:gs>
              <a:gs pos="100000">
                <a:srgbClr val="F47B20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4D9FA-80B2-459F-AD77-8E30F4C1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574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4:5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5AFBC-217E-4A7B-8AD4-E86ED81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FEED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F59F3-DCFC-4ED4-9EEF-E2B2D244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Promesa + información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137A8-E382-471F-B004-9ED76313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524000" cy="17145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20B24"/>
              </a:gs>
              <a:gs pos="62000">
                <a:srgbClr val="F47B20"/>
              </a:gs>
              <a:gs pos="100000">
                <a:srgbClr val="F7B32B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F16C0-A657-440D-B83E-88A031E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1:1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7E62B-91C6-41CF-8650-598B393D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ARCHIVO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662210-1F41-4B9C-B093-9976A7E4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Retrato / memoria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91CB8-A7ED-4BD0-BDAF-7CAB6DCB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1524000" cy="219075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20B24"/>
              </a:gs>
              <a:gs pos="62000">
                <a:srgbClr val="00B8B0"/>
              </a:gs>
              <a:gs pos="100000">
                <a:srgbClr val="3556C8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5F494-561A-4528-83C5-1C5EC5F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19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9:16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211E2-0645-4BB0-8388-9877588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0D1BD-4954-4ED7-8237-27B2F37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Secuencia + acción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7914A-A20D-4F60-B3C7-CD138EF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524000" cy="1428750"/>
          </a:xfrm>
          <a:prstGeom xmlns:a="http://schemas.openxmlformats.org/drawingml/2006/main" prst="roundRect">
            <a:avLst>
              <a:gd name="adj" fmla="val 10667"/>
            </a:avLst>
          </a:prstGeom>
          <a:gradFill xmlns:a="http://schemas.openxmlformats.org/drawingml/2006/main">
            <a:gsLst>
              <a:gs pos="0">
                <a:srgbClr val="120B24"/>
              </a:gs>
              <a:gs pos="62000">
                <a:srgbClr val="3556C8"/>
              </a:gs>
              <a:gs pos="100000">
                <a:srgbClr val="6840A8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54AB8-A9C9-4F83-870C-0D90A82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16:9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37773-B038-4D5B-A4FC-37B04C76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291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PANTALLA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EF9FDE-3788-42D5-89BF-0B1785B1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10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Evento / prensa / sala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D36709-401B-46EB-9EE0-8031259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Master mínimo por concepto: 1 video principal · 3 cortes · 1 portada · 1 carrusel · 3 stories · subtítulos · versión sin audio.</a:t>
            </a:r>
          </a:p>
        </p:txBody>
      </p:sp>
    </p:spTree>
    <p:extLst>
      <p:ext uri="{BB962C8B-B14F-4D97-AF65-F5344CB8AC3E}">
        <p14:creationId xmlns:p14="http://schemas.microsoft.com/office/powerpoint/2010/main" val="54577316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9974E-2F00-453F-B7AA-A6AC977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3556C8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17369-A5E6-42C3-9D17-D7177E71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044E7-E9DC-4BF9-B4C6-BA7A22C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06B2-E2B2-49B9-8286-3925920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922D8-78EA-4C9A-812E-FF18C4D9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A05BC-AAF6-4831-BBDF-5C6C109D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56C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6F307-CEFD-4830-A866-A9A8F73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8B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8042B-5E6E-4D95-A870-78503E1F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F51E-7FC2-43DB-B8A0-4C94C005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90FBF-3282-419A-85F2-E71A186C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556C8">
                  <a:alpha val="8000"/>
                </a:srgbClr>
              </a:gs>
              <a:gs pos="72000">
                <a:srgbClr val="3556C8">
                  <a:alpha val="62000"/>
                </a:srgbClr>
              </a:gs>
              <a:gs pos="100000">
                <a:srgbClr val="00B8B0">
                  <a:alpha val="7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3019D-9246-46E6-AD95-A7487C3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54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150" b="1" i="0">
                <a:solidFill>
                  <a:srgbClr val="FFFCF5">
                    <a:alpha val="16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9150" b="1" i="0">
                <a:solidFill>
                  <a:srgbClr val="FFFCF5">
                    <a:alpha val="16000"/>
                  </a:srgbClr>
                </a:solidFill>
                <a:latin typeface="DIN Condensed"/>
                <a:ea typeface="DIN Condensed"/>
                <a:cs typeface="DIN Condensed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EAF08-0208-47E3-8942-7BAD5BF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B8B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1312-5986-45A5-9BE8-BEB6F78D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CALENDARIO MAESTRO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38EE8-492E-420D-AD16-C02EB9F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6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6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Diez semanas para hacer que la tradición vuelva a sentirse.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C861F-3EA5-4528-BFF8-F1C56F5A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De 25 de agosto al 2 de noviembre · supuesto interno de planificación.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A339D-9ECE-4596-91F5-3132C1C1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B8B0">
                <a:alpha val="58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1EF4E-C953-413D-A82E-63B5F5FE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18FB7-9FEB-4432-9250-C7E4A0B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57508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BC5245-1722-403F-9C22-ACCC14AE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3187D-1260-49AB-8BDE-4B6722C2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D45A-F0B6-45FA-9B51-45C4E11C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123CC-3B1D-46F1-986E-63E8B2B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D84FA-8E36-4CF7-9361-364A5697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C0B5F-6237-480E-B00C-D83553B4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F473A-304B-4750-8713-CA422FD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28775-8EB2-444D-8779-0F8DCFB8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AB667-F6C3-4B6C-A31A-A03F57B5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7C414-E18B-4D5F-89B0-CC924A59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F47B20"/>
              </a:gs>
              <a:gs pos="100000">
                <a:srgbClr val="F47B20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CAE35-FF45-44AC-856A-D372D2E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74B9B-4B3C-44CF-8D5B-20ACE98C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AC8FB-5B0B-492D-8812-F3CF68D0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335DA-1D39-4630-B3A7-1079FFD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25–30 AGO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64BDF-5DE1-4F8F-A19E-C626BB0F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C4B08-FA28-4A30-BE97-D773545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El equipo puede explicar la misma idea en una frase.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B16FD-B045-4517-BF14-C7380E9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3A107-C939-402A-985F-70622B9C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540C7-E077-41ED-8829-1662C5C3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Aprobación cultural, marca, operación y dirección.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D35E-EC32-4A77-96DC-487984F2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SEMANA 01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58974-A8B9-4EAB-A1CC-7D426ADD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Alinear antes de publicar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05318-4E85-434D-99B4-FA2410F8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expectativa empieza dentro del equipo: una promesa, una voz y una ruta de aprobación.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589E1-5A68-4788-929D-15739ED1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47B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5C403-C59A-4072-BBBF-CF75B63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5A983-2D16-4650-B749-DE67C1A4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aprobar ES TRADICIÓN y su jerarquía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inventariar archivo por emociones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elegir 12–16 historias humanas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definir permisos y responsables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cerrar shot list de grabación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EABEF-C5D0-493B-B859-358E2B47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55368-207C-4DD0-B94F-46A6D7F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Biblia creativa + archivo curado + tablero de producción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4EFD6-324F-4037-ACDB-CE5DDBF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A67A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AD744-2EB1-46D3-8EEB-0FE4B80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ABB84-EE92-4531-B04D-7D1E6BC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6079786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AD0966-781A-435D-935D-E9E3850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6840A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53D37-3A48-4601-96C6-E0019FD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79163-2DC4-4FC8-B861-EA49181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F814B-9F75-4F2C-9D79-C66A7502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7401-D0BF-430B-B55C-4F1CCB8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D410-4EFC-40F9-910E-0F56AA57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5A3C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F746C-DF67-40F0-9F88-5F3076D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40A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93B38-700C-419B-A2F9-CCD73B11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57D3C-2564-40B0-8CAE-DF4D85C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A660A-BC52-4B38-9E26-F69A2263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7B164D"/>
              </a:gs>
              <a:gs pos="100000">
                <a:srgbClr val="6840A8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3DA7A-0DA2-4830-836A-EA24F428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18243-2388-4ACA-9104-AFF7862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F78FB-B5F7-4290-BE95-A1578AF3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FFF97-9BB5-416A-A8A1-CF42948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31 AGO–6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3A5DE-EDF9-41BE-8203-3414FA5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7CE93-95EE-43B7-81C4-7A915EA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Comentarios que cuentan recuerdos, no solo preguntan por artistas.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F6F2C-0A1D-43F7-9441-62149B15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468FE-F6D0-4A35-AF57-82A4D309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A005C-2DCB-4957-90D7-3C937D2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Moderación activa; no confirmar datos bajo embargo.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354EE-F6AC-4E43-8AF7-53B9FA96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SEMANA 02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90332-FD44-4DED-8E69-DA3301E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Lanzar la idea, no el cartel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A9609-D2E0-491F-847F-CD819526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Primero debe sentirse que algo propio vuelve.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139FB-36B6-4861-A4FB-16F5B81D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B1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890333-A70B-41D4-8ED4-73185C97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F731E-9F72-4CD2-88F4-76D450D4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publicar NOS LLAMA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abrir recuerdos: “¿Qué no falta en tu visita?”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microvideos de sonidos, vapor, luces y manos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fotografía editorial de archivo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stories de conversación, no de venta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0EA3F6-8D9A-4128-8F0B-F4482C4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E687E-82A8-49D1-9D82-9DA4A939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Hero 01 + 6 cortes + carrusel manifiesto + conversación guiada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DE166-CFB6-40F3-9B24-32A895DB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A3C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BBBE6-BE17-407C-B405-DCC50ABE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77115-F5CD-4928-89A6-FC5F9B6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8864213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638ED-AEE7-4538-969C-CC10E3F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AAD2-6BEB-4971-AC92-A8BB802F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882BA-2CF8-43A8-BC5A-FFFEF10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30367-D290-4B97-A965-FA8BB49D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00D69-CC90-4964-A649-B8FD2EFC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3856-9B16-4E55-BA55-8138B2DC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94A43-7E00-4111-A783-27283B16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B2B3A-6F34-489D-B0A1-0999D7B0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4465C-629B-46B7-B52C-156CDFA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193A1-C6B4-40DB-ABB7-9158255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24A67A"/>
              </a:gs>
              <a:gs pos="100000">
                <a:srgbClr val="F47B20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566C-1AE9-455A-8B19-0F60602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5DABA-CF78-420B-8186-76ED2039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4FBFE-1DC7-4D1A-8822-8E7D0FD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D9942-8833-4CA0-B72A-5D49E4BE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7–13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D7844-BD4E-4764-81D3-0B4D3EEF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FED85-0FF7-49E3-A507-E59A5CBE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Historias compartidas, guardados y postulaciones válidas.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76423-96E7-4881-9A4C-307369B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A24C6-1E8E-4B5B-A5ED-0B05610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E95ED-1612-4478-BF42-53F636AF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Bases, jurado, derechos, seguridad y voto propio verificable.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05D49-53BB-4111-AF0F-DBD8753B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SEMANA 03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C65D4-661C-4833-A61A-0E04FA88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Convertir memoria en comunidad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E446C-E9BA-48E0-A49E-B64E53FD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gente comienza a verse dentro de la historia.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A38E7-5247-4EDB-9B09-6818E05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4A6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3787A-B450-496A-84FD-1D37D6E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E68311-ACFF-4A16-A005-F7954B8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serie “La primera vez que fui”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archivo por generaciones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abrir convocatoria Camino al Megaescenario, si se aprueba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mostrar feria, comida y oficios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seleccionar testimonios verificables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3DE0B-55C9-426C-85F9-7B5B4AE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66913-7BF4-4713-9BF3-7861C66F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3 retratos · 2 reels de archivo · 1 pieza de participación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D3836-C8F9-4D1D-9AB1-A9E38D8B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AA5FB3-95FF-4674-AC83-7394CF70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E031C-63D8-44CD-A72D-BD1BC71B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201489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68FA0-2230-47A5-8F14-7F58648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E63B7A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F3A6E-F6C7-412D-8EB1-CFD88976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D292B-E2FB-4589-8434-EF86681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CC77E-1D44-483C-8AEA-69F86BBC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CD5CF-8675-411E-AC54-B7CF6388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6BDE0-0B00-47D5-95AD-A85649A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E49C8-7A59-4E5D-A1A9-20A05F3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5ED6F-C3E5-45FE-A60A-219A162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A22E9-B2F7-4B1D-AD33-6EA78A8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BA4AE-8D6C-408D-AE20-8874A8E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E63B7A"/>
              </a:gs>
              <a:gs pos="100000">
                <a:srgbClr val="E63B7A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E1684-4025-46B5-B7C7-3151B80F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07759-43FC-476C-85F5-2CA4CA80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23EB-5B15-4939-85F0-E6E0AB8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4A2C-CD28-460C-8A7E-EF2D4B69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14–20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E4D86-0BDC-4117-B31A-59E315DA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AEE15-3C70-40AC-BE32-B8C184C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Compra real de prueba y atención que responde sin fricción.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95690-20D9-44EA-9007-402A35A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66F82-4835-4476-A3EC-84E6BA1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E8E19-3488-456A-B0CC-F10AE4F0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Contrato, grafía, día, precio, capacidad, derechos, destino seguro y compra de prueba.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A08FB-0BE2-4FD9-B007-556DE56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SEMANA 04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C5C0D-AE62-45B3-A654-837B2FF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Abrir venta con confianza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57732-4173-4409-A7CA-AB85348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tercera semana de septiembre es una ventana de lanzamiento, no una obligación ciega.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0DC06-2D43-4870-AED9-154E5A33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F3D5A-A780-4A75-A003-5B41A2B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8D92F-D139-41D9-A313-096BE2D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proponer apertura desde el 17 SEP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revelar la primera razón de asistencia solo si está aprobada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explicar producto, condiciones y canal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publicar tutorial de compra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activar preguntas frecuentes y soporte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44385-1105-4713-8A46-9552C9ED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149E9-A11C-410B-9359-BC5C9598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Lanzamiento de venta + tutorial + pieza de confianza + FAQ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D609A6-6C35-4BD6-A59F-DAF91749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B8B0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E5D39-349E-46DA-8B70-B7D0C78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46484-05F3-4692-A924-F0D58554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590165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3D74A1-6D91-4AC3-8D21-ECE1BB2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3556C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44730-9DC8-42F5-A368-08E31180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215A-2FCC-45E0-A80B-C880DD4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D85C1-5C1B-4320-A375-CBDDE7B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B2B9B-0675-4680-93ED-D3BCC72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67B0B-5118-4E94-8FE6-52273CE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534D-E757-4CDD-ACD3-1402A125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6C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53885-1BA2-4E8F-952F-0A90B29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57A21-A17D-4E6F-85E2-BBBD2A7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4E955-7ACE-4AA1-824E-FC200FFB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F7B32B"/>
              </a:gs>
              <a:gs pos="100000">
                <a:srgbClr val="3556C8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0F2D1-087F-4DEC-AA1D-1580E332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3CE8E-E9AF-451F-9E24-64B10859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CF0F7-BEB8-411D-84E7-6CC71BC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69346-BD32-4EE1-B4B4-98E9C39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21–27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5C4A8-7C60-464E-BE9D-D6FD14EC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367D6-8053-48A5-BA40-53A5A2C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Testimonios identificables, historias completas y evidencia conciliada.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DA196-4E86-47D6-BE28-8DF6FA4F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79BCF-E07F-4D09-9F88-47050BEB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BA9CA-32F6-4FDF-853C-C77051BF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Criterio de selección, consentimiento, privacidad y no favoritismo.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6894B-4612-4702-821B-A8A50EB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SEMANA 05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7896E-2F96-436D-9DB0-824BF79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Construir prueba social verdadera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A26FA-674A-4248-A4CF-0E28959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emoción gana credibilidad cuando personas reales cuentan por qué regresan.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B5D6A-0084-4F4D-9363-9FC3877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2EEDE-2812-4EAA-A884-CCB6E6D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36757-12A1-49AA-9A4C-470F54A7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serie “Quienes siempre vuelven”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reconocer 4–6 visitantes frecuentes, con evidencia y consentimiento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segunda revelación validada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mostrar primeras rutas de feria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publicar hitos reales de venta, si existen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E82A8-8D62-4AC6-9BD1-93710B3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A7A1E3-F1CC-4228-A8FA-2A4BC9C3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Microdocumental coral + retratos + ruta 01 + actualización real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5941F-3149-48E3-83F9-A03E8E27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EE6A7-9754-45E4-8D18-57AA74F9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AC23A-E4FE-4FD7-87E8-EAB79EB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7991004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EDD7F3-5D6F-4D82-97B2-0F8CB6B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05A3C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FDDE5-F48F-434D-A173-7E17EC51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6AC04-03AF-42AB-9876-94B74CC7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3BAD9-3296-4F5D-AA98-FCCAE495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5E36B-A625-4EE9-B304-60A79362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21625-9CA8-49C2-80D2-B04FE6CE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93901-1E93-4683-9680-17070E4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3C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75E6C-A049-4AF4-BE43-9557BCBC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A163A-128D-4BAB-A4B7-5B3B3140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C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7C38B-68E9-4B0B-8009-87D0C1C1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F47B20"/>
              </a:gs>
              <a:gs pos="100000">
                <a:srgbClr val="F05A3C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99AE3-B6CF-4804-84B2-0FF00BAC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E5B74-8A09-4AEF-92F8-9D9CFF42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DD889-6E15-4438-AA5D-521CBDD3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70F34-1B0A-4390-906E-7A0C30D5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28 SEP–4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4A2F5-9355-479C-AC47-2C815E35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2BF13-ACF2-4D00-897C-C639B03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La feria se entiende como plan completo y no como sala de espera del show.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BE67A-D510-4AE8-80E6-6A05A968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84120-EA5F-4311-98BF-D41B4FA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A57E8-1870-47EA-8E39-385E602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Programación, mapa, servicios y parqueaderos validados por sus frentes dueños.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BC90C-B485-4A35-A627-4E30E4B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SEMANA 06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84E34-169D-4190-8B0D-FEB9E8C5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Hacer visible la experiencia completa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F3588-4EF2-48A5-9211-CA87349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persona debe poder imaginar su día antes de ver la agenda completa.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07C3D-4340-4D7E-B750-607BDDF6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47B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D7696-90F9-42B2-80A3-1EF105A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EE1A5-7E50-4429-B5F6-068CCDB9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revelar capítulos de los cinco días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lanzar Hacer Feria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mostrar comida, compras, experiencias y familia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introducir la ampliación de zonas de estacionamiento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teaser de la guía móvil y rutas por intereses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BAEF3-6323-4667-ABB5-F31F8AB0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C970F-773C-47CA-B132-EE44F073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Mapa narrativo de cinco días + Hero 02 + teaser de guía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4B356-CA97-4871-AC6B-4A0A45D9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E39FE-30BC-4BD6-AE39-948CA8E4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D5BBD-5236-4467-AD4F-F116A933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92741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63D50-168F-47A0-8323-8C956981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E63B7A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971B9-6D9E-40DF-B7EA-E6A67150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4B59D-363C-41D4-85AA-2B0459A4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13CD-0A7A-47D8-9A31-CEBE6ED5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97B09-D98C-40CE-82A3-F5A3AF99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8594-54F8-437E-B915-F3ECB634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32B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77FFE-1F8F-4FA3-8EAC-345B8353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2CF61-5D99-41A0-BC3F-0DE6A478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030B8-183E-4381-AD29-96F8A4B7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06B8E-4C66-46E0-B515-06F493A7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7B164D"/>
              </a:gs>
              <a:gs pos="100000">
                <a:srgbClr val="E63B7A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9F102-DB5A-4CF1-8E81-15F66D22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E22CF-CD49-48F6-A7C8-5847F53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D6911-72AA-406D-AE5C-B416CA1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DEA23-EAB9-4F91-BA4C-FB9621DD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5–11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338EB-C853-4913-AE52-FC082EEF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045B8-6528-4997-8DA6-45E8E52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Guardados, compartidos y avance del recorrido de compra.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5CFB9-8286-4BA7-BD81-04F55A85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85342-3B33-4CFA-ABF1-46E51F2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B1357-2C9A-4A69-993F-9219B459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Derechos musicales, activos aprobados y promesas operativas conciliadas.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176AE-D80C-4B40-A38E-A9BC346D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SEMANA 07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1E5F1-E577-4D48-B74B-4F7683C9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Profundizar el deseo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E5EC1-D02A-42CA-A23F-D110FDE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Cada contenido debe responder: ¿qué voy a vivir y con quién quiero compartirlo?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70DC8-801D-4ACB-8F31-284B598B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7B1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CA83D-EF76-463F-85CA-2FD174C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86E35-ABDB-4A9C-8CE1-0D25F94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La Canción que Vuelve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historias por parejas, familias y grupos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mostrar ambiente nocturno y feria diurna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revelar nuevas razones aprobadas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retargeting con prueba, no repetición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4FD1F-AA5D-4171-A129-B52D5B0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58241-D875-4EBD-A580-8999642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Hero 03 + 4 itinerarios emocionales + piezas de prueba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1076FC-9D72-489D-A23F-6270941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7B32B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76422-1C84-474F-86A5-75609CC2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5223D-E6BD-4E56-AD28-41BBDD7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3236659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AF870A-9247-4C29-9C6C-9F774D80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00B8B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D4CDE-FC0E-4119-B488-1FD69DA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B7292-79D5-4B61-818D-15C6DE3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99364-6152-4EAD-88B9-0DD87A8C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D7F15-11FF-4CC8-BA1C-4E90667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1956B-73CA-48A5-8F2D-CF682F9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56C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EC216-862F-4066-AC2B-5C268D0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8B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C24EB-C70F-4ACA-AC07-C70C4D6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1D954-BDF7-4A26-AAFE-EC7DE64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D6CB5-BAE7-4546-B523-73BDA7F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24A67A"/>
              </a:gs>
              <a:gs pos="100000">
                <a:srgbClr val="00B8B0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FDFC8-23B0-4268-9A61-93C3DB4F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CA1F0-FF39-4A55-B6A9-147DBB57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62BE2-C049-410C-A8D8-D6D34832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B90CD-89E5-4126-B5FA-021E63BC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12–18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86E9B-0356-47A8-A01E-B023A66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1784F-C6C8-4765-8CD1-398C6355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Personas que guardan su itinerario y completan compra o plan de visita.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709C2-3AC9-43CD-A8FD-7D8D4FAE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2CFAA-0369-434E-A19F-62DB4734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5B6E4-7DEE-4D2D-A06F-4DF96275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Horarios, capacidad real, entradas/salidas, accesos y señalética ratificados.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FBD0E-18A1-4B5A-98E2-136EE5C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SEMANA 08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04CAF-4560-49E1-9BBB-677E4F8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Ayudar a elegir el día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1C385-ABFA-4770-BE8C-56E168DF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campaña cambia de “quiero ir” a “ya sé cuándo y cómo”.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816F4-16F6-48D8-AE2F-C10033A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4A6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D1035-B08D-473C-926B-F5F2627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58C8F-8EC6-4C31-8074-A2167B15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agenda por capítulos, no cartel infinito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itinerarios: familiar, feria, música, gastronomía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testimonios de expositores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explicar nuevos parqueaderos, accesos y señalética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contenido de objeciones reales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66EBA-BE99-41F6-ABC2-76D2C53C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A4D8A-39FE-4D9C-BDA8-EDD97832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5 tarjetas de jornada + 4 rutas + guía visual de estacionamiento + FAQ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A015D-6B16-4F62-88B8-1EA9719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6C8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790AD-7A81-4878-8BAB-BAC4C39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701E8-FB1F-4176-B452-1ECDABC3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8576417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9638A-8237-48D4-A483-3A534F0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47B2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A5E0A-002E-4571-93BA-A8B4D68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DF716-78E3-46B6-BD91-F1DC06C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64A0-AB5F-43E2-BD92-55EF8B6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980E-8263-40E9-BC1A-E8C85EF7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1A0DF-3229-449A-8F6A-6A22A50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A0237-3B2C-4CEF-A908-52351D0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7A115-FB97-4CB1-9761-3C231D3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50FD2-7326-4F47-8C15-DDCEE5B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F73BC-DDDC-4240-B3C8-CFF02072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E63B7A"/>
              </a:gs>
              <a:gs pos="100000">
                <a:srgbClr val="F47B20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70BEA-43DB-4FC1-AE07-CF9A6CA7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4943D-C836-4DE3-A4EB-E29513D4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ED180-3924-42E5-A9C2-7F0850E8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698E-4B60-4719-9DC3-F10EABDB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19–25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6C7EE-C926-4E4D-BF68-A7CD85C2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34CBA-B686-4F90-8EB8-54C2360C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Mapa, agenda y rutas se consultan y comparten.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1A5FD-0317-4F7C-9197-FF5037A1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CDB48-9878-4E67-BDC4-97FE6BA5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AD0FA-39A6-42C1-ABA0-19C580D6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Inventario georreferenciado, plano operativo de parqueaderos, QA móvil, contingencia offline y URL segura.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E8240-6DA0-43CE-86B2-52767631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SEMANA 09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C92AB-B1A6-4609-8304-A464E256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Lanzar la guía y reducir incertidumbre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5C6DE-F7D5-44A9-A71D-90940848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mejor innovación es la que ayuda a disfrutar mejor un lugar gigante.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A71D2-7014-45F4-AF76-74907E61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F5FE8-4302-4825-8C86-9B7FB94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BEA36-EFCE-461F-8239-94224D0B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lanzar guía móvil informativa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tutorial de mapa y agenda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ubicar nuevos parqueaderos, accesos y rutas peatonales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contenidos de baños, comida, escenarios y ayuda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recorridos por interés y simulación de día completo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4CB07-D263-4610-B9F8-C9E0B14F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289BD-000A-46E0-8E45-3854EA33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PWA informativa + video demo + QR interno + carrusel de utilidad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4F104-4180-4B22-BAFF-C4501D9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A67A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513B3-4879-41DB-9E30-77715BCA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5BC17-D422-457D-9490-A315125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6894090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994A9D-9C72-412B-86B2-0183ACA6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6840A8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6FD1A-14AF-447A-8863-64B95B2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AA181-86AA-4B4B-B510-FC60077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C096-78CE-4E5F-96E1-9F9F8EB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05B2-D6B6-49E0-A577-7D9E8148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AEA97-81B4-4FBB-8160-050F0F10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05A3C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A859B-6B83-4AAB-9D87-4B5BF43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840A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7C83-E9F5-47C4-BE32-7A23DC7C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F70C0-BD5A-47D4-B218-E270545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F3272-9802-43D0-82E5-BC765FB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290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72000">
                <a:srgbClr val="E84A3A"/>
              </a:gs>
              <a:gs pos="100000">
                <a:srgbClr val="6840A8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1D7F8-CEBD-46BF-B080-CD406C4A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SEMANA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27DA8-2FD9-4F00-AE08-085B84C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"/>
            <a:ext cx="1447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defRPr>
            </a:pPr>
            <a:r>
              <a:rPr sz="7950" b="1" i="0">
                <a:solidFill>
                  <a:srgbClr val="FFFCF5">
                    <a:alpha val="18000"/>
                  </a:srgbClr>
                </a:solidFill>
                <a:latin typeface="DIN Condensed"/>
                <a:ea typeface="DIN Condensed"/>
                <a:cs typeface="DIN Condensed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1F0D3-38D0-46DE-A037-ACF1083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BDB39-E3AD-4E0E-9A57-EEEAD6D0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95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defRPr>
            </a:pPr>
            <a:r>
              <a:rPr sz="2175" b="1" i="0">
                <a:solidFill>
                  <a:srgbClr val="FFFCF5"/>
                </a:solidFill>
                <a:latin typeface="DIN Condensed"/>
                <a:ea typeface="DIN Condensed"/>
                <a:cs typeface="DIN Condensed"/>
              </a:rPr>
              <a:t>26–28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5F27E-DFE6-4BA5-B3A6-5314DB98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PRUEBA QUE MOSTRAMOS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5978C-9CD7-4E06-88E7-6D0F7BD9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Inventario, atención y operación dicen exactamente lo mismo.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6D27B-0C6B-4F37-8873-62BAC4D5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CF5">
                <a:alpha val="3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07FA4-0BAA-407D-AECA-C9CF8E1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GATE ANTES DE SALIR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FBF1E-7CF4-47BA-8D3E-A8B3C63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9150"/>
            <a:ext cx="3009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Corte diario firmado entre entradas, finanzas, marketing y operación.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236ED-92C1-4666-88B6-5E6E40C5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rPr>
              <a:t>SEMANA 10 · PLAN CREATIVO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26D70-1414-439F-9825-FF666BD1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95350"/>
            <a:ext cx="7086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Cerrar la decisión con verdad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EDE95-8029-414B-9999-CFD96B4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701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Urgencia sí; ansiedad fabricada, no.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327D7-EF86-4C17-9BEE-A42CA99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84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FD02E-2C46-41BE-9876-232F4856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rPr>
              <a:t>QUÉ HACEMOS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9D3FA-CEB0-4A42-977C-B9E3B338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934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cuenta regresiva útil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disponibilidad solo con inventario real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clima, accesos, horarios y recomendaciones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historias del montaje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• llamados por día y tipo de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3AA16-8A69-4BED-B787-4EEDFAF5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62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rPr>
              <a:t>ENTREGABLE CLAVE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43764-4059-4111-9D7D-1CCDE65D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102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Paquete último tramo + tablero de disponibilidad conciliado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62F914-1866-4251-AEB3-4CB86C5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A3C">
                <a:alpha val="34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A407E-D424-4E33-9C5E-E60FECC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46550-BEB0-4FAC-8511-C35011F1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5344791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172334-8FE5-4476-9C79-BCC6629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E63B7A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937BD-03DE-474A-976F-12B9565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0BD15-42CE-4CE8-A37F-0D44B25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A3DF5-A8A3-4DC1-A789-2A060C39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C0495-F512-40DB-9D02-299444F2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E3D8F-DEA7-4563-A98E-21343BE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52AF6-548D-4F0C-B89A-FEDF72F8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16C6C-330D-459B-91DB-54029A8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352ED-A4B3-4078-9289-09847DA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1BE4D-8A70-4FDD-8500-4A20081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E38AB-7279-4C7D-94DF-9F8471B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AD89E-57E0-4A4D-A11C-C240636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EN VIVO · 29 OCT–2 NOV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DBC84-AF4C-4F5D-9F9E-58D1986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Cinco días, cinco narrativas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D5B6D-4591-44BB-A374-2C7B675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La cobertura acompaña la experiencia; no convierte el feed en una transmisión interminable.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DB3D9-D002-4447-9334-47FCA8DB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1E3EA-4ABB-480E-80D0-9D17435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8154F-24E3-4574-8DD4-291DCB6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3608-6779-4FF6-962D-B372FF4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9B29E-3388-46D1-A56F-93AE3983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VOLVER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5F69D-DBB7-416D-B975-271FA9C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bienvenida · primeras familias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3ABCE-5B3E-4900-BE1E-C0201D92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364FC-1877-49E8-9D13-B1A6F013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Invitar al Día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97726-7479-493E-A6A3-9DD08E33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FED66-4FCE-4B62-88B1-7324DB7C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D43CA-AAAA-42D1-B1E5-216C2D0B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DESCUBRIR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14936-3A12-4D4D-BE16-C182F75B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feria · rutas · sabores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2DE63-BFD2-4F73-A87D-9D92027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B21FC-5207-4AE9-B086-080D7A2E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86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Invitar al Día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9510E-13CF-4BA2-BD41-B4ADAAE5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72677-5CDD-44E3-B964-3C2B272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D07C5-0B48-403D-904A-2BAB7CC3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CANTAR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BCD67-DB05-4357-8610-4E9F0D4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público · show · energía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83877-65FC-4DB1-AB3C-3E8CD081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DD5F1-D3F7-4AE9-915B-A97A2F2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48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Invitar al Día 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C2B99-F198-42F4-B610-D83AB042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D4C4D-5C5A-4C68-A622-629A3D1B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C7BFB-AA2C-471A-B537-644536F9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COMPARTIR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5C3CD-2294-4629-8FB7-FDECFFDF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96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familia · comodidad · alegría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9A7D2-E55A-45D2-A2BA-FB49B5B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43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5345E-BD79-443E-A711-0571E66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0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Invitar al Día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02CBC6-76E9-46A3-B273-23CA1ED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3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DEAE19-1BBE-4FCB-9F5B-1AADEDF9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92E85A-B6E2-4A41-A798-10AD230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425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RECORDAR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24D02-D46D-4827-A603-C4947B5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8160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gratitud · cierres · comercio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74C896-2D2B-401C-B83C-B23C91C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05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A9D658-3016-421B-8C4C-3523AF2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72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Sembrar 2027</a:t>
            </a:r>
          </a:p>
        </p:txBody>
      </p:sp>
    </p:spTree>
    <p:extLst>
      <p:ext uri="{BB962C8B-B14F-4D97-AF65-F5344CB8AC3E}">
        <p14:creationId xmlns:p14="http://schemas.microsoft.com/office/powerpoint/2010/main" val="187947742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90D0F-6BA4-4381-A0A6-28CE0DA2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E63B7A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EABFA-C17C-4D69-B707-97CEFE9D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56279-AEB0-4F62-8FD2-AB39CD8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9321-9550-49D4-8FA9-B0DF390D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24BCB-9340-4431-9E7C-EEDADAF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78E8B-1294-4D5A-923F-F6630AB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2482C-C46B-4BFA-BBB2-309A8257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4C562-CAB9-47A9-9270-E93CF51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6C126-9B19-45FD-B95D-DD1FF65A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06024-583E-4934-8D88-9672A12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AE572-9484-4E49-BACB-0B667B4D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02A73-1256-4133-8B7A-78A6C2E8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5860F-0635-469A-BA54-EB76819F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El show se muestra desde la gente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164FD-5EB2-4047-B7D8-B5B63C9E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No basta con grabar el escenario: debemos hacer sentir la experiencia de estar ahí.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EE11E-48CF-48A1-9755-94D4C7C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B8B0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985EB-14AE-4D7A-8946-04932903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1AE48-CE02-4778-B7FF-E484563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34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b43056c8848d7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16b10bae1487b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064c3e50d4e64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81f74fa5d4f86"/>
          <a:srcRect xmlns:a="http://schemas.openxmlformats.org/drawingml/2006/main" l="0" t="3358" r="0" b="3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133600"/>
            <a:ext cx="255270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670B3-1A74-4813-BDCB-7631678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0BA8D-6BBB-4CFF-A4AF-593FFA23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C2E64-4E1A-4B9C-A3F6-E9D806B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1 · Escala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7CB86-70C5-4222-9175-59B1958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Plano general: la energía y el lugar.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337D7-182B-45B2-B1F6-102CE17B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8BDA9-FE7A-4946-AFAB-D1FFDB7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63D27F-52C2-482A-AD61-D8774DA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0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2 · Reacción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C6D061-6FB0-4FE9-B5DD-F036BA84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73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Rostros, coro, abrazos, manos y baile.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694DB9-181B-446D-AF75-4ED9D961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A2CE9-B3AB-4C2B-97CA-4635FC14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38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BDEBC-17A4-4DC3-B072-E98B0DD3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2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3 · Detalle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B5590-6099-4B95-A097-D760647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673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Luz, vestuario, instrumento y gesto.</a:t>
            </a:r>
          </a:p>
        </p:txBody>
      </p:sp>
    </p:spTree>
    <p:extLst>
      <p:ext uri="{BB962C8B-B14F-4D97-AF65-F5344CB8AC3E}">
        <p14:creationId xmlns:p14="http://schemas.microsoft.com/office/powerpoint/2010/main" val="32828178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08A8AD-2768-420F-88DF-1838265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F47B20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6CE25-A823-4FC8-ACBB-AA58475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41D4F-13D7-4C07-90BC-42BBD481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7F0DC-FCBC-4A3D-85B2-4207D3D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0BC73-3FAB-4B43-945E-CC48A43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F6719-C6FB-4FC1-9E21-2DA0784D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2A1B6-F003-4CBD-8A8F-F223976B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6C8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17355-B1D0-4A9D-9BCC-31D2E3A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6893-948F-495C-8319-E3525D2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AF6B3-B11E-4371-A342-AA58A33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556C8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3556C8"/>
                </a:solidFill>
                <a:latin typeface="DIN Condensed"/>
                <a:ea typeface="DIN Condensed"/>
                <a:cs typeface="DIN Condensed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5F084-C3F7-4C9B-A38D-B9D27DA2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11486-2458-45FA-8DEF-B1C18A8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GUÍA MÓVIL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61054-CB65-423D-9C53-D2554361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Una brújula para disfrutar un complejo gigante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31081-87E8-48AC-B628-13BE397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Innovación útil, liviana y sin obligar a registrarse.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661A8-E063-4C9E-81DE-7283A59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6C8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D5120-DD58-4D75-BD98-04B9FEE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BA5D1-884A-40AD-96F3-02F124D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43D1E-FB91-43FD-BBC5-40BC20C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009900" cy="3714750"/>
          </a:xfrm>
          <a:prstGeom xmlns:a="http://schemas.openxmlformats.org/drawingml/2006/main" prst="roundRect">
            <a:avLst>
              <a:gd name="adj" fmla="val 10759"/>
            </a:avLst>
          </a:prstGeom>
          <a:solidFill xmlns:a="http://schemas.openxmlformats.org/drawingml/2006/main">
            <a:srgbClr val="F6E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031766-6DEF-4CEE-9AEE-7CB6C740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590800" cy="476250"/>
          </a:xfrm>
          <a:prstGeom xmlns:a="http://schemas.openxmlformats.org/drawingml/2006/main" prst="roundRect">
            <a:avLst>
              <a:gd name="adj" fmla="val 36000"/>
            </a:avLst>
          </a:prstGeom>
          <a:gradFill xmlns:a="http://schemas.openxmlformats.org/drawingml/2006/main">
            <a:gsLst>
              <a:gs pos="0">
                <a:srgbClr val="6840A8"/>
              </a:gs>
              <a:gs pos="58000">
                <a:srgbClr val="E63B7A"/>
              </a:gs>
              <a:gs pos="100000">
                <a:srgbClr val="F47B2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D33F7-4F65-4184-B471-96F2A1AD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66975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31974-F717-452A-9A91-46B64E0F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1575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¿Qué buscas?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658E6-221C-4A16-8916-DA37CF1E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95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7BD96-2237-4057-9340-6D5D61E9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Mapa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0FF98-1D13-4EEF-BDC9-BAB3B6FD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433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47B20">
              <a:alpha val="12000"/>
            </a:srgbClr>
          </a:solidFill>
          <a:ln xmlns:a="http://schemas.openxmlformats.org/drawingml/2006/main" w="95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16524-B77E-4236-AF73-A5CC3D5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671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C782B-FA82-4964-A9F0-B880D384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B8B0">
              <a:alpha val="12000"/>
            </a:srgbClr>
          </a:solidFill>
          <a:ln xmlns:a="http://schemas.openxmlformats.org/drawingml/2006/main" w="95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63BC4-95EC-4EBA-9503-81748E3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Comida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68E31-2751-4D41-B8D5-9945110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56C8">
              <a:alpha val="12000"/>
            </a:srgbClr>
          </a:solidFill>
          <a:ln xmlns:a="http://schemas.openxmlformats.org/drawingml/2006/main" w="9525">
            <a:solidFill>
              <a:srgbClr val="3556C8">
                <a:alpha val="55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EC4FF-7AA4-49CE-A696-E2E8441C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576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Baños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85DEE-5459-4AB9-8AAA-CDE4B7B4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A67A">
              <a:alpha val="12000"/>
            </a:srgbClr>
          </a:solidFill>
          <a:ln xmlns:a="http://schemas.openxmlformats.org/drawingml/2006/main" w="95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57D6D-CB27-4733-9768-28C7A85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Parqueo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F0E02-D2B6-46B5-86B4-5439D433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952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6840A8">
              <a:alpha val="12000"/>
            </a:srgbClr>
          </a:solidFill>
          <a:ln xmlns:a="http://schemas.openxmlformats.org/drawingml/2006/main" w="9525">
            <a:solidFill>
              <a:srgbClr val="6840A8">
                <a:alpha val="5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AEF351-F8A4-4FE1-A976-EF07D413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482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Ayuda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B459A-E110-46C8-9380-D9E42AD5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Funciona con señal limitada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B97391-2172-41B0-877E-F6135F4B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3219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>
              <a:alpha val="14000"/>
            </a:srgbClr>
          </a:solidFill>
          <a:ln xmlns:a="http://schemas.openxmlformats.org/drawingml/2006/main" w="9525">
            <a:solidFill>
              <a:srgbClr val="00B8B0">
                <a:alpha val="55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CECFA-C07F-46EB-BA90-8EF28C1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0DCD65-B471-442C-9EA2-9B4E356B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86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SIN BACKEND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BA3BD1-205D-4311-BEE8-B5EB616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PWA estática, rápida y económica.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E6B58-0CEC-4794-8D9D-563558D9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3219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>
              <a:alpha val="14000"/>
            </a:srgbClr>
          </a:solidFill>
          <a:ln xmlns:a="http://schemas.openxmlformats.org/drawingml/2006/main" w="9525">
            <a:solidFill>
              <a:srgbClr val="F47B20">
                <a:alpha val="5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FB8AB7-ECDD-4342-9493-135B77BE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7B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F370D-2483-4DCE-BED6-3A30DDB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SIN CUENTA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7AD04-8618-424C-A1AE-1BFF0BA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Abrir, consultar y seguir disfrutando.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A52633-D4BB-497F-8EF3-89478156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3219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>
              <a:alpha val="14000"/>
            </a:srgbClr>
          </a:solidFill>
          <a:ln xmlns:a="http://schemas.openxmlformats.org/drawingml/2006/main" w="95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BFD167-76EC-49C2-B608-26A5D89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24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006350-FD52-47B9-82BB-30AFF4AC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OFFLINE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308422-757C-4EAF-9252-2EAB51B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Mapa y agenda esencial disponibles.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AA1A38-BBBC-4664-A535-F9450CAF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3219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>
              <a:alpha val="14000"/>
            </a:srgbClr>
          </a:solidFill>
          <a:ln xmlns:a="http://schemas.openxmlformats.org/drawingml/2006/main" w="95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D4B46B-1D07-482E-AD2D-3BD53201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112E14-3A2D-485B-A720-EC60E4B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MEDIBLE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DFC4CE-6D6D-477B-9BBF-E76B7F9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Aperturas, rutas y consultas sin invadir.</a:t>
            </a:r>
          </a:p>
        </p:txBody>
      </p:sp>
    </p:spTree>
    <p:extLst>
      <p:ext uri="{BB962C8B-B14F-4D97-AF65-F5344CB8AC3E}">
        <p14:creationId xmlns:p14="http://schemas.microsoft.com/office/powerpoint/2010/main" val="25623292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36D688-FFC9-41CE-8787-B4E762FE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F05A3C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913C3-385D-4CB5-8634-A254F98E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F151A-52D0-4C0A-A9D2-80E00A78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D99F9-03E1-46E7-961A-C115CE37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6B2DF-8B57-41A8-9BE2-37DA457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F8CEC-B30D-438E-87E5-E4161F1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840A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AC2D-49CD-4468-A2CE-FFADF5E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5A3C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39C61-4A54-44F9-9282-DD94ECB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7058-0DC6-4A89-B591-F2AD119E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5A3C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55257-D26A-4D2A-9E88-186F868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E0789-F9A8-4594-8F9E-DA097F1A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840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21213-FF46-420A-89DA-1F176D6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CONVERSIÓN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15CB7-01AE-4033-8C69-2DBDCC4D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Cómo comunicar demanda sin inventarla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0D665-885A-46C1-9F4E-DDD9A1B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La urgencia es poderosa cuando se puede demostrar.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69D80-ECF2-4092-92C8-9FA2823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55748-1B52-4A8A-A2C4-7A8DE6B2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CE7D9-A647-4E8F-87E4-28FAA51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0717D-585F-4ADD-AB6C-521D6A0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B8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A85D9-B6BD-46E0-887F-6D0065F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/>
          </a:solidFill>
          <a:ln xmlns:a="http://schemas.openxmlformats.org/drawingml/2006/main" w="38100">
            <a:solidFill>
              <a:srgbClr val="00B8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6D2B8-729D-4681-8406-BE2383E0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9573E-0DD0-4212-9E38-6E6CC0FD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Arranque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32041-0E82-451D-8070-24F21DF2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/>
          </a:solidFill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5C03F-7713-43DB-BBC4-9F8A8F9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50%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040EC-CC5C-451E-A0E2-59821B5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Tracción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6F11D-5118-4D6D-8701-4DEBA76E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/>
          </a:solidFill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08747-B910-442B-831C-503CA26E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75%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0E7E69-07DC-48E1-9A0B-AF293D6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Último tramo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87241-783B-4540-88A9-7BCAC4E2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/>
          </a:solidFill>
          <a:ln xmlns:a="http://schemas.openxmlformats.org/drawingml/2006/main" w="38100">
            <a:solidFill>
              <a:srgbClr val="F47B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A3464-796C-4DD3-836D-AC09DFEC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90%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F6795-16DA-47D7-AD45-ADB1245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Quedan pocos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1956D4-D6FC-40B6-833A-D1063FA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38100">
            <a:solidFill>
              <a:srgbClr val="E63B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42C16-8B1B-4BDC-AB37-1FEFD3A3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67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20BAD-2B5B-4E37-A060-53D01669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975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Agotado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860AE-A630-4B1E-B883-82344592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578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A029F-4629-43F5-B473-CA1A049F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SÍ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F7134-0AD6-4AE5-823C-4530686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Inventario conciliado · corte horario · captura de sistema · mensaje exacto.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D016F-CB16-4886-8D93-2A5CAD89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5524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6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BA0E7-8892-4458-85BE-3CA95FF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84A3A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0B7F1D-2D05-40A8-82DE-B0722D3B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B102A"/>
                </a:solidFill>
                <a:latin typeface="Avenir Next"/>
                <a:ea typeface="Avenir Next"/>
                <a:cs typeface="Avenir Next"/>
              </a:rPr>
              <a:t>Falso agotado · contador inventado · presión sin respaldo · escasez ambigua.</a:t>
            </a:r>
          </a:p>
        </p:txBody>
      </p:sp>
    </p:spTree>
    <p:extLst>
      <p:ext uri="{BB962C8B-B14F-4D97-AF65-F5344CB8AC3E}">
        <p14:creationId xmlns:p14="http://schemas.microsoft.com/office/powerpoint/2010/main" val="135524239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C9664F-15D9-4D5C-9D99-A6DDD326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F7B32B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E0185-254F-4564-A7DC-37344F4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74764-6910-475E-92C8-3A96571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D05D7-B8D7-493A-A383-E92CB9F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AE001-B47A-4610-96CE-E0BE3AAC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E5E2A-4107-4DF2-B580-9828CCD1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7B32B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8B32A-4C9D-4BA6-B119-9D37CFA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B7A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4ADDB-11A5-4AE6-9A75-EBA9A1F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86722-D4CD-4BF1-B6C6-A5C1A386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55990-7534-43E7-A1D4-F661854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1CFBE-6B87-4EC9-9EB1-70C8394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E870E-B2A3-4D7B-9566-9F2DF18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B3C66-2CB4-4E23-B2A5-782C46A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Una idea fuerte necesita dueños claros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F29D1-D6B8-4F65-9911-07E814C7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El organigrama 2025 sirve como referencia; las funciones 2026 deben ratificarse.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707ED-5F47-4E52-8C4D-F0ECA9A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3B7A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58367-A42D-4AB6-A37B-180782A8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C5E86-29D5-493D-81F9-53D5FA1D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7D345-2BFB-438E-8D7E-6CED378F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0B8B0">
              <a:alpha val="13000"/>
            </a:srgbClr>
          </a:solidFill>
          <a:ln xmlns:a="http://schemas.openxmlformats.org/drawingml/2006/main" w="9525">
            <a:solidFill>
              <a:srgbClr val="00B8B0">
                <a:alpha val="48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DAA7C-B4F2-4C9C-B389-EFF1C51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FF19A-4AD1-433B-B3F7-C1A4604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DIRECCIÓN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29FD1-C9A6-4410-82D1-4BCDB7B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Aprueba promesa, riesgo y publicación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38677-33BD-4956-A488-38520ED8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63B7A">
              <a:alpha val="13000"/>
            </a:srgbClr>
          </a:solidFill>
          <a:ln xmlns:a="http://schemas.openxmlformats.org/drawingml/2006/main" w="9525">
            <a:solidFill>
              <a:srgbClr val="E63B7A">
                <a:alpha val="48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44380-FF81-41B2-9EFB-0031B37D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87485-26B3-49CC-BEEF-027BAD6E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MARKETING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6AB56-5994-419E-BC3F-4277227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1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Orquesta calendario, pauta y medición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B72A9-DDAB-4A6C-A55A-ABA4A36D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47B20">
              <a:alpha val="13000"/>
            </a:srgbClr>
          </a:solidFill>
          <a:ln xmlns:a="http://schemas.openxmlformats.org/drawingml/2006/main" w="9525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695D9-FD2B-496B-9932-7E5D4E79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E3CE6-6D7C-427B-B084-20BDC40E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CREATIVIDAD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40FAD-9F24-44B9-878C-A5E8880B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Traduce plataforma a diseño y copy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EFC1C-508D-47C8-AA51-4933E26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4A67A">
              <a:alpha val="13000"/>
            </a:srgbClr>
          </a:solidFill>
          <a:ln xmlns:a="http://schemas.openxmlformats.org/drawingml/2006/main" w="9525">
            <a:solidFill>
              <a:srgbClr val="24A67A">
                <a:alpha val="48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016B9-9CFD-49B6-886A-71789C4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358AD-CC2E-405C-AD79-A7FFB7B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AUDIOVISUAL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E3AAE-4F93-4B8E-AEBD-1D7EC887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Produce archivo, rodaje, edición y sonido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4E68B-C901-4BA3-8B31-7975F060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6840A8">
              <a:alpha val="13000"/>
            </a:srgbClr>
          </a:solidFill>
          <a:ln xmlns:a="http://schemas.openxmlformats.org/drawingml/2006/main" w="9525">
            <a:solidFill>
              <a:srgbClr val="6840A8">
                <a:alpha val="48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3ED92-1AC9-4DC8-BC1A-AF8CC291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106D5C-E9DE-4960-8424-77783D1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rPr>
              <a:t>COMUNICACIÓN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586514-84D6-40E3-9027-8D9FBD4A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Prensa, relaciones, comunidad y vocerías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727460-E77A-484D-A6DE-32ACC13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7B32B">
              <a:alpha val="13000"/>
            </a:srgbClr>
          </a:solidFill>
          <a:ln xmlns:a="http://schemas.openxmlformats.org/drawingml/2006/main" w="9525">
            <a:solidFill>
              <a:srgbClr val="F7B32B">
                <a:alpha val="48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9BD83D-9077-48A3-9E1D-8DEC2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1E75E7-F2AF-44CF-8DF3-92286ABB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PRODUCCIÓN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39EEE-8FE6-497C-AB38-25A3F02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Valida que la promesa pueda cumplirse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D3866A-3284-43AB-954A-4CE22AA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05A3C">
              <a:alpha val="13000"/>
            </a:srgbClr>
          </a:solidFill>
          <a:ln xmlns:a="http://schemas.openxmlformats.org/drawingml/2006/main" w="9525">
            <a:solidFill>
              <a:srgbClr val="F05A3C">
                <a:alpha val="48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24BBAC-825C-494A-8FA1-52638E56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60C6C-3E8E-4546-954C-E3482091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05A3C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05A3C"/>
                </a:solidFill>
                <a:latin typeface="Avenir Next"/>
                <a:ea typeface="Avenir Next"/>
                <a:cs typeface="Avenir Next"/>
              </a:rPr>
              <a:t>DATOS / VENTA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CB3692-0CDA-452B-83DB-48E1D0E7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Concilia tracking, inventario y resultados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6E9424-1325-4CF4-8040-4C04209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52197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3556C8">
              <a:alpha val="13000"/>
            </a:srgbClr>
          </a:solidFill>
          <a:ln xmlns:a="http://schemas.openxmlformats.org/drawingml/2006/main" w="9525">
            <a:solidFill>
              <a:srgbClr val="3556C8">
                <a:alpha val="48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067AE-C8B9-4F64-8B84-B79DCD9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762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6B8A50-2E69-4E27-8C04-60E9DB1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3556C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3556C8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E8D185-7FA4-4EAE-8141-11E99B2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Responde y devuelve objeciones al equipo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13E6CC-816F-4CB6-8E73-25F43DB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Regla: nadie publica un dato que pertenece a otro frente sin confirmación del dueño.</a:t>
            </a:r>
          </a:p>
        </p:txBody>
      </p:sp>
    </p:spTree>
    <p:extLst>
      <p:ext uri="{BB962C8B-B14F-4D97-AF65-F5344CB8AC3E}">
        <p14:creationId xmlns:p14="http://schemas.microsoft.com/office/powerpoint/2010/main" val="197616417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A5C893-51DA-4E64-B3F1-E0B91C0E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/>
              </a:gs>
              <a:gs pos="70000">
                <a:srgbClr val="FFFCF5"/>
              </a:gs>
              <a:gs pos="100000">
                <a:srgbClr val="00B8B0">
                  <a:alpha val="10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CEBDA-F228-4A93-93CE-67AC914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04CEB-29A9-4376-833D-89DAF92D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37BA-164F-438B-B177-A98549AC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18AF9-40EE-4A60-A049-34C2912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A09E4-1CB5-42ED-960E-E7564402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556C8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3075E-4152-4A94-88B6-2DB80CD7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8B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D7F8-9B59-47A1-B141-9112886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113F">
                <a:alpha val="13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AAD57-3DE2-43E7-8DF4-F9D03A3E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8B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B2F07-2E49-484C-A9A2-2C10AAC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3556C8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3556C8"/>
                </a:solidFill>
                <a:latin typeface="DIN Condensed"/>
                <a:ea typeface="DIN Condensed"/>
                <a:cs typeface="DIN Condensed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7512E-2597-4D2F-920B-4C4141F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56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69B92-E409-41A0-95B9-7A5AF0F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RITMO DE PRODUCCIÓN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B993A-C35C-4E3A-B05C-A7D9B69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35113F"/>
                </a:solidFill>
                <a:latin typeface="DIN Condensed"/>
                <a:ea typeface="DIN Condensed"/>
                <a:cs typeface="DIN Condensed"/>
              </a:rPr>
              <a:t>Una semana creativa que puede repetirse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990C6-5AF3-4DF2-905E-2C559B4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7B164D"/>
                </a:solidFill>
                <a:latin typeface="Avenir Next"/>
                <a:ea typeface="Avenir Next"/>
                <a:cs typeface="Avenir Next"/>
              </a:rPr>
              <a:t>Menos improvisación, más calidad y más espacio para aprender.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F6D25-7F31-4038-8B69-CCB6FBE3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6C8">
                <a:alpha val="34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7CA7A-F252-406A-9E6F-D08E02D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E55F9-7FDA-4C07-A5DC-40B2480A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35113F">
                    <a:alpha val="55000"/>
                  </a:srgbClr>
                </a:solidFill>
                <a:latin typeface="Avenir Next"/>
                <a:ea typeface="Avenir Next"/>
                <a:cs typeface="Avenir Next"/>
              </a:rPr>
              <a:t>38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42880-7337-4FCE-8D65-10804451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CF5"/>
              </a:gs>
              <a:gs pos="100000">
                <a:srgbClr val="6840A8">
                  <a:alpha val="14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3AE5A-7E58-4BCA-9409-AC984C6E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0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BA090-A5A0-4E87-AD08-FE2E2EA8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840A8"/>
                </a:solidFill>
                <a:latin typeface="Avenir Next"/>
                <a:ea typeface="Avenir Next"/>
                <a:cs typeface="Avenir Next"/>
              </a:rPr>
              <a:t>LUN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84BE2-D755-402A-8186-E218A00E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Brief + datos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1AC3B-B2E0-44A2-A15B-266FAF6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qué debe mover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7A64A-63F6-40AD-BE7C-8F3F5731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CF5"/>
              </a:gs>
              <a:gs pos="100000">
                <a:srgbClr val="E63B7A">
                  <a:alpha val="14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6BC6F7-84AF-4863-94A8-55EB3C41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571E9-1DCD-4673-910A-E52FA7B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63B7A"/>
                </a:solidFill>
                <a:latin typeface="Avenir Next"/>
                <a:ea typeface="Avenir Next"/>
                <a:cs typeface="Avenir Next"/>
              </a:rPr>
              <a:t>MAR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8CC71-D153-4D01-A7D7-6007AC3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Guion + diseño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18F31-705D-4F80-92B6-6A8E937B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idea y sistema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3CA03-6585-4A23-A957-0E7A00B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CF5"/>
              </a:gs>
              <a:gs pos="100000">
                <a:srgbClr val="F47B20">
                  <a:alpha val="14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3F50A6-4E11-4388-A25A-EC3E7A86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E04F2-E153-4CA5-8097-21F6C6FF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47B20"/>
                </a:solidFill>
                <a:latin typeface="Avenir Next"/>
                <a:ea typeface="Avenir Next"/>
                <a:cs typeface="Avenir Next"/>
              </a:rPr>
              <a:t>MIÉ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5EE3B-ADAA-45C2-942C-C35B221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Producción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8BC353-1961-475B-964D-439E9F48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rodaje y masters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A3002B-E49D-41BC-9BB7-3472AEB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CF5"/>
              </a:gs>
              <a:gs pos="100000">
                <a:srgbClr val="00B8B0">
                  <a:alpha val="14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0FAD6F-01ED-464F-90CA-E4B4F54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800A71-8200-4A78-B8FB-809C7E7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B8B0"/>
                </a:solidFill>
                <a:latin typeface="Avenir Next"/>
                <a:ea typeface="Avenir Next"/>
                <a:cs typeface="Avenir Next"/>
              </a:rPr>
              <a:t>JUE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9F33A0-F635-41B4-9D87-0F5B04E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QA + aprobación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9AA724-23DE-40F2-8C39-52A365E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marca, dato, derechos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F26FA8-CF97-45B6-BD01-C31FE432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100000">
                <a:srgbClr val="24A67A"/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46BA4-8C64-4DA1-B16A-8E01385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86DA7-536E-42A8-B2A6-78167A33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4A67A"/>
                </a:solidFill>
                <a:latin typeface="Avenir Next"/>
                <a:ea typeface="Avenir Next"/>
                <a:cs typeface="Avenir Next"/>
              </a:rPr>
              <a:t>VIE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12690-EE83-4449-A613-C3EBFB35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Publicación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6CDDB0-4A8B-4FE4-B8BB-46FF28C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salida + comunidad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49F5AE-9DCA-4F7B-B04F-BCDFA8DF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19250" cy="2647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CF5"/>
              </a:gs>
              <a:gs pos="100000">
                <a:srgbClr val="3556C8">
                  <a:alpha val="14000"/>
                </a:srgbClr>
              </a:gs>
            </a:gsLst>
            <a:lin ang="87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59944A-096A-4F24-B467-D625FB14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0287E2-F7D0-4574-B7A7-1FFC6CD6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3556C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3556C8"/>
                </a:solidFill>
                <a:latin typeface="Avenir Next"/>
                <a:ea typeface="Avenir Next"/>
                <a:cs typeface="Avenir Next"/>
              </a:rPr>
              <a:t>SÁB/DOM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AA95A8-FAF4-413D-8E58-A9777697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908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defRPr>
            </a:pPr>
            <a:r>
              <a:rPr sz="1500" b="1" i="0">
                <a:solidFill>
                  <a:srgbClr val="1B102A"/>
                </a:solidFill>
                <a:latin typeface="DIN Condensed"/>
                <a:ea typeface="DIN Condensed"/>
                <a:cs typeface="DIN Condensed"/>
              </a:rPr>
              <a:t>Escucha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D0C4A1-D1D4-4EBD-B901-884FD21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0050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756B7E"/>
                </a:solidFill>
                <a:latin typeface="Avenir Next"/>
                <a:ea typeface="Avenir Next"/>
                <a:cs typeface="Avenir Next"/>
              </a:rPr>
              <a:t>señales y archivo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677A92-84A3-4C40-93AA-76293567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0820400" cy="5905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E8D8F2"/>
              </a:gs>
              <a:gs pos="36000">
                <a:srgbClr val="F6D4DF"/>
              </a:gs>
              <a:gs pos="70000">
                <a:srgbClr val="FAD7A1"/>
              </a:gs>
              <a:gs pos="100000">
                <a:srgbClr val="D5F0E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AD3D19-0C7A-4807-A0AA-D58EDAD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35113F"/>
                </a:solidFill>
                <a:latin typeface="Avenir Next"/>
                <a:ea typeface="Avenir Next"/>
                <a:cs typeface="Avenir Next"/>
              </a:rPr>
              <a:t>Cada lunes: revisar ventas/visitas reales, preguntas, pieza ganadora, pieza débil y siguiente hipótesis.</a:t>
            </a:r>
          </a:p>
        </p:txBody>
      </p:sp>
    </p:spTree>
    <p:extLst>
      <p:ext uri="{BB962C8B-B14F-4D97-AF65-F5344CB8AC3E}">
        <p14:creationId xmlns:p14="http://schemas.microsoft.com/office/powerpoint/2010/main" val="576574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52C16-BF80-4172-87AD-FC7ABBE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/>
              </a:gs>
              <a:gs pos="58000">
                <a:srgbClr val="35113F"/>
              </a:gs>
              <a:gs pos="100000">
                <a:srgbClr val="24A67A">
                  <a:alpha val="48000"/>
                </a:srgbClr>
              </a:gs>
            </a:gsLst>
            <a:lin ang="708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11FAA-B17A-4EE2-BB43-CD643BAF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AA448-7C9B-427E-B89B-ED05E435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875F1-A774-48D3-913C-51B1947E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5A0BE-F184-4A49-9297-7E74C9C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11114-9463-4F7B-A86D-1A2F2868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4A67A">
                <a:alpha val="5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E17F9-F765-49E8-8B48-0676922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7B20">
                <a:alpha val="4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4E149-F0E4-43FA-AA08-F2853E0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A2E20-FCD3-4DFF-9B98-1E18C4C4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7B20">
                <a:alpha val="48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E19A0-370F-490A-84AD-68C024B5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48DBD-0D19-4E56-A144-BC49457C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A6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45F0C-588C-443A-AABE-619D6185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7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6E7CE"/>
                </a:solidFill>
                <a:latin typeface="Avenir Next"/>
                <a:ea typeface="Avenir Next"/>
                <a:cs typeface="Avenir Next"/>
              </a:rPr>
              <a:t>CONTROL DE CALIDAD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0B8CA-14EB-4A8A-B06E-5119176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Nada sale por emoción solamente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0E09F-F679-4658-900E-FD98FC6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La confianza se protege con gates visibles.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10547-CFCA-492D-9B47-CC42C540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7B20">
                <a:alpha val="5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44CC9-5F55-4603-A12A-27BDDE4E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92A59-FBED-47BE-93A3-D860C12C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7355A-306F-4E80-8721-7B900873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B8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C2EBB-562D-4265-9789-B778B084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00B8B0"/>
                </a:solidFill>
                <a:latin typeface="DIN Condensed"/>
                <a:ea typeface="DIN Condensed"/>
                <a:cs typeface="DIN Condensed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3063-E198-41F6-8F42-42FC8610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VERDAD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04657-9CB2-4F83-AA3A-00DDF030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¿El dato tiene dueño y evidencia?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B72E6-A8F0-4542-9032-F9FC2356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63B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EE9F5-079F-4FF4-86A8-0A65AE09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E63B7A"/>
                </a:solidFill>
                <a:latin typeface="DIN Condensed"/>
                <a:ea typeface="DIN Condensed"/>
                <a:cs typeface="DIN Condensed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D1F80-57D0-45A2-A41F-28BF6FC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DERECHOS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BA129-8406-46E7-B304-4A6499D9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¿Imagen, música y testimonio están autorizados?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42EEC-9C2B-4A09-906D-E94BB1F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47B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82D93-E15B-4FB0-B3D5-76BE38D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47B20"/>
                </a:solidFill>
                <a:latin typeface="DIN Condensed"/>
                <a:ea typeface="DIN Condensed"/>
                <a:cs typeface="DIN Condensed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925CE-61D9-405B-979E-82559E73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PROMESA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D4163-9C7C-4707-A674-4714BB9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¿Operación puede cumplir lo que mostramos?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2FF8D-1083-4DDD-9324-533CB7FB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4A6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24EDD-F120-419E-9A8D-10DAFD1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24A67A"/>
                </a:solidFill>
                <a:latin typeface="DIN Condensed"/>
                <a:ea typeface="DIN Condensed"/>
                <a:cs typeface="DIN Condensed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D94CC-216E-48A6-BFCB-58D860B1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CLARIDAD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E324D-A6FC-4005-A6FF-0AF2D117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¿Se entiende en 3 segundos y sin sonido?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E0FC06-31D4-43B2-AEB2-75E71BE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6840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139688-CFE4-460B-A702-926B2B9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6840A8"/>
                </a:solidFill>
                <a:latin typeface="DIN Condensed"/>
                <a:ea typeface="DIN Condensed"/>
                <a:cs typeface="DIN Condensed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3075A-DD6C-470A-8D63-F89DB088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ACCIÓN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0F574-7B57-4C4B-8D5E-CBEC8BD2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52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¿La persona sabe qué hacer después?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A42A25-BF9D-4797-809D-DFB8E07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7B3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216F0-A21F-4C89-AD60-35F42749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F7B32B"/>
                </a:solidFill>
                <a:latin typeface="DIN Condensed"/>
                <a:ea typeface="DIN Condensed"/>
                <a:cs typeface="DIN Condensed"/>
              </a:rPr>
              <a:t>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08AEA0-2B98-4B56-9A6A-3162A68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38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13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MEDICIÓN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E14C4A-C574-474F-A08A-7CF514F3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EDE7F5"/>
                </a:solidFill>
                <a:latin typeface="Avenir Next"/>
                <a:ea typeface="Avenir Next"/>
                <a:cs typeface="Avenir Next"/>
              </a:rPr>
              <a:t>¿Podremos saber si funcionó?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ADB8A1-1C8F-4044-81DA-8F5A9036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Si una respuesta es “no”, la pieza no está lista: se corrige o se desplaza.</a:t>
            </a:r>
          </a:p>
        </p:txBody>
      </p:sp>
    </p:spTree>
    <p:extLst>
      <p:ext uri="{BB962C8B-B14F-4D97-AF65-F5344CB8AC3E}">
        <p14:creationId xmlns:p14="http://schemas.microsoft.com/office/powerpoint/2010/main" val="123386252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9cd01a90549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C80A6-1DF5-4F2E-A6BC-30C64FD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0B24">
                  <a:alpha val="96000"/>
                </a:srgbClr>
              </a:gs>
              <a:gs pos="40000">
                <a:srgbClr val="6840A8">
                  <a:alpha val="68000"/>
                </a:srgbClr>
              </a:gs>
              <a:gs pos="70000">
                <a:srgbClr val="E63B7A">
                  <a:alpha val="38000"/>
                </a:srgbClr>
              </a:gs>
              <a:gs pos="100000">
                <a:srgbClr val="F47B20">
                  <a:alpha val="24000"/>
                </a:srgbClr>
              </a:gs>
            </a:gsLst>
            <a:lin ang="63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08C0F-E608-4763-928C-2A7A0D67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-3429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BFA62-C28D-4951-828C-9E255BB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-4572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B7A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482C2-0D5F-4F88-B0A0-5126F37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-571500"/>
            <a:ext cx="4095750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7B32B">
                <a:alpha val="4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8771B-3D81-4462-BF17-ED4181D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58165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6E7CE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E8313-66A5-4E15-A168-DEE6FA2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400050" y="5753100"/>
            <a:ext cx="40957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B32B">
                <a:alpha val="48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F8D0E-F7D2-4EA4-93CF-69FAC4A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LA DECISIÓN CREATIVA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68ADD-BEF5-4566-BB48-E63187E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Volvamos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9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defRPr>
            </a:pPr>
            <a:r>
              <a:rPr sz="4950" b="1" i="0">
                <a:solidFill>
                  <a:srgbClr val="F6E7CE"/>
                </a:solidFill>
                <a:latin typeface="DIN Condensed"/>
                <a:ea typeface="DIN Condensed"/>
                <a:cs typeface="DIN Condensed"/>
              </a:rPr>
              <a:t>a hacer feria.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8C548-4956-46E5-93F3-641F8D94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Que la música atraiga.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Que la experiencia convenza.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FFCF5"/>
                </a:solidFill>
                <a:latin typeface="Avenir Next"/>
                <a:ea typeface="Avenir Next"/>
                <a:cs typeface="Avenir Next"/>
              </a:rPr>
              <a:t>Que la tradición haga volver.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AC932-BC95-4782-8DF6-DDC890F5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B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ABEC3-4F89-4D8D-ADCB-C2323B4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32B"/>
                </a:solidFill>
                <a:latin typeface="Avenir Next"/>
                <a:ea typeface="Avenir Next"/>
                <a:cs typeface="Avenir Next"/>
              </a:rPr>
              <a:t>ES TRADICIÓN · CINCO DÍAS PARA VOLVER A ENCONTRARNOS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3FE19-18F1-4E93-AE85-6512B041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840A8">
                <a:alpha val="58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9D88C-3C44-4174-B418-5444C87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2000"/>
                  </a:srgbClr>
                </a:solidFill>
                <a:latin typeface="Avenir Next"/>
                <a:ea typeface="Avenir Next"/>
                <a:cs typeface="Avenir Next"/>
              </a:rPr>
              <a:t>DIRECCIÓN CREATIVA · DOCUMENTO INTERNO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9858C-F679-4C86-AC82-F5C8957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675" b="1" i="0">
                <a:solidFill>
                  <a:srgbClr val="F6E7CE">
                    <a:alpha val="65000"/>
                  </a:srgbClr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373875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2026-08-25T18:49:52.6460000Z</dcterms:created>
  <dcterms:modified xsi:type="dcterms:W3CDTF">2026-08-25T18:49:52.6460000Z</dcterms:modified>
</coreProperties>
</file>