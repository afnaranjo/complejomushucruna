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cd85d78bb14893" /><Relationship Type="http://schemas.openxmlformats.org/officeDocument/2006/relationships/extended-properties" Target="/docProps/app.xml" Id="Rdb9b246a972b4fed" /><Relationship Type="http://schemas.openxmlformats.org/officeDocument/2006/relationships/officeDocument" Target="/ppt/presentation.xml" Id="R59908f1c4d1949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551aa8db1d4ad8"/>
  </p:sldMasterIdLst>
  <p:notesMasterIdLst>
    <p:notesMasterId xmlns:r="http://schemas.openxmlformats.org/officeDocument/2006/relationships" r:id="R61b35d00672f494f"/>
  </p:notesMasterIdLst>
  <p:sldIdLst>
    <p:sldId xmlns:r="http://schemas.openxmlformats.org/officeDocument/2006/relationships" id="256" r:id="R236e4c863082408c"/>
    <p:sldId xmlns:r="http://schemas.openxmlformats.org/officeDocument/2006/relationships" id="257" r:id="Ra4f3683867dd4ff3"/>
    <p:sldId xmlns:r="http://schemas.openxmlformats.org/officeDocument/2006/relationships" id="258" r:id="Rdeb12e95e24e4396"/>
    <p:sldId xmlns:r="http://schemas.openxmlformats.org/officeDocument/2006/relationships" id="259" r:id="R94a5d55a13a24eb3"/>
    <p:sldId xmlns:r="http://schemas.openxmlformats.org/officeDocument/2006/relationships" id="260" r:id="R2c22af7c5073403d"/>
    <p:sldId xmlns:r="http://schemas.openxmlformats.org/officeDocument/2006/relationships" id="261" r:id="Ra57b2aad9b784762"/>
    <p:sldId xmlns:r="http://schemas.openxmlformats.org/officeDocument/2006/relationships" id="262" r:id="Re74c9b7e321f4165"/>
    <p:sldId xmlns:r="http://schemas.openxmlformats.org/officeDocument/2006/relationships" id="263" r:id="R594697aa66bc44c7"/>
    <p:sldId xmlns:r="http://schemas.openxmlformats.org/officeDocument/2006/relationships" id="264" r:id="Rc3af04e514ed4b82"/>
    <p:sldId xmlns:r="http://schemas.openxmlformats.org/officeDocument/2006/relationships" id="265" r:id="R60f97e51234f4f80"/>
    <p:sldId xmlns:r="http://schemas.openxmlformats.org/officeDocument/2006/relationships" id="266" r:id="Rd362d04f0a174ddd"/>
    <p:sldId xmlns:r="http://schemas.openxmlformats.org/officeDocument/2006/relationships" id="267" r:id="R95e586a9665d4119"/>
    <p:sldId xmlns:r="http://schemas.openxmlformats.org/officeDocument/2006/relationships" id="268" r:id="Ra5c04797e8164ad7"/>
    <p:sldId xmlns:r="http://schemas.openxmlformats.org/officeDocument/2006/relationships" id="269" r:id="Rdde923ea1a1a49c2"/>
    <p:sldId xmlns:r="http://schemas.openxmlformats.org/officeDocument/2006/relationships" id="270" r:id="Rc80d102509914878"/>
    <p:sldId xmlns:r="http://schemas.openxmlformats.org/officeDocument/2006/relationships" id="271" r:id="R355f2ead010e40e4"/>
    <p:sldId xmlns:r="http://schemas.openxmlformats.org/officeDocument/2006/relationships" id="272" r:id="R419c363313764e13"/>
    <p:sldId xmlns:r="http://schemas.openxmlformats.org/officeDocument/2006/relationships" id="273" r:id="R9240469e2e94480f"/>
    <p:sldId xmlns:r="http://schemas.openxmlformats.org/officeDocument/2006/relationships" id="274" r:id="Rc77868c9b8c3402b"/>
    <p:sldId xmlns:r="http://schemas.openxmlformats.org/officeDocument/2006/relationships" id="275" r:id="R15326acb48754071"/>
    <p:sldId xmlns:r="http://schemas.openxmlformats.org/officeDocument/2006/relationships" id="276" r:id="Rbc6a5deb390c4883"/>
    <p:sldId xmlns:r="http://schemas.openxmlformats.org/officeDocument/2006/relationships" id="277" r:id="R1e50ba4cca2a43bc"/>
    <p:sldId xmlns:r="http://schemas.openxmlformats.org/officeDocument/2006/relationships" id="278" r:id="R565e0fa30f6b4660"/>
    <p:sldId xmlns:r="http://schemas.openxmlformats.org/officeDocument/2006/relationships" id="279" r:id="R55279094c7544bbe"/>
    <p:sldId xmlns:r="http://schemas.openxmlformats.org/officeDocument/2006/relationships" id="280" r:id="Rafac592c859647d5"/>
    <p:sldId xmlns:r="http://schemas.openxmlformats.org/officeDocument/2006/relationships" id="281" r:id="R87e0fd2ac4444a94"/>
    <p:sldId xmlns:r="http://schemas.openxmlformats.org/officeDocument/2006/relationships" id="282" r:id="Rd64c39da23c44bf7"/>
    <p:sldId xmlns:r="http://schemas.openxmlformats.org/officeDocument/2006/relationships" id="283" r:id="R512d8ae5e3144f98"/>
    <p:sldId xmlns:r="http://schemas.openxmlformats.org/officeDocument/2006/relationships" id="284" r:id="Rb9476affc6a84edd"/>
    <p:sldId xmlns:r="http://schemas.openxmlformats.org/officeDocument/2006/relationships" id="285" r:id="R0fa46f4a87974725"/>
    <p:sldId xmlns:r="http://schemas.openxmlformats.org/officeDocument/2006/relationships" id="286" r:id="R7d3987c115224ccc"/>
    <p:sldId xmlns:r="http://schemas.openxmlformats.org/officeDocument/2006/relationships" id="287" r:id="Rbf9bad9000294561"/>
    <p:sldId xmlns:r="http://schemas.openxmlformats.org/officeDocument/2006/relationships" id="288" r:id="R0283dabd24a447d7"/>
    <p:sldId xmlns:r="http://schemas.openxmlformats.org/officeDocument/2006/relationships" id="289" r:id="R1105cae774474d83"/>
    <p:sldId xmlns:r="http://schemas.openxmlformats.org/officeDocument/2006/relationships" id="290" r:id="R1c898a02663d4d3e"/>
    <p:sldId xmlns:r="http://schemas.openxmlformats.org/officeDocument/2006/relationships" id="291" r:id="R15a32e51cbba472d"/>
    <p:sldId xmlns:r="http://schemas.openxmlformats.org/officeDocument/2006/relationships" id="292" r:id="Ra95f47de718b437e"/>
    <p:sldId xmlns:r="http://schemas.openxmlformats.org/officeDocument/2006/relationships" id="293" r:id="Re402528b13bd4b4a"/>
    <p:sldId xmlns:r="http://schemas.openxmlformats.org/officeDocument/2006/relationships" id="294" r:id="Re2ee80fe66384fc3"/>
    <p:sldId xmlns:r="http://schemas.openxmlformats.org/officeDocument/2006/relationships" id="295" r:id="R1f69881b10424a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a219d0cb5844cb" /><Relationship Type="http://schemas.openxmlformats.org/officeDocument/2006/relationships/slideMaster" Target="/ppt/slideMasters/slideMaster1.xml" Id="R3e551aa8db1d4ad8" /><Relationship Type="http://schemas.openxmlformats.org/officeDocument/2006/relationships/notesMaster" Target="/ppt/notesMasters/notesMaster1.xml" Id="R61b35d00672f494f" /><Relationship Type="http://schemas.openxmlformats.org/officeDocument/2006/relationships/presProps" Target="/ppt/presProps.xml" Id="R4fdd6977cadc402e" /><Relationship Type="http://schemas.openxmlformats.org/officeDocument/2006/relationships/tableStyles" Target="/ppt/tableStyles.xml" Id="Rc61e87bc092b4931" /><Relationship Type="http://schemas.openxmlformats.org/officeDocument/2006/relationships/slide" Target="/ppt/slides/slide1.xml" Id="R236e4c863082408c" /><Relationship Type="http://schemas.openxmlformats.org/officeDocument/2006/relationships/slide" Target="/ppt/slides/slide2.xml" Id="Ra4f3683867dd4ff3" /><Relationship Type="http://schemas.openxmlformats.org/officeDocument/2006/relationships/slide" Target="/ppt/slides/slide3.xml" Id="Rdeb12e95e24e4396" /><Relationship Type="http://schemas.openxmlformats.org/officeDocument/2006/relationships/slide" Target="/ppt/slides/slide4.xml" Id="R94a5d55a13a24eb3" /><Relationship Type="http://schemas.openxmlformats.org/officeDocument/2006/relationships/slide" Target="/ppt/slides/slide5.xml" Id="R2c22af7c5073403d" /><Relationship Type="http://schemas.openxmlformats.org/officeDocument/2006/relationships/slide" Target="/ppt/slides/slide6.xml" Id="Ra57b2aad9b784762" /><Relationship Type="http://schemas.openxmlformats.org/officeDocument/2006/relationships/slide" Target="/ppt/slides/slide7.xml" Id="Re74c9b7e321f4165" /><Relationship Type="http://schemas.openxmlformats.org/officeDocument/2006/relationships/slide" Target="/ppt/slides/slide8.xml" Id="R594697aa66bc44c7" /><Relationship Type="http://schemas.openxmlformats.org/officeDocument/2006/relationships/slide" Target="/ppt/slides/slide9.xml" Id="Rc3af04e514ed4b82" /><Relationship Type="http://schemas.openxmlformats.org/officeDocument/2006/relationships/slide" Target="/ppt/slides/slide10.xml" Id="R60f97e51234f4f80" /><Relationship Type="http://schemas.openxmlformats.org/officeDocument/2006/relationships/slide" Target="/ppt/slides/slide11.xml" Id="Rd362d04f0a174ddd" /><Relationship Type="http://schemas.openxmlformats.org/officeDocument/2006/relationships/slide" Target="/ppt/slides/slide12.xml" Id="R95e586a9665d4119" /><Relationship Type="http://schemas.openxmlformats.org/officeDocument/2006/relationships/slide" Target="/ppt/slides/slide13.xml" Id="Ra5c04797e8164ad7" /><Relationship Type="http://schemas.openxmlformats.org/officeDocument/2006/relationships/slide" Target="/ppt/slides/slide14.xml" Id="Rdde923ea1a1a49c2" /><Relationship Type="http://schemas.openxmlformats.org/officeDocument/2006/relationships/slide" Target="/ppt/slides/slide15.xml" Id="Rc80d102509914878" /><Relationship Type="http://schemas.openxmlformats.org/officeDocument/2006/relationships/slide" Target="/ppt/slides/slide16.xml" Id="R355f2ead010e40e4" /><Relationship Type="http://schemas.openxmlformats.org/officeDocument/2006/relationships/slide" Target="/ppt/slides/slide17.xml" Id="R419c363313764e13" /><Relationship Type="http://schemas.openxmlformats.org/officeDocument/2006/relationships/slide" Target="/ppt/slides/slide18.xml" Id="R9240469e2e94480f" /><Relationship Type="http://schemas.openxmlformats.org/officeDocument/2006/relationships/slide" Target="/ppt/slides/slide19.xml" Id="Rc77868c9b8c3402b" /><Relationship Type="http://schemas.openxmlformats.org/officeDocument/2006/relationships/slide" Target="/ppt/slides/slide20.xml" Id="R15326acb48754071" /><Relationship Type="http://schemas.openxmlformats.org/officeDocument/2006/relationships/slide" Target="/ppt/slides/slide21.xml" Id="Rbc6a5deb390c4883" /><Relationship Type="http://schemas.openxmlformats.org/officeDocument/2006/relationships/slide" Target="/ppt/slides/slide22.xml" Id="R1e50ba4cca2a43bc" /><Relationship Type="http://schemas.openxmlformats.org/officeDocument/2006/relationships/slide" Target="/ppt/slides/slide23.xml" Id="R565e0fa30f6b4660" /><Relationship Type="http://schemas.openxmlformats.org/officeDocument/2006/relationships/slide" Target="/ppt/slides/slide24.xml" Id="R55279094c7544bbe" /><Relationship Type="http://schemas.openxmlformats.org/officeDocument/2006/relationships/slide" Target="/ppt/slides/slide25.xml" Id="Rafac592c859647d5" /><Relationship Type="http://schemas.openxmlformats.org/officeDocument/2006/relationships/slide" Target="/ppt/slides/slide26.xml" Id="R87e0fd2ac4444a94" /><Relationship Type="http://schemas.openxmlformats.org/officeDocument/2006/relationships/slide" Target="/ppt/slides/slide27.xml" Id="Rd64c39da23c44bf7" /><Relationship Type="http://schemas.openxmlformats.org/officeDocument/2006/relationships/slide" Target="/ppt/slides/slide28.xml" Id="R512d8ae5e3144f98" /><Relationship Type="http://schemas.openxmlformats.org/officeDocument/2006/relationships/slide" Target="/ppt/slides/slide29.xml" Id="Rb9476affc6a84edd" /><Relationship Type="http://schemas.openxmlformats.org/officeDocument/2006/relationships/slide" Target="/ppt/slides/slide30.xml" Id="R0fa46f4a87974725" /><Relationship Type="http://schemas.openxmlformats.org/officeDocument/2006/relationships/slide" Target="/ppt/slides/slide31.xml" Id="R7d3987c115224ccc" /><Relationship Type="http://schemas.openxmlformats.org/officeDocument/2006/relationships/slide" Target="/ppt/slides/slide32.xml" Id="Rbf9bad9000294561" /><Relationship Type="http://schemas.openxmlformats.org/officeDocument/2006/relationships/slide" Target="/ppt/slides/slide33.xml" Id="R0283dabd24a447d7" /><Relationship Type="http://schemas.openxmlformats.org/officeDocument/2006/relationships/slide" Target="/ppt/slides/slide34.xml" Id="R1105cae774474d83" /><Relationship Type="http://schemas.openxmlformats.org/officeDocument/2006/relationships/slide" Target="/ppt/slides/slide35.xml" Id="R1c898a02663d4d3e" /><Relationship Type="http://schemas.openxmlformats.org/officeDocument/2006/relationships/slide" Target="/ppt/slides/slide36.xml" Id="R15a32e51cbba472d" /><Relationship Type="http://schemas.openxmlformats.org/officeDocument/2006/relationships/slide" Target="/ppt/slides/slide37.xml" Id="Ra95f47de718b437e" /><Relationship Type="http://schemas.openxmlformats.org/officeDocument/2006/relationships/slide" Target="/ppt/slides/slide38.xml" Id="Re402528b13bd4b4a" /><Relationship Type="http://schemas.openxmlformats.org/officeDocument/2006/relationships/slide" Target="/ppt/slides/slide39.xml" Id="Re2ee80fe66384fc3" /><Relationship Type="http://schemas.openxmlformats.org/officeDocument/2006/relationships/slide" Target="/ppt/slides/slide40.xml" Id="R1f69881b10424a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8d756e200c45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9e424771434b05" /><Relationship Type="http://schemas.openxmlformats.org/officeDocument/2006/relationships/notesMaster" Target="/ppt/notesMasters/notesMaster1.xml" Id="R78faad14894d4a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6fffd50dff488c" /><Relationship Type="http://schemas.openxmlformats.org/officeDocument/2006/relationships/notesMaster" Target="/ppt/notesMasters/notesMaster1.xml" Id="R7138261daff74e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ecd2d92ee3468e" /><Relationship Type="http://schemas.openxmlformats.org/officeDocument/2006/relationships/notesMaster" Target="/ppt/notesMasters/notesMaster1.xml" Id="Rfd76ef23c16941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1b84a497ef4cb4" /><Relationship Type="http://schemas.openxmlformats.org/officeDocument/2006/relationships/notesMaster" Target="/ppt/notesMasters/notesMaster1.xml" Id="R1067d0e898d540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92849ad373489d" /><Relationship Type="http://schemas.openxmlformats.org/officeDocument/2006/relationships/notesMaster" Target="/ppt/notesMasters/notesMaster1.xml" Id="R64baae1c2f1242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9032584af14c52" /><Relationship Type="http://schemas.openxmlformats.org/officeDocument/2006/relationships/notesMaster" Target="/ppt/notesMasters/notesMaster1.xml" Id="R8859681cff4245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d6666363774f00" /><Relationship Type="http://schemas.openxmlformats.org/officeDocument/2006/relationships/notesMaster" Target="/ppt/notesMasters/notesMaster1.xml" Id="R4c92fec14ae541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73ec03bebc4f5d" /><Relationship Type="http://schemas.openxmlformats.org/officeDocument/2006/relationships/notesMaster" Target="/ppt/notesMasters/notesMaster1.xml" Id="R2bcdd68a0da741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c63da73d244ecd" /><Relationship Type="http://schemas.openxmlformats.org/officeDocument/2006/relationships/notesMaster" Target="/ppt/notesMasters/notesMaster1.xml" Id="R51487bb3cd3b44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2334e5e8b9448f" /><Relationship Type="http://schemas.openxmlformats.org/officeDocument/2006/relationships/notesMaster" Target="/ppt/notesMasters/notesMaster1.xml" Id="R98840cbbc7284b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947607a11d4e9a" /><Relationship Type="http://schemas.openxmlformats.org/officeDocument/2006/relationships/notesMaster" Target="/ppt/notesMasters/notesMaster1.xml" Id="Rf862ad5dfd2841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4e196536c54169" /><Relationship Type="http://schemas.openxmlformats.org/officeDocument/2006/relationships/notesMaster" Target="/ppt/notesMasters/notesMaster1.xml" Id="R6da6491eeb334d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f642139fcf474e" /><Relationship Type="http://schemas.openxmlformats.org/officeDocument/2006/relationships/notesMaster" Target="/ppt/notesMasters/notesMaster1.xml" Id="R0badbd164c4a45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a1c2f701754437" /><Relationship Type="http://schemas.openxmlformats.org/officeDocument/2006/relationships/notesMaster" Target="/ppt/notesMasters/notesMaster1.xml" Id="Rca8d8d764b2145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5dcbf1ec024d80" /><Relationship Type="http://schemas.openxmlformats.org/officeDocument/2006/relationships/notesMaster" Target="/ppt/notesMasters/notesMaster1.xml" Id="R92fd9f007f0045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f953e0caf1431c" /><Relationship Type="http://schemas.openxmlformats.org/officeDocument/2006/relationships/notesMaster" Target="/ppt/notesMasters/notesMaster1.xml" Id="R9a9c1eb3063c42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e99a963962451d" /><Relationship Type="http://schemas.openxmlformats.org/officeDocument/2006/relationships/notesMaster" Target="/ppt/notesMasters/notesMaster1.xml" Id="R249a2d57d86944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c3a22063c24322" /><Relationship Type="http://schemas.openxmlformats.org/officeDocument/2006/relationships/notesMaster" Target="/ppt/notesMasters/notesMaster1.xml" Id="R3fddb015e9ab42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b70899fd254c69" /><Relationship Type="http://schemas.openxmlformats.org/officeDocument/2006/relationships/notesMaster" Target="/ppt/notesMasters/notesMaster1.xml" Id="R496db3f51a7542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2723fcf9504447f" /><Relationship Type="http://schemas.openxmlformats.org/officeDocument/2006/relationships/notesMaster" Target="/ppt/notesMasters/notesMaster1.xml" Id="Ra79822aa1dc449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8f93f6aac82462d" /><Relationship Type="http://schemas.openxmlformats.org/officeDocument/2006/relationships/notesMaster" Target="/ppt/notesMasters/notesMaster1.xml" Id="R51587f2df00743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92f43ecda8f4f00" /><Relationship Type="http://schemas.openxmlformats.org/officeDocument/2006/relationships/notesMaster" Target="/ppt/notesMasters/notesMaster1.xml" Id="Rc4b6b0817b6b4cd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e5395716a9e4855" /><Relationship Type="http://schemas.openxmlformats.org/officeDocument/2006/relationships/notesMaster" Target="/ppt/notesMasters/notesMaster1.xml" Id="Rab662bd52a2646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3a70f9c21564524" /><Relationship Type="http://schemas.openxmlformats.org/officeDocument/2006/relationships/notesMaster" Target="/ppt/notesMasters/notesMaster1.xml" Id="R1b8b90587e5341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2500ee62259475b" /><Relationship Type="http://schemas.openxmlformats.org/officeDocument/2006/relationships/notesMaster" Target="/ppt/notesMasters/notesMaster1.xml" Id="R60fc8f2d863444a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0663664cbc416d" /><Relationship Type="http://schemas.openxmlformats.org/officeDocument/2006/relationships/notesMaster" Target="/ppt/notesMasters/notesMaster1.xml" Id="R7a4c44c3ef554a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4385b0f86743dc" /><Relationship Type="http://schemas.openxmlformats.org/officeDocument/2006/relationships/notesMaster" Target="/ppt/notesMasters/notesMaster1.xml" Id="R40777bea7e554fd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e4b8208666e419b" /><Relationship Type="http://schemas.openxmlformats.org/officeDocument/2006/relationships/notesMaster" Target="/ppt/notesMasters/notesMaster1.xml" Id="R1b3e5dfdd119464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45c15dee7104d8a" /><Relationship Type="http://schemas.openxmlformats.org/officeDocument/2006/relationships/notesMaster" Target="/ppt/notesMasters/notesMaster1.xml" Id="R16fa3b0b041d439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9d3ed63d7184b14" /><Relationship Type="http://schemas.openxmlformats.org/officeDocument/2006/relationships/notesMaster" Target="/ppt/notesMasters/notesMaster1.xml" Id="Rb105e01f7fb9469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bc95bcff5a84c77" /><Relationship Type="http://schemas.openxmlformats.org/officeDocument/2006/relationships/notesMaster" Target="/ppt/notesMasters/notesMaster1.xml" Id="R5900b6482c2842b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62e6368d67b4a1e" /><Relationship Type="http://schemas.openxmlformats.org/officeDocument/2006/relationships/notesMaster" Target="/ppt/notesMasters/notesMaster1.xml" Id="R2a235c527f5344c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fbedb3df80143cd" /><Relationship Type="http://schemas.openxmlformats.org/officeDocument/2006/relationships/notesMaster" Target="/ppt/notesMasters/notesMaster1.xml" Id="R2b9112dd9fb54e5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98307b9610a4c09" /><Relationship Type="http://schemas.openxmlformats.org/officeDocument/2006/relationships/notesMaster" Target="/ppt/notesMasters/notesMaster1.xml" Id="Rf004960487e648e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b378a39a29e43ea" /><Relationship Type="http://schemas.openxmlformats.org/officeDocument/2006/relationships/notesMaster" Target="/ppt/notesMasters/notesMaster1.xml" Id="R35ab9e120bb440c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e282155bd214633" /><Relationship Type="http://schemas.openxmlformats.org/officeDocument/2006/relationships/notesMaster" Target="/ppt/notesMasters/notesMaster1.xml" Id="R9a22bdb620654cd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a2d690fbada40af" /><Relationship Type="http://schemas.openxmlformats.org/officeDocument/2006/relationships/notesMaster" Target="/ppt/notesMasters/notesMaster1.xml" Id="Re2ea2799b2a148e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19f743ca84e4906" /><Relationship Type="http://schemas.openxmlformats.org/officeDocument/2006/relationships/notesMaster" Target="/ppt/notesMasters/notesMaster1.xml" Id="Ref16bb59cef74dc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f02a6140455498d" /><Relationship Type="http://schemas.openxmlformats.org/officeDocument/2006/relationships/notesMaster" Target="/ppt/notesMasters/notesMaster1.xml" Id="R0c087c28ed9c4ed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08fec097f234022" /><Relationship Type="http://schemas.openxmlformats.org/officeDocument/2006/relationships/notesMaster" Target="/ppt/notesMasters/notesMaster1.xml" Id="R73b426d4a73048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idea central: la feria debe volver a sentirse propia antes de sentirse grande.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frase organiza todo el trabajo: identidad primero, experiencia después y programación como acelerador.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vault/_memoria-del-proyecto.md</a:t>
            </a:r>
          </a:p>
          <a:p xmlns:a="http://schemas.openxmlformats.org/drawingml/2006/main">
            <a:r>
              <a:t>- vault/11_eventos/2026_feria-finados/05_marketing-comunicacion/01_estrategia/estrategia-competitiva-preventa-y-participacion-finados-2026.md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estas cifras como evidencia de dirección creativa, no como juicio al equipo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vault/11_eventos/2026_feria-finados/05_marketing-comunicacion/01_estrategia/auditoria-meta-2021-2026-y-estrategia-digital-finados.md</a:t>
            </a:r>
          </a:p>
          <a:p xmlns:a="http://schemas.openxmlformats.org/drawingml/2006/main">
            <a:r>
              <a:t>- Datos procesados de auditoría Meta, consulta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plataforma debe producir una transición visible: de promoción de agenda a construcción de pertenencia.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Aprobar esta jerarquía antes de diseñar piezas para evitar múltiples lemas.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melancolía pedida por Alex se traduce en nostalgia luminosa: cálida, humana y con impulso de encuentro.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curva para evaluar cada pieza: debe tener una función emocional y una acción siguiente.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comunicación debe combinar pertenencia y utilidad; una sin la otra no resuelve la decisión familiar.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vault/05_audiencias-investigacion/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nombres son capítulos de experiencia, no necesariamente nombres públicos finales de cada jornada.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con claridad el sonido de memoria del sonido de espectáculo. Nunca usar una canción festiva sobre un testimonio íntimo.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Paleta propuesta para desarrollar y aprobar. Los tonos no se presentan como manual oficial existente.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Dirección creativa propuesta a partir del archivo visual Finados 2025.</a:t>
            </a:r>
          </a:p>
          <a:p xmlns:a="http://schemas.openxmlformats.org/drawingml/2006/main">
            <a:r>
              <a:t>- vault/03_marca/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recomendación es un contraste editorial/sans. La familia final debe validarse con el manual y las licencias disponibles.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vault/03_marca/</a:t>
            </a:r>
          </a:p>
          <a:p xmlns:a="http://schemas.openxmlformats.org/drawingml/2006/main">
            <a:r>
              <a:t>- Dirección creativa propuesta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autenticidad de la fotografía es una ventaja competitiva. Definir permisos de imagen y fichas de consentimiento.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vault/05_audiencias-investigacion/02_reputacion-fortalezas-y-voz-positiva/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imágenes de la galería pública se usan aquí como referencia interna de tratamiento, no como autorización automática de pauta.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hilo es un recurso propuesto; debe mantenerse sobrio para no convertirse en ornamento vacío.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Dirección creativa propuesta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pieza debe diseñarse primero para 9:16 y luego adaptarse. Todos los diálogos deben llevar subtítulos.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recomendada 45–60 segundos; cortes de 20, 10 y 6 segundos. Sin artistas en la primera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concepto requiere grabación adicional de expositores, demostraciones y visitantes, con consentimiento.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vault/11_eventos/2026_feria-finados/01_concepto-experiencia/rutas-es-tradicion-y-comercio-finados-2026.md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usar repertorio sin licencias. La música debe producirse, licenciarse o venir de material autorizado.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calendario semanal debe contener al menos tres pilares. La información de servicio aumenta al acercarse la feria.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matriz reduce retrabajo y protege consistencia. Toda pieza clave debe funcionar sin sonido.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fechas de feria y los hitos de venta son de planificación. No se publican hasta pasar los gates correspondientes.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vault/11_eventos/2026_feria-finados/05_marketing-comunicacion/01_estrategia/calendario-expectativa-y-revelacion-finados-2026.md</a:t>
            </a:r>
          </a:p>
          <a:p xmlns:a="http://schemas.openxmlformats.org/drawingml/2006/main">
            <a:r>
              <a:t>- vault/11_eventos/2026_feria-finados/00_direccion-control/hitos-y-cronograma.md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publicar expectativa si el concepto, responsables y permisos mínimos no están cerrados.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vault/11_eventos/2026_feria-finados/00_direccion-control/hitos-y-cronograma.md</a:t>
            </a:r>
          </a:p>
          <a:p xmlns:a="http://schemas.openxmlformats.org/drawingml/2006/main">
            <a:r>
              <a:t>- vault/11_eventos/2026_feria-finados/05_marketing-comunicacion/01_estrategia/calendario-expectativa-y-revelacion-finados-2026.md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primer video no lleva cartel nominal ni promesas operativas no validadas.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usar “más likes gana”. La convocatoria debe proteger integridad, producción y seguridad.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vault/11_eventos/2026_feria-finados/05_marketing-comunicacion/01_estrategia/estrategia-competitiva-preventa-y-participacion-finados-2026.md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preventa solo inicia cuando la oferta es cierta y el recorrido de compra está probado de extremo a extremo.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vault/11_eventos/2026_feria-finados/07_entradas-accesos/arquitectura-preventa-y-retorno-finados-2026.md</a:t>
            </a:r>
          </a:p>
          <a:p xmlns:a="http://schemas.openxmlformats.org/drawingml/2006/main">
            <a:r>
              <a:t>- vault/11_eventos/2026_feria-finados/05_marketing-comunicacion/01_estrategia/plan-revelacion-confidencial-cartel-finados-2026.md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reconocimiento propuesto por Alex debe basarse en registros o evidencia verificable, no en una afirmación imposible de comprobar.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Propuesta nueva registrada 2026-08-25.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guía puede anunciarse como “próximamente” solo cuando existe un alcance aprobado y un responsable técnico.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vault/11_eventos/2026_feria-finados/10_tecnologia-datos/guia-movil-informativa-finados-2026.md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retargeting debe variar el argumento: emoción, utilidad, prueba y 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vault/11_eventos/2026_feria-finados/05_marketing-comunicacion/01_estrategia/plan-operativo-digital-finados-2026.md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publicar cifras de parqueaderos, aforo ni tiempos de acceso sin validación operativa.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</a:t>
            </a:r>
          </a:p>
          <a:p xmlns:a="http://schemas.openxmlformats.org/drawingml/2006/main">
            <a:r>
              <a:t>- vault/11_eventos/2026_feria-finados/08_produccion-logistica/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MVP no requiere backend, cuentas ni transacciones. La ampliación de estacionamientos solo se publica cuando operación confirme ubicación, capacidad, accesos y estado. La IA se usa internamente para preparación y QA, no como chatbot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vault/11_eventos/2026_feria-finados/10_tecnologia-datos/guia-movil-informativa-finados-2026.md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Nunca usar “sold out”, contadores o porcentajes falsos. La recuperación de confianza vale más que un pico de conversión.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vault/11_eventos/2026_feria-finados/07_entradas-accesos/arquitectura-preventa-y-retorno-finados-2026.md</a:t>
            </a:r>
          </a:p>
          <a:p xmlns:a="http://schemas.openxmlformats.org/drawingml/2006/main">
            <a:r>
              <a:t>- vault/14_riesgos-contingencias/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ventana de fechas es un supuesto interno. Ajustar la secuencia si cambia el calendario ratificado.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  <a:p xmlns:a="http://schemas.openxmlformats.org/drawingml/2006/main">
            <a:r>
              <a:t>- Supuesto de planificación entregado por Alex Naranjo.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Priorizar planos de público con consentimiento y zonas de grabación señalizadas cuando corresponda.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interfaz mostrada es un wireframe conceptual, no un diseño aprobado ni una app desarrollada. El mapa debe diferenciar parqueaderos nuevos, accesos vehiculares, rutas peatonales y puntos de ayuda una vez validados.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vault/11_eventos/2026_feria-finados/10_tecnologia-datos/guia-movil-informativa-finados-2026.md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sistema de hitos es una propuesta. Los porcentajes solo pueden publicarse si ventas, finanzas y marketing concilian el mismo inventario.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vault/11_eventos/2026_feria-finados/07_entradas-accesos/arquitectura-preventa-y-retorno-finados-2026.md</a:t>
            </a:r>
          </a:p>
          <a:p xmlns:a="http://schemas.openxmlformats.org/drawingml/2006/main">
            <a:r>
              <a:t>- Principio de confianza documentado en vault/05_audiencias-investigacion/01_reputacion-riesgos-y-voz-publica/.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asignar nombres hasta ratificar vigencia y disponibilidad. El RACI funcional precede al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vault/02_equipo/organigrama-marketing-feria-finados-2025.md</a:t>
            </a:r>
          </a:p>
          <a:p xmlns:a="http://schemas.openxmlformats.org/drawingml/2006/main">
            <a:r>
              <a:t>- vault/11_eventos/2026_feria-finados/05_marketing-comunicacion/00_gestion/responsables-y-raci-finados-2026.md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día exacto de publicación puede variar; lo importante es mantener el ciclo de brief, producción, QA, salida y aprendizaje.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vault/11_eventos/2026_feria-finados/05_marketing-comunicacion/01_estrategia/plan-operativo-digital-finados-2026.md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checklist debe convertirse en campo obligatorio del tablero de aprobación.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vault/00_gobernanza/criterios-calidad.md</a:t>
            </a:r>
          </a:p>
          <a:p xmlns:a="http://schemas.openxmlformats.org/drawingml/2006/main">
            <a:r>
              <a:t>- vault/11_eventos/2026_feria-finados/14_riesgos-contingencias/registro-riesgos-finados-2026.md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solicitando tres decisiones: aprobación de la plataforma, aprobación del sistema visual y validación del calendario/gates.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ffc52262b4a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ac8168c9da4a30" /><Relationship Type="http://schemas.openxmlformats.org/officeDocument/2006/relationships/slideLayout" Target="/ppt/slideLayouts/slideLayout1.xml" Id="R5d19b998f72f4e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19b998f72f4e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075206ee249db" /><Relationship Type="http://schemas.openxmlformats.org/officeDocument/2006/relationships/image" Target="/ppt/media/image.png" Id="R7af61b9fa16c4b44" /><Relationship Type="http://schemas.openxmlformats.org/officeDocument/2006/relationships/notesSlide" Target="/ppt/notesSlides/notesSlide1.xml" Id="R89854345940b4e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4c8adeee64b5e" /><Relationship Type="http://schemas.openxmlformats.org/officeDocument/2006/relationships/notesSlide" Target="/ppt/notesSlides/notesSlide2.xml" Id="R7bb97dea5bb346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b0c53e4814c06" /><Relationship Type="http://schemas.openxmlformats.org/officeDocument/2006/relationships/notesSlide" Target="/ppt/notesSlides/notesSlide3.xml" Id="R8b9dd778f43e44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59fd3b20b44f2" /><Relationship Type="http://schemas.openxmlformats.org/officeDocument/2006/relationships/notesSlide" Target="/ppt/notesSlides/notesSlide4.xml" Id="R1291c35045e241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05adc93b34671" /><Relationship Type="http://schemas.openxmlformats.org/officeDocument/2006/relationships/notesSlide" Target="/ppt/notesSlides/notesSlide5.xml" Id="R63918ffda70e46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349200a414adf" /><Relationship Type="http://schemas.openxmlformats.org/officeDocument/2006/relationships/image" Target="/ppt/media/image2.png" Id="R63e4a9b186704e1c" /><Relationship Type="http://schemas.openxmlformats.org/officeDocument/2006/relationships/notesSlide" Target="/ppt/notesSlides/notesSlide6.xml" Id="R4e34f7349d214d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7db6a6f434612" /><Relationship Type="http://schemas.openxmlformats.org/officeDocument/2006/relationships/notesSlide" Target="/ppt/notesSlides/notesSlide7.xml" Id="Rc490cda539d44c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5fadc7d6640dc" /><Relationship Type="http://schemas.openxmlformats.org/officeDocument/2006/relationships/image" Target="/ppt/media/image3.png" Id="Rf9ca8253a3834437" /><Relationship Type="http://schemas.openxmlformats.org/officeDocument/2006/relationships/notesSlide" Target="/ppt/notesSlides/notesSlide8.xml" Id="R8738821e97ef46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6d472ae624751" /><Relationship Type="http://schemas.openxmlformats.org/officeDocument/2006/relationships/notesSlide" Target="/ppt/notesSlides/notesSlide9.xml" Id="R6b99db119f5742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e26ac1fd9494d" /><Relationship Type="http://schemas.openxmlformats.org/officeDocument/2006/relationships/image" Target="/ppt/media/image4.png" Id="R57877dd7849b4313" /><Relationship Type="http://schemas.openxmlformats.org/officeDocument/2006/relationships/notesSlide" Target="/ppt/notesSlides/notesSlide10.xml" Id="R5b5d90527bde4d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8435d66d0442c" /><Relationship Type="http://schemas.openxmlformats.org/officeDocument/2006/relationships/notesSlide" Target="/ppt/notesSlides/notesSlide11.xml" Id="Rd8ee51a1881742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85ab3dba2496b" /><Relationship Type="http://schemas.openxmlformats.org/officeDocument/2006/relationships/notesSlide" Target="/ppt/notesSlides/notesSlide12.xml" Id="R596b64af5eeb41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86062b1194ac2" /><Relationship Type="http://schemas.openxmlformats.org/officeDocument/2006/relationships/image" Target="/ppt/media/image5.png" Id="R28d53afd232546ea" /><Relationship Type="http://schemas.openxmlformats.org/officeDocument/2006/relationships/notesSlide" Target="/ppt/notesSlides/notesSlide13.xml" Id="Rb9742377340743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92808438f47f8" /><Relationship Type="http://schemas.openxmlformats.org/officeDocument/2006/relationships/image" Target="/ppt/media/image.jpeg" Id="Rae1fb08a10784da5" /><Relationship Type="http://schemas.openxmlformats.org/officeDocument/2006/relationships/image" Target="/ppt/media/image2.jpeg" Id="Rfb8c837eb3d14764" /><Relationship Type="http://schemas.openxmlformats.org/officeDocument/2006/relationships/image" Target="/ppt/media/image3.jpeg" Id="R382142b4a4694265" /><Relationship Type="http://schemas.openxmlformats.org/officeDocument/2006/relationships/notesSlide" Target="/ppt/notesSlides/notesSlide14.xml" Id="R0c255bfb637f4e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b70f84b0e4436" /><Relationship Type="http://schemas.openxmlformats.org/officeDocument/2006/relationships/notesSlide" Target="/ppt/notesSlides/notesSlide15.xml" Id="R6b6a344d65ec40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2cf7e928d4963" /><Relationship Type="http://schemas.openxmlformats.org/officeDocument/2006/relationships/notesSlide" Target="/ppt/notesSlides/notesSlide16.xml" Id="Ra05748998c1141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8be414c9d43dc" /><Relationship Type="http://schemas.openxmlformats.org/officeDocument/2006/relationships/image" Target="/ppt/media/image4.jpeg" Id="Re1e878d531d1474a" /><Relationship Type="http://schemas.openxmlformats.org/officeDocument/2006/relationships/image" Target="/ppt/media/image5.jpeg" Id="Rc63d453baa22427d" /><Relationship Type="http://schemas.openxmlformats.org/officeDocument/2006/relationships/image" Target="/ppt/media/image6.jpeg" Id="R50eda984159d474b" /><Relationship Type="http://schemas.openxmlformats.org/officeDocument/2006/relationships/image" Target="/ppt/media/image7.jpeg" Id="Rc87c17d190c648b1" /><Relationship Type="http://schemas.openxmlformats.org/officeDocument/2006/relationships/notesSlide" Target="/ppt/notesSlides/notesSlide17.xml" Id="R255a3c7bf2da40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30686a7014d01" /><Relationship Type="http://schemas.openxmlformats.org/officeDocument/2006/relationships/image" Target="/ppt/media/image6.png" Id="Rf039ea46544b40fd" /><Relationship Type="http://schemas.openxmlformats.org/officeDocument/2006/relationships/notesSlide" Target="/ppt/notesSlides/notesSlide18.xml" Id="R55c90568ab7540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bc3c007df4bae" /><Relationship Type="http://schemas.openxmlformats.org/officeDocument/2006/relationships/image" Target="/ppt/media/image8.jpeg" Id="R07b22762243846ad" /><Relationship Type="http://schemas.openxmlformats.org/officeDocument/2006/relationships/notesSlide" Target="/ppt/notesSlides/notesSlide19.xml" Id="R9bfbb4eccf6a4b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4084172d1454f" /><Relationship Type="http://schemas.openxmlformats.org/officeDocument/2006/relationships/notesSlide" Target="/ppt/notesSlides/notesSlide20.xml" Id="R3d1cd5f206fd41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880f000854e9c" /><Relationship Type="http://schemas.openxmlformats.org/officeDocument/2006/relationships/notesSlide" Target="/ppt/notesSlides/notesSlide21.xml" Id="R01247a4632ab46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c10934cfa47d9" /><Relationship Type="http://schemas.openxmlformats.org/officeDocument/2006/relationships/notesSlide" Target="/ppt/notesSlides/notesSlide22.xml" Id="Rd6635aaeffe448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f257fb3e848dc" /><Relationship Type="http://schemas.openxmlformats.org/officeDocument/2006/relationships/notesSlide" Target="/ppt/notesSlides/notesSlide23.xml" Id="Rb51602bf5e7347d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37b491ba44274" /><Relationship Type="http://schemas.openxmlformats.org/officeDocument/2006/relationships/notesSlide" Target="/ppt/notesSlides/notesSlide24.xml" Id="Ra403b27198974b2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784b564c7411a" /><Relationship Type="http://schemas.openxmlformats.org/officeDocument/2006/relationships/notesSlide" Target="/ppt/notesSlides/notesSlide25.xml" Id="R79ca54ad759f483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25d351a4946c8" /><Relationship Type="http://schemas.openxmlformats.org/officeDocument/2006/relationships/notesSlide" Target="/ppt/notesSlides/notesSlide26.xml" Id="R09a4140e83564ca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8ed5d32c74d30" /><Relationship Type="http://schemas.openxmlformats.org/officeDocument/2006/relationships/notesSlide" Target="/ppt/notesSlides/notesSlide27.xml" Id="R1abd700a2337476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13bd1fddd4737" /><Relationship Type="http://schemas.openxmlformats.org/officeDocument/2006/relationships/notesSlide" Target="/ppt/notesSlides/notesSlide28.xml" Id="Rb5cb421842f3496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ffde1359e436b" /><Relationship Type="http://schemas.openxmlformats.org/officeDocument/2006/relationships/notesSlide" Target="/ppt/notesSlides/notesSlide29.xml" Id="R82d18ce491f244d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8606d6b404205" /><Relationship Type="http://schemas.openxmlformats.org/officeDocument/2006/relationships/notesSlide" Target="/ppt/notesSlides/notesSlide30.xml" Id="Rd505801198ca4aa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897896af64401" /><Relationship Type="http://schemas.openxmlformats.org/officeDocument/2006/relationships/notesSlide" Target="/ppt/notesSlides/notesSlide31.xml" Id="R6714be34c24b4a5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96f700f2a44ed" /><Relationship Type="http://schemas.openxmlformats.org/officeDocument/2006/relationships/notesSlide" Target="/ppt/notesSlides/notesSlide32.xml" Id="Rfd02cb54ebc2493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c271a5449425d" /><Relationship Type="http://schemas.openxmlformats.org/officeDocument/2006/relationships/notesSlide" Target="/ppt/notesSlides/notesSlide33.xml" Id="Rbc7bdb730df9480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b193f14724dda" /><Relationship Type="http://schemas.openxmlformats.org/officeDocument/2006/relationships/image" Target="/ppt/media/image9.jpeg" Id="Rfff0b95d728944cd" /><Relationship Type="http://schemas.openxmlformats.org/officeDocument/2006/relationships/image" Target="/ppt/media/image10.jpeg" Id="R66a3f60e7f394665" /><Relationship Type="http://schemas.openxmlformats.org/officeDocument/2006/relationships/image" Target="/ppt/media/image11.jpeg" Id="R59e3017d4dd64912" /><Relationship Type="http://schemas.openxmlformats.org/officeDocument/2006/relationships/image" Target="/ppt/media/image12.jpeg" Id="Rb350db1392574268" /><Relationship Type="http://schemas.openxmlformats.org/officeDocument/2006/relationships/notesSlide" Target="/ppt/notesSlides/notesSlide34.xml" Id="R06ca8bdd9bef471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8e74c02f64b4e" /><Relationship Type="http://schemas.openxmlformats.org/officeDocument/2006/relationships/notesSlide" Target="/ppt/notesSlides/notesSlide35.xml" Id="Rd7a9e2f40f44402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3f64868024211" /><Relationship Type="http://schemas.openxmlformats.org/officeDocument/2006/relationships/notesSlide" Target="/ppt/notesSlides/notesSlide36.xml" Id="R36ae3f9556c5431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66faa16084116" /><Relationship Type="http://schemas.openxmlformats.org/officeDocument/2006/relationships/notesSlide" Target="/ppt/notesSlides/notesSlide37.xml" Id="R21fffca497e7446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85ee7e0704daa" /><Relationship Type="http://schemas.openxmlformats.org/officeDocument/2006/relationships/notesSlide" Target="/ppt/notesSlides/notesSlide38.xml" Id="R4ddd7dcdd4624c6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072f8c2084f5e" /><Relationship Type="http://schemas.openxmlformats.org/officeDocument/2006/relationships/notesSlide" Target="/ppt/notesSlides/notesSlide39.xml" Id="R02653eae5c0a42f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ad9cbf67d443b" /><Relationship Type="http://schemas.openxmlformats.org/officeDocument/2006/relationships/image" Target="/ppt/media/image7.png" Id="Rec46db15c3d04989" /><Relationship Type="http://schemas.openxmlformats.org/officeDocument/2006/relationships/notesSlide" Target="/ppt/notesSlides/notesSlide40.xml" Id="Rc085cd8153bd49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61b9fa16c4b44"/>
          <a:srcRect xmlns:a="http://schemas.openxmlformats.org/drawingml/2006/main" l="0" t="7905" r="0" b="7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9680C-9FCF-478E-9700-3866DBF1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B0F24">
                  <a:alpha val="88000"/>
                </a:srgbClr>
              </a:gs>
              <a:gs pos="60000">
                <a:srgbClr val="2B0F24">
                  <a:alpha val="25000"/>
                </a:srgbClr>
              </a:gs>
              <a:gs pos="100000">
                <a:srgbClr val="171219">
                  <a:alpha val="2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42DE8-E3B7-4BDF-9EFB-06710A67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1B5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C5EDF-23E2-466C-9A3A-489EB4F6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FINADOS MUSHUC RUNA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427A9-E9C5-426D-92B2-367AC3DA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57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ES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7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57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TRADICIÓN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87FD3-4AE2-4E61-9F8F-3026E935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Dirección creativa y campaña integral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58401-D036-4F40-8267-5213EB94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Cómo convertir recuerdo, orgullo y experiencia real en deseo de volver.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B6CE6-14A8-4E0B-90CB-F3E3AD6B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5048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71219">
              <a:alpha val="4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8CE46-184E-42E0-88DC-18904ADC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Guía para dirección · marketing · diseño · audiovisual · producción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788C8-934F-48D1-9A72-B92875F5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7E23E-7238-4ED0-8659-25D5239B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B918D-A0A4-40B6-A4F9-2D2DCE5E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7406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80ACA-A254-4EF1-A31F-150AC60D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554AF-846F-489E-A40A-58CBFF6D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EL ENCARGO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D19D1-1A09-437B-A966-12EE3139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191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39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No necesitamos anunciar otra feria.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54388-6425-4FC0-AC3E-FB20F07E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942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Necesitamos hacer que la gente quiera volver, quedarse y regresar otro día.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A6182-93D6-4011-AFC3-13676082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B9CCE-47C3-4678-A4F8-629F5F9E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B57C8-7BC2-4247-B986-DE36632F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9135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256EE-0ED5-4532-9857-4829293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BD2C9-8E6B-4619-908D-C3B82BC4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PUNTO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37AB1-6367-4657-AE20-A85FAF0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La verdad que obliga a cambiar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185E0-1CED-41D9-ABAE-18CEA7C1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Más publicaciones no garantizan una feria más llena ni comercios con mejores resultados.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EEA70-9868-4091-AB49-21B3FD73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4A23A-E982-47FF-9F09-926DA06F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5E475-5555-455A-8DAA-B3163C7C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CFFC5-1B45-4B98-AFD8-869D25E2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1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4B3CC-4240-40AA-B7C4-1C61AF99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9B2C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9B2C63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0CAC7-1814-472F-B673-722B7326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35,8 publicaciones por día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A8860-9282-4388-AF9F-7B114581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3048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Finados 2025 concentró 179 publicaciones en cinco días. La saturación fragmentó la atención y redujo la función de cada pieza.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7C98B-8C3E-4E32-BE28-B4AC1A13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68BE0-9CC4-4B0A-AE00-0ED5A39A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85E52-F33F-4E4C-B592-E68B8157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25,8% en una sola pieza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B71C9-B5E7-4708-B8BC-08A7BF0A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3048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Una publicación concentró más de una cuarta parte de las interacciones. El rendimiento dependió demasiado de un pico aislado.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A82FD-5C22-4CFB-8976-6C865BE3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7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66D45-6441-4B38-ABB2-187B602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289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2896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07C00-608E-4AFF-855C-2E14E426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19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Video supera a foto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A4EA0-B891-4803-BC47-7FD085ED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3048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La historia, la música y el movimiento generan más respuesta. El video debe construir deseo; la gráfica debe ordenar la decisión.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2C5BA-B0FD-42A6-87FC-EAF38DF9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10871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15AC9-10CB-4C1A-B290-8E8DF963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Conclusión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34B80-6539-47C0-AE1E-86DB8F46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76825"/>
            <a:ext cx="909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El problema no es falta de volumen. Es falta de una historia coherente que avance de emoción a acción.</a:t>
            </a:r>
          </a:p>
        </p:txBody>
      </p:sp>
    </p:spTree>
    <p:extLst>
      <p:ext uri="{BB962C8B-B14F-4D97-AF65-F5344CB8AC3E}">
        <p14:creationId xmlns:p14="http://schemas.microsoft.com/office/powerpoint/2010/main" val="902624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EB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B5FA8-5F81-4860-B90F-D31080E0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2166E-BB5E-4EFC-80C6-DAD195D9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0" i="0">
                <a:solidFill>
                  <a:srgbClr val="9F929A"/>
                </a:solidFill>
                <a:latin typeface="New York"/>
                <a:ea typeface="New York"/>
                <a:cs typeface="New York"/>
              </a:defRPr>
            </a:pPr>
            <a:r>
              <a:rPr sz="3300" b="0" i="0">
                <a:solidFill>
                  <a:srgbClr val="9F929A"/>
                </a:solidFill>
                <a:latin typeface="New York"/>
                <a:ea typeface="New York"/>
                <a:cs typeface="New York"/>
              </a:rPr>
              <a:t>Una cartelera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300" b="0" i="0">
                <a:solidFill>
                  <a:srgbClr val="9F929A"/>
                </a:solidFill>
                <a:latin typeface="New York"/>
                <a:ea typeface="New York"/>
                <a:cs typeface="New York"/>
              </a:defRPr>
            </a:pPr>
            <a:r>
              <a:rPr sz="3300" b="0" i="0">
                <a:solidFill>
                  <a:srgbClr val="9F929A"/>
                </a:solidFill>
                <a:latin typeface="New York"/>
                <a:ea typeface="New York"/>
                <a:cs typeface="New York"/>
              </a:rPr>
              <a:t>que se anuncia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48739-85EE-4602-9D53-70A7FB78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• piezas aisladas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• artistas como único argumento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• urgencia sin confianza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• cantidad sin recorrido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01281-FFE3-4A3A-9C16-993D198C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0477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C5E5D-661E-4272-9FDB-139C717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81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FE2D9-CEE2-4A8A-B54C-ABB223A3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04925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3300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Una tradición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3300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que vuelve a llamarnos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1E32B-67FC-409F-8932-D4680605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memoria que despierta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experiencia que se descubre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prueba que reduce dudas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comunidad que invita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una decisión clara: volver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CB8F7-E4A7-4C67-8157-E655F498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67300"/>
            <a:ext cx="46672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D1E6F-404F-44B0-A08F-8A07A058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1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ES TRADICIÓN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7C8D2-C825-4E6D-A419-141C0332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CDC54-E4CF-4971-B823-EBED514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1D2BD-4BC1-4857-B110-4CB4A0D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0361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9D998-9F5B-4A15-8E8D-F34729FC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63EA7-A49C-444D-80D4-41CB0F3A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PLATAFORMA DE MARCA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D7C66-C4ED-42A2-8861-4EE9686E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Una promesa con jerarquía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87D67-6166-407D-B1C0-6CCB73E2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Cada frase tiene una función; no compiten entre sí.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CB8ED-2D2F-41AD-948A-24D1FB67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9D037-2F6C-4F08-B521-1C1C3B9E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17950-ED2E-45E0-AA67-CAF40D1E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1E6BB-3031-43E8-ABF1-94C91986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10871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EB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F9687-2543-4145-8ACA-655F144A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1 · IDEA MAESTRA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D2AEB-7199-4899-B52D-218F7596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32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700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ES TRADICIÓN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4C460-8916-4ADD-90EC-D8C9B97B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391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5EBDF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3F61A-542F-4671-A12E-636DB910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2 · PROMESA EMOCIONAL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09061-27BD-48CC-8BFD-2C480201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17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Cinco días para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17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volver a encontrarnos.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2E74C-802F-490D-BBAB-66C808B5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71850"/>
            <a:ext cx="5391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5EBDF">
                <a:alpha val="1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57BB5-F0FC-4B81-B864-2FB526E9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3 · FIRMA DE EXPERIENCIA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4A8B1-2306-48FD-B6D7-D1EE6048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0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La feria se vive.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0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La tradición se comparte.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DA36C-AD40-4612-8FDC-11A081F3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Uso recomendado: idea maestra siempre; promesa en campaña; firma en contenido y experiencia.</a:t>
            </a:r>
          </a:p>
        </p:txBody>
      </p:sp>
    </p:spTree>
    <p:extLst>
      <p:ext uri="{BB962C8B-B14F-4D97-AF65-F5344CB8AC3E}">
        <p14:creationId xmlns:p14="http://schemas.microsoft.com/office/powerpoint/2010/main" val="10938754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4a9b186704e1c"/>
          <a:srcRect xmlns:a="http://schemas.openxmlformats.org/drawingml/2006/main" l="0" t="7796" r="0" b="77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BA255-0503-4702-8CF9-06FF5A14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B0F24">
                  <a:alpha val="80000"/>
                </a:srgbClr>
              </a:gs>
              <a:gs pos="62000">
                <a:srgbClr val="2B0F24">
                  <a:alpha val="18000"/>
                </a:srgbClr>
              </a:gs>
              <a:gs pos="100000">
                <a:srgbClr val="2B0F24">
                  <a:alpha val="18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16220-C6A5-4987-B56F-09169E21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TERRITORIO EMOCIONAL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D4377-6793-45EA-9804-D4ACA0C2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48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Nostalgia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48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luminosa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BFC24-6B69-4ED6-B790-E186C896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Recordar sin entristecer.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Conmover sin dramatizar.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Celebrar sin perder identidad.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E7F19-B99A-4EB5-8338-97FABC42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4762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71219">
              <a:alpha val="4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46436-117D-4E81-803A-043DD5B3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432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La emoción no mira solo al pasado: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lo convierte en una razón presente para volver.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1C261-AC01-4232-AB10-2D8D3676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5DCEC-E09E-4EA2-A87F-3DD9AD80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6FFC2-BC32-41A9-B05E-771E3B5E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6415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69BED3-47D2-4C4E-AD8C-1525338C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89B89-82A6-4E8A-AF9A-87AAEEEA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ARQUITECTURA EMOCIONAL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33003-D587-4326-8743-EE902030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La historia debe avanzar, no repetirse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BDEC5-30FD-452A-899A-CBC39FE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Cada fase mueve a la persona un paso más cerca de la visita.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7A790-D629-4383-B080-968C796B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6A418-CD31-42CA-9D73-C9CBA9EA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2E6E1-2587-406D-9C4D-018C7495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4E58E-DBC6-4DCF-9FC3-8B928010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7A98">
                <a:alpha val="6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9B956-5932-4633-8669-14391546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B97A9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B97A98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8C551-CA8C-4199-9A6E-11A225CA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RECUERDO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CD717-1ED1-4201-BEAC-81DFF50B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1219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171219"/>
                </a:solidFill>
                <a:latin typeface="New York"/>
                <a:ea typeface="New York"/>
                <a:cs typeface="New York"/>
              </a:rPr>
              <a:t>Eso lo viví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37760-A4BB-4539-A6B0-0AAF16BA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1F49">
                <a:alpha val="6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77CDD-0477-4823-A234-025D25EA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A5E54-BC68-4207-82FA-266C9C6B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AFB77-A3E8-4673-BE76-C989A410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1219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171219"/>
                </a:solidFill>
                <a:latin typeface="New York"/>
                <a:ea typeface="New York"/>
                <a:cs typeface="New York"/>
              </a:rPr>
              <a:t>Quiero saber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23137-78DB-4196-8A86-75430721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8345">
                <a:alpha val="6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E47B4-DA31-46CC-A2D0-9D54A809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33EF3-3FCC-490C-8123-9928FDF7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ORGULLO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480EA-506E-4D0E-8B9B-544A8264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1219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171219"/>
                </a:solidFill>
                <a:latin typeface="New York"/>
                <a:ea typeface="New York"/>
                <a:cs typeface="New York"/>
              </a:rPr>
              <a:t>Esto es nuestro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F03F5-7512-44F8-BD54-A8EE9DCA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2C63">
                <a:alpha val="6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07102-6F63-446E-B476-9D9D9B8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9B2C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9B2C63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1B883-CE42-49B1-9C7C-4F869C8B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DESEO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0190A-96FF-44B7-A340-D9DF3810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1219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171219"/>
                </a:solidFill>
                <a:latin typeface="New York"/>
                <a:ea typeface="New York"/>
                <a:cs typeface="New York"/>
              </a:rPr>
              <a:t>Quiero estar ahí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42852-62FE-468A-BE27-B34D7D5D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896B">
                <a:alpha val="6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518D1A-DC8D-45D9-9768-30BF873B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289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2896B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CD920-44EE-4E9D-A461-CE93055A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ENCUENTRO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9666EB-84D7-4EEF-9EF5-7BF54E89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1219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171219"/>
                </a:solidFill>
                <a:latin typeface="New York"/>
                <a:ea typeface="New York"/>
                <a:cs typeface="New York"/>
              </a:rPr>
              <a:t>Vamos juntos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107A32-7393-49C0-B2AA-F5A8C2B6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752600" cy="2076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19050">
            <a:solidFill>
              <a:srgbClr val="E1B56B">
                <a:alpha val="6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34F236-E9D0-4E4D-88CC-2309C79C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3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433CBA-EDEB-4BE8-8935-A1038CB5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CELEBRACIÓN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52A7E-742D-497A-B7D4-D385FB76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480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FFFFFF"/>
                </a:solidFill>
                <a:latin typeface="New York"/>
                <a:ea typeface="New York"/>
                <a:cs typeface="New York"/>
              </a:defRPr>
            </a:pPr>
            <a:r>
              <a:rPr sz="1500" b="0" i="0">
                <a:solidFill>
                  <a:srgbClr val="FFFFFF"/>
                </a:solidFill>
                <a:latin typeface="New York"/>
                <a:ea typeface="New York"/>
                <a:cs typeface="New York"/>
              </a:rPr>
              <a:t>Ya volvimos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54C348-4F77-472B-83E0-6967F52D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1B5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A1E0E6-0564-4415-8549-D6ACE3AF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292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La pauta amplifica el tramo correcto; no reemplaza el recorrido.</a:t>
            </a:r>
          </a:p>
        </p:txBody>
      </p:sp>
    </p:spTree>
    <p:extLst>
      <p:ext uri="{BB962C8B-B14F-4D97-AF65-F5344CB8AC3E}">
        <p14:creationId xmlns:p14="http://schemas.microsoft.com/office/powerpoint/2010/main" val="6054832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a8253a3834437"/>
          <a:srcRect xmlns:a="http://schemas.openxmlformats.org/drawingml/2006/main" l="25873" t="0" r="25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ACCA8-4F21-4751-B6E0-856D9E7A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B0F24">
                  <a:alpha val="68000"/>
                </a:srgbClr>
              </a:gs>
              <a:gs pos="70000">
                <a:srgbClr val="2B0F24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3BBC3-A14F-4E7E-BE12-B8402302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011C0-3B41-4541-AEE5-02CDF907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334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AUDIENCIAS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69B76-DE7E-4D15-83EB-AFCCF121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8763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No vendemos lo mismo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a todas las personas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8FBC5-E7BC-4906-9A9F-4D375AD2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2724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0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CBB45-6370-4AEB-9A81-3FDF39AD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Familias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C40E0-B10E-42AF-BB58-7CB50200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Seguridad, comodidad, comida, baños, rutas claras y actividades compartidas.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3ED67-1200-4CA8-9D45-165E9DFC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2724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BBAAD-D42A-43AC-ACBA-571BA41E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431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Jóvenes y parejas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9BB6F-2821-455D-8C8F-69338BB9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003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Experiencias memorables, música, estética, participación y momentos para compartir.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B32F7-332D-4617-8FE8-EEADEDB9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90950"/>
            <a:ext cx="2724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E7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00034-FDA3-4303-9CAE-B8BB96E0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005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Visitantes que regresan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79D30-7982-4D1E-842A-507BD746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5770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Reconocimiento, continuidad, rituales y la sensación de que esta feria también les pertenece.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D9085-B3BD-4C8D-8813-3E49841F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27241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EEE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9928F-C06F-4D8E-870D-74208860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Visitantes nuevos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4AB3A-E9B9-427C-A66A-8A7DAE48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5770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Prueba concreta: qué hay, cómo llegar, qué cuesta, dónde estacionar y cómo aprovechar el día.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B96C7-E4FA-4284-8912-6E69036C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245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Trabajo común: reducir la incertidumbre y aumentar las ganas de compartir el plan.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76BD9C-5640-4BAF-B999-BFB2367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F7273-D099-47DE-BFAD-9AA0C89A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D1E4A-7496-4397-900C-029AD9F2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8342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9FF3F-D095-4CC5-9CF0-910AAD34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F6017-5878-44AB-AE06-58E32206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EXPERIENCIA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426D5-5137-4729-98D5-63B1AB1E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Cinco días, cinco razones distintas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79E40-BFC1-4C36-BBE6-92BEDD1C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La campaña debe enseñar que no es el mismo evento repetido cinco veces.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60F95-7CF4-4FBB-9E6B-DC0C0EDF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723EF-B83D-47D8-9CD7-9632ECED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55DE8-2765-4216-8FC3-C0BEBF09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869FE-21A2-4E7B-8524-498F9F8B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DÍA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B3328-4B45-40BA-9CB4-BA0B8AFE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14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17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VOLVER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5A49F-3B03-4BCE-99D4-F9879360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526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Reencuentro · bienvenida · primera visita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6DA07-58C3-49B1-8054-0F5FFB6B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4D1D4-1C5D-4549-A207-035AE822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DÍA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0FE27-3174-40CB-874A-68788433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17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DESCUBRIR LO NUESTRO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9C8EE-4E94-4D1F-93DC-3D361EF1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95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Feria · sabores · oficios · rutas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BFEDB-3C77-4179-AC21-4AB01A2B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58E69-C3FC-4C74-A73E-B04AEA25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DÍA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BB5EC-07F0-49D9-A4C8-801FE21D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00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17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CANTAR JUNTOS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B8CA9-959D-4F66-A1D2-2D12C0E2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Energía · música · comunidad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BAD3A-96E0-460E-B06C-062A1807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97649-82C8-42D8-94E3-851FE209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DÍA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2AAC1-26B5-4C70-B946-B226294A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17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COMPARTIR EN FAMILIA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DD130-B8FF-4C76-A52A-5057C510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81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Plan completo · comodidad · alegría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85238-7D60-418B-A892-B096219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633B4-F98E-4696-8265-9B60D11E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530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DÍA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A8D2F5-6380-4ADB-89D0-FD57478D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86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17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RECORDAR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02734F-854C-4EF0-BC8A-98F7B8FB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244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Cierre · gratitud · volver el próximo año</a:t>
            </a:r>
          </a:p>
        </p:txBody>
      </p:sp>
    </p:spTree>
    <p:extLst>
      <p:ext uri="{BB962C8B-B14F-4D97-AF65-F5344CB8AC3E}">
        <p14:creationId xmlns:p14="http://schemas.microsoft.com/office/powerpoint/2010/main" val="10369772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77dd7849b4313"/>
          <a:srcRect xmlns:a="http://schemas.openxmlformats.org/drawingml/2006/main" l="0" t="7833" r="0" b="7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7FD4A-91FA-4EE3-9378-C93D62B1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4162A">
                  <a:alpha val="86000"/>
                </a:srgbClr>
              </a:gs>
              <a:gs pos="55000">
                <a:srgbClr val="14162A">
                  <a:alpha val="50000"/>
                </a:srgbClr>
              </a:gs>
              <a:gs pos="100000">
                <a:srgbClr val="14162A">
                  <a:alpha val="2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F1FDA-D76E-476A-B6DA-A9247820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DIRECCIÓN MUSICAL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E9D37-0367-4A8B-BFB0-4BF0D183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36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El recuerdo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36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suena suave.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36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El encuentro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36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suena vivo.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055CC-A2EB-4EB0-A481-E2C8E176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48006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1219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66FFB-B480-4A5C-B5D1-625A20BC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5F562-E903-41D1-8BE9-062B7D55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Piano, charango, cuerdas, respiración, ambiente y silencios con intención.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1C762-38A3-47E7-8E8A-56B499E5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SHOW / EN VIVO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A19D2-6106-4207-8982-69319DFD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101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Percusión, coro, saltos, sonrisas, manos y público cantando.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5EAE4-AF93-4509-B79D-FB9B9DEE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34FC9-7812-46B2-A070-C681F680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9C59B-CC9F-4E60-88D5-09CBDF9C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623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C0718-CAC5-4D77-AF8B-B411F0F6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74DE2-BAB6-4ED2-838B-60B06EEA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SISTEMA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DCA62-E78A-4408-8DE8-0031FF70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Una paleta con memoria, tierra y noche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D0915-28E3-4F52-AE81-BDB3126D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No es Halloween. No es un concierto genérico. No es folclor decorativo.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695E6-8EE7-4930-BF88-9FD408C3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4C2A7-826F-495C-BCEA-5CAA92F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B0757-AAC0-4AA7-9AD3-7EDF5DE3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910E9-9928-48CF-8440-8B2EA271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9E61E-2AF8-4D6A-A306-51DC8CEF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MORADO PROFUNDO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35152-60B6-4C93-BC20-FDFF79F5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Memoria · noche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FF703-28B8-4778-A446-A07B0CDE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6D1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2392E-706E-4AA6-91E1-D3EB10B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COLADA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312CC-9B57-4631-B643-B8B461C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Identidad · cercanía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30980-7771-446C-A130-F0C9D68C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C88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2D195-54DA-472C-B00E-B3630692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TIERRA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D8390-3122-4255-BFC6-B208FC22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Oficio · feria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B98C8-E948-4542-8F7C-34326642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1B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FF504-DF97-4DC0-BE02-17AF8B1B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LUZ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13668-B36F-4640-AE45-C9E4CB13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Esperanza · señal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65F18-E96A-4684-BC4E-9567A0B7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EBDF"/>
          </a:solidFill>
          <a:ln xmlns:a="http://schemas.openxmlformats.org/drawingml/2006/main" w="9525">
            <a:solidFill>
              <a:srgbClr val="D9CA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70058-9EFD-4D23-A893-2B80C47B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VAPOR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AE743-B522-4A93-8E97-89EBF6E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Calidez · descanso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8C28A-E26E-4264-83D3-ADA41BE8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728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CBFCF-7037-4E99-BBCC-4A5395DD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PAISAJE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D2B45-2538-4DC0-A921-E8A4BE5C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Territorio · vida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871169-0964-4A64-A24D-7A47D5C2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110871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A0F2B5-366C-4D37-80CB-43BC80B3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Regla 70 / 20 / 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55A93-96DB-443A-A61A-760CD66E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05425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70% profundidad y crema · 20% colada y tierra · 10% luz para llamada a la acción</a:t>
            </a:r>
          </a:p>
        </p:txBody>
      </p:sp>
    </p:spTree>
    <p:extLst>
      <p:ext uri="{BB962C8B-B14F-4D97-AF65-F5344CB8AC3E}">
        <p14:creationId xmlns:p14="http://schemas.microsoft.com/office/powerpoint/2010/main" val="13627545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1B88B-0BEC-474D-A3B5-D5E6FAE0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428BE-25D8-4683-AFFC-6D79D966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TIPOGRAFÍA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38264-8C00-45DB-B113-4678D743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Editorial para emocionar. Clara para decidir.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022CF-4E75-44BA-8C7E-47A547BE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La forma debe sostener una feria grande sin perder calidez humana.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B8F75-C8FB-428E-BD87-755A6AF9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0632F-9C1B-4017-808A-694B8504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8023E-874C-44B9-820C-1CB8AE6A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3EB08-C0CB-4876-AD08-8FD1C118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4650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ES TRADICIÓN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63C7A-DF6A-420F-B09A-F28985EC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1">
                <a:solidFill>
                  <a:srgbClr val="6D1F49"/>
                </a:solidFill>
                <a:latin typeface="New York"/>
                <a:ea typeface="New York"/>
                <a:cs typeface="New York"/>
              </a:defRPr>
            </a:pPr>
            <a:r>
              <a:rPr sz="1425" b="0" i="1">
                <a:solidFill>
                  <a:srgbClr val="6D1F49"/>
                </a:solidFill>
                <a:latin typeface="New York"/>
                <a:ea typeface="New York"/>
                <a:cs typeface="New York"/>
              </a:rPr>
              <a:t>Titulares emocionales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1D1BF-C276-47AC-B106-9F7F2928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1B5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16188-F888-4E3F-BD98-7EEA09D9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DÍA 3 · CANTAR JUNTOS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E8D72-9B9A-4D1F-AF61-55800C22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Agenda, accesos, parqueaderos, horarios y llamadas a la acción deben leerse en segundos.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E512B-9F6A-4F0B-9837-5E496021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3638550" cy="3009900"/>
          </a:xfrm>
          <a:prstGeom xmlns:a="http://schemas.openxmlformats.org/drawingml/2006/main" prst="roundRect">
            <a:avLst>
              <a:gd name="adj" fmla="val 5696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4218C-CFC4-4964-A4E7-EFDECB8F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Jerarquía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C568C-226F-4A97-BDCD-7075745D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9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01  Emoción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9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02  Promesa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9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03  Prueba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9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04  Acción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C3B43-4CCB-4BD9-82A2-F88D7679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Producción: validar familia tipográfica final y licencias antes del master.</a:t>
            </a:r>
          </a:p>
        </p:txBody>
      </p:sp>
    </p:spTree>
    <p:extLst>
      <p:ext uri="{BB962C8B-B14F-4D97-AF65-F5344CB8AC3E}">
        <p14:creationId xmlns:p14="http://schemas.microsoft.com/office/powerpoint/2010/main" val="15981657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53afd232546ea"/>
          <a:srcRect xmlns:a="http://schemas.openxmlformats.org/drawingml/2006/main" l="19378" t="0" r="19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DF5E7-5279-4F51-AB5C-AA3527CC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B0F24">
                  <a:alpha val="72000"/>
                </a:srgbClr>
              </a:gs>
              <a:gs pos="64000">
                <a:srgbClr val="2B0F24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02488-20EB-4EBE-95E4-A5CA9DFB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0258C-5E1E-4C98-9AE1-881B45BC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FOTOGRAFÍA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C4A76-4A4D-4BE6-986B-2290DF2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9144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32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Personas reales.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32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Miradas reales.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32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Feria real.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7E15A-117C-4F55-B7FD-855B15E5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BUSCAR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DB9F8-E4C6-488E-85E7-AE014B1C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4343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vínculos entre generaciones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manos, gestos y miradas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escala con rostro humano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comercio y descubrimiento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alegría sin posar demasiado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403BE-1109-4D5F-BC11-89BA9429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29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B84A5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B84A52"/>
                </a:solidFill>
                <a:latin typeface="Avenir Next"/>
                <a:ea typeface="Avenir Next"/>
                <a:cs typeface="Avenir Next"/>
              </a:rPr>
              <a:t>EVITAR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0E6A4-5BBE-4A9B-A6E0-51DA4D85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Bancos genéricos, disfraces culturales, exceso de logos y rostros sin contexto.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B2E9F-9DCF-43C3-9E13-61D9E8BE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10544-4C12-4ED4-8507-97E8B27E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7FC9B-3900-4C1F-AA83-4CDF711E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413238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45CC1-4D98-4791-9FBE-83E7CA67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7E335-BBEF-4484-86F4-A57BBE7E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TRATAMIENTO DE IMAGEN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850B2-AAA7-4C52-8AAD-414C5E4C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Tres temperaturas, una misma identidad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ECD0A-5865-4B09-B100-A5F87CF4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El color cambia con la fase, pero la feria siempre se reconoce.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0EC0C-CE09-498D-ACAC-E660DE8A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4FD03-3295-408A-9929-C8EE7440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F7050-3892-4ED7-A110-92658E0E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fb08a10784da5"/>
          <a:srcRect xmlns:a="http://schemas.openxmlformats.org/drawingml/2006/main" l="0" t="15556" r="0" b="1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CB83C-2D1D-41B3-AC64-2994D0E9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2B0F24">
              <a:alpha val="3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6F6AF-9D36-4783-9DD9-10CCC438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MEMORIA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7B4C7-F742-4D56-8A6E-B1EB88FB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Sombras ciruela · grano suave · ritmo lento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c837eb3d14764"/>
          <a:srcRect xmlns:a="http://schemas.openxmlformats.org/drawingml/2006/main" l="0" t="15556" r="0" b="1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38905-7BDF-4EC0-8389-0B9FA0D4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4162A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DE59C-2F5A-46D0-B0D7-BBD0B501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A6EDD-C1F7-4557-BFDE-607C128C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Negros limpios · luz selectiva · detalle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142b4a4694265"/>
          <a:srcRect xmlns:a="http://schemas.openxmlformats.org/drawingml/2006/main" l="0" t="15556" r="0" b="1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A9965-9A6E-4B14-BF9E-739EA870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E1B56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A167D-A9F0-4107-AA8E-82281CE5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CELEBRACIÓN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746DA-07D5-4F37-9690-48AD7F8B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95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Color vivo · piel cálida · energía nítida</a:t>
            </a:r>
          </a:p>
        </p:txBody>
      </p:sp>
    </p:spTree>
    <p:extLst>
      <p:ext uri="{BB962C8B-B14F-4D97-AF65-F5344CB8AC3E}">
        <p14:creationId xmlns:p14="http://schemas.microsoft.com/office/powerpoint/2010/main" val="14583765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58BB21-A56E-4558-AA9B-F9B23689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28D05-B3E5-44AF-83C3-9B9E2C8B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GRAMÁTICA GRÁFICA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C53F9-87FF-4028-9583-7E079773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La memoria se representa como un hilo que continúa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E029A-BC17-48C5-AA28-85AD1E67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Una señal simple que une archivo, presente y experiencia.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FD646-D2A1-4FCC-BFCF-087A04A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7275B-58F7-4919-BFF3-A9232125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4A531-3967-487C-9C9D-F3A865D1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CF878-381F-4B0A-B25B-5E0C42CF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1B5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A1B44-FE72-40F6-9626-F77914DB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28575">
            <a:solidFill>
              <a:srgbClr val="E1B5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B135D-CF5F-4CE7-9040-5A07B826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AA920-EADE-4BE2-9880-9FFF2AAC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archivo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34DBF-45AD-4C7C-A73D-D3B84A83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28575">
            <a:solidFill>
              <a:srgbClr val="E1B5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52DC1-1F9D-4427-8D1E-3F0D1AB8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RECUERDO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05114-51EE-43C9-839B-CB5FC3E8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relato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47217-1C5B-4210-A982-2A6009A5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28575">
            <a:solidFill>
              <a:srgbClr val="E1B5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DA4F3-BA6C-4CEA-9798-7FC57C19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HOY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01F1C-55F0-4820-AB39-F4ABBCD2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9B9D6-512C-4D66-B324-7EFA5EF0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28575">
            <a:solidFill>
              <a:srgbClr val="E1B5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8E15F-E716-4893-A131-32E20CCA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ENCUENTRO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AD7A2-4D97-4885-AD57-44D11049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visita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DD0A4-EDD5-4FC7-9FD4-219DDBC1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B56B"/>
          </a:solidFill>
          <a:ln xmlns:a="http://schemas.openxmlformats.org/drawingml/2006/main" w="28575">
            <a:solidFill>
              <a:srgbClr val="E1B5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19C3F-59E4-493D-831D-7320797E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MAÑANA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357FA-3320-4EA6-A99E-BF7585FB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regreso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D1480-84ED-44D5-8464-28E01190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3429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B28398-12E8-45E1-9195-E11EE8EB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Hilo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F34A17-24F8-44CA-960F-67B8E370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Línea dorada: continuidad y señal de recorrido.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B112BC-ED5B-49E0-B520-23512B1B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3429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0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76A868-E39D-4CDB-B69C-4394D89A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0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Capas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ADD6E-27C5-4340-85D3-00D2E7B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57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Fotografía + sombra ciruela + tipografía editorial.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468A81-6719-426F-AA05-167A19D1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3429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E7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66F82-70ED-4D01-892B-78CFFEB6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00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Ritmo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30D6D8-8D13-4074-84A1-E204A927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57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Una idea protagonista; la información aparece después.</a:t>
            </a:r>
          </a:p>
        </p:txBody>
      </p:sp>
    </p:spTree>
    <p:extLst>
      <p:ext uri="{BB962C8B-B14F-4D97-AF65-F5344CB8AC3E}">
        <p14:creationId xmlns:p14="http://schemas.microsoft.com/office/powerpoint/2010/main" val="9338121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168647-C7D4-4FA1-A7C9-FAA08C0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6560C-8257-4761-8FE9-532A06F5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LENGUAJE AUDIOVISUAL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DE737-F3C7-4B39-B116-3937578A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Cada video tiene una respiración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73AAB-5214-4C38-85C6-9A554358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La edición debe cambiar según la función de la pieza.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0FFD5-890E-4810-BBE0-10593808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34984-19DF-4436-BEC0-0781D06B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A0583-859C-4C5D-99D5-A26B54DC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8E099-429F-4898-9D87-46B203DF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MEMORIA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C0580-A312-4602-9AFD-54BF5EA5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6–10 s por plano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A8BFF-0E06-4BC7-A5CD-EEA2E56E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detalles · rostros · archivo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692EC-B302-4270-8A37-F9CA4B8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música suave + ambiente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64746-FDA0-4BA3-B5E7-C7ACFAEB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5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FF845-3C69-4C7A-8F79-F3684E9D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1000A-B9CC-4A53-AD6A-3A86C8E5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2–4 s por plano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3F5ED-6021-49D4-9E4E-F25DF7B5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pistas · texturas · montaje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3E6F5-2C89-4205-89CF-7C2DCD1B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pulso creciente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C02FD-126E-49AD-A7B7-F02527E2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427EF-FF43-4D87-B828-F58A5292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PRUEBA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45DD4-D494-4724-9ACE-3820BC6C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38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1–3 s por plano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A99C4-F9C6-4049-8DAD-B2F1AC1A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mapa · baños · comida · acceso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8A136-BE6A-4A06-B043-EE03B3F4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voz clara + subtítulos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02D67-0B1D-4E94-9D31-D619C8BE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EA80A-1DF2-439F-B11B-A1A8E9C1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SHOW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107ED-77B1-46AE-ACAD-D80E7AA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0,5–2 s por plano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2E4FC-5AC6-4AE2-858C-48ABA93C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19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público · escenario · reacción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2D409C-AD9A-44D8-8B47-D377CDC2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9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música viva + coro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AF30B8-8E3E-4829-BD8F-1A29C218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F77C42-C7D7-4031-A3A3-4EE21C0B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SERVICIO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59C018-E60C-4521-B21D-719FA27F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24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ritmo funcional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DDFA76-B99A-434B-9731-F391ABA7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62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dato primero · gráfico limpio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9528E2-EEC8-471D-ADD8-D9CF6BBB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audio secundario</a:t>
            </a:r>
          </a:p>
        </p:txBody>
      </p:sp>
    </p:spTree>
    <p:extLst>
      <p:ext uri="{BB962C8B-B14F-4D97-AF65-F5344CB8AC3E}">
        <p14:creationId xmlns:p14="http://schemas.microsoft.com/office/powerpoint/2010/main" val="3597766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ADFA3-8B02-42E0-A2D3-6DCB64CB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D18A7-A09A-4926-91AE-2D4DC76A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PIEZA HERO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FDBCD-C852-4B84-A64C-A7CDEEA3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NOS LLAMA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6FC7B-D5BF-4149-A660-0574EF36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El manifiesto de expectativa: la feria existe antes de que aparezca el cartel.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A6611-B16B-42C9-BE35-E6F52B12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393F9-EBA2-48FF-A3F1-BEC17AA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91868-17FD-42ED-AEF5-D5888A86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878d531d1474a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FBFF9-7101-4D2C-BC7A-D5AB017C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112A4-FDB9-4018-9D90-82B801B0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Un sonido conocido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d453baa22427d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405A1-E318-463A-9374-8AD2CB6A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FA0CD-77C3-464B-8161-0C04A69E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Una mirada que recuerda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da984159d474b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09CAE-C6C1-492C-A09F-F9317493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7313D-7D31-4848-A530-C88CA6EA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El espacio despierta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c17d190c648b1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B7E74-FB68-4650-BE01-2FA75180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DA924-D237-47A0-9A85-227D33D1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Volvemos a encontrarnos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BFCD5-B907-48E8-B504-14F34511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0820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6FBC2-2DEE-4A61-ADAC-AB71989C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32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Cierre: “Hay lugares a los que uno no regresa. Hay lugares que vuelven a llamarnos.” · ES TRADICIÓN</a:t>
            </a:r>
          </a:p>
        </p:txBody>
      </p:sp>
    </p:spTree>
    <p:extLst>
      <p:ext uri="{BB962C8B-B14F-4D97-AF65-F5344CB8AC3E}">
        <p14:creationId xmlns:p14="http://schemas.microsoft.com/office/powerpoint/2010/main" val="2584824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F2BB5-D023-431E-BB52-F48A5ACB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50CE0-B81C-4497-AAE5-885CB4A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PIEZA HERO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F1115-6E60-45AE-87F6-E61B68F5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HACER FERIA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C520B-568B-44E0-8D67-66FB73DB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El comercio vuelve a ser protagonista de la experiencia, no relleno entre conciertos.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C8911-B67D-447F-9276-8375E8F6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9E6C8-9F85-4998-BF4B-13C4B732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19ECF-7C55-4624-930E-67F74CF6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9ea46544b40fd"/>
          <a:srcRect xmlns:a="http://schemas.openxmlformats.org/drawingml/2006/main" l="0" t="1194" r="0" b="1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190750"/>
            <a:ext cx="4381500" cy="2857500"/>
          </a:xfrm>
          <a:prstGeom xmlns:a="http://schemas.openxmlformats.org/drawingml/2006/main" prst="roundRect">
            <a:avLst>
              <a:gd name="adj" fmla="val 6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4E0A1-1B48-45C7-AC2E-5D12A8B0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71700"/>
            <a:ext cx="5981700" cy="2895600"/>
          </a:xfrm>
          <a:prstGeom xmlns:a="http://schemas.openxmlformats.org/drawingml/2006/main" prst="roundRect">
            <a:avLst>
              <a:gd name="adj" fmla="val 5921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5EBDF">
                <a:alpha val="1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C2F0F-C3BC-48D9-96FB-29246A1D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Estructura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6B2E4-6497-494E-8989-D0046573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765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1. Una mano que crea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2. Una persona que descubre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3. Un objeto con historia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4. Una compra que se comparte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5. Una ruta que invita a seguir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677CB-BF26-4E08-A6C0-2FE2C473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CTA: “Ven a hacer feria. Sigue la Ruta ES TRADICIÓN.”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4F4EA-0CBE-4B8B-BCC6-01C72047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La meta creativa: que la feria comercial se vea viva, diversa y deseable por sí misma.</a:t>
            </a:r>
          </a:p>
        </p:txBody>
      </p:sp>
    </p:spTree>
    <p:extLst>
      <p:ext uri="{BB962C8B-B14F-4D97-AF65-F5344CB8AC3E}">
        <p14:creationId xmlns:p14="http://schemas.microsoft.com/office/powerpoint/2010/main" val="14958263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9931A-9C92-42E1-A11A-D6CBE069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EDBF5-1FCD-4746-B2CD-AA94460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PIEZA HERO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C2822-9F83-44D7-A50D-9F5A7756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LA CANCIÓN QUE VUELVE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9E3B0-3E8C-4B81-8181-FDD90BDE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La música funciona cuando activa una memoria colectiva y desemboca en una experiencia presente.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5338F-7B85-4BB2-AA8C-0B0A78B6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E41A2-1ADE-4E08-BD9A-B0441EB7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13BF9-0191-42BA-A935-CB0C64D1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22762243846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3360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70028-D7EA-475A-BB23-F9C088FA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33600"/>
            <a:ext cx="34290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0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DA843-8B46-4127-AC09-1F59CDA4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Primera mitad · recuerdo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67948-A0F5-4C14-B52C-4AE3A7A6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3048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voz o instrumento aislado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archivo de años anteriores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planos largos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texto breve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“Hay canciones que uno no vuelve a escuchar. Vuelven a encontrarlo.”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FEF17-2348-43AD-8C58-748FF61F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6766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C9665-30FA-4755-BBB9-394EC173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Segunda mitad · presente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1968E-DF5F-4141-B283-A4FBF7A8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2956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banda completa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gente cantando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movimiento y sonrisas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fecha/venta solo al final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La emoción se convierte en decisión: “Este año, volvemos.”</a:t>
            </a:r>
          </a:p>
        </p:txBody>
      </p:sp>
    </p:spTree>
    <p:extLst>
      <p:ext uri="{BB962C8B-B14F-4D97-AF65-F5344CB8AC3E}">
        <p14:creationId xmlns:p14="http://schemas.microsoft.com/office/powerpoint/2010/main" val="19370896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ADCF8F-8ED3-4627-9E66-50181874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C5B8F-AB7E-4227-AB15-7F66D68E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SISTEMA DE CONTENIDOS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8E4B7-D612-4944-BB07-A41A0BA5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Cinco pilares que trabajan juntos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5EE44-65A4-4F40-B7AB-61B148CC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Ningún pilar debe ocupar por sí solo toda la conversación.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A8C40-9741-49DD-8F77-4D4179D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01907-0C5E-44EC-9148-6579BD23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EDCB0-DEEE-452B-96AA-ACE4FBEA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88600-6B9A-47EE-9883-3A8F7699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E2789-FDDA-4A8C-A012-CF394DB9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6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MEMORIA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1875C-0BC0-4E44-A33D-502B0793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archivo · testimonios · rituales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598E7-7C6E-4023-A1E0-7C5F857B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383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E1B56B">
                <a:alpha val="4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26BE9-F806-4732-8C99-3A3FC76D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Recordar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548C7-7B4C-4613-A8DD-84677DC7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3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0CFDF-F8A9-4396-83A8-53889D4C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DF386-8D8A-41D7-9FF9-A5544F3E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EXPERIENCIA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9623D-2F1B-4B61-8112-3084F197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rutas · comida · familia · feria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A5D7D-2F1A-405C-99C1-6B823A9F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E1B56B">
                <a:alpha val="4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FA203-4C93-4329-914D-48B47952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05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Desear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D7E1A-110B-49B1-8709-32CF7D02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3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9831C-6546-4723-ADFB-4BE6F091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98A0F-C715-4FA9-B545-B5879F4D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PROGRAMACIÓN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D0F2A-9D72-4857-B819-3B03B7DE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revelaciones · momentos · agenda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C6685-C857-4DCB-B450-3DB18F24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E1B56B">
                <a:alpha val="4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6436F-7041-4604-B9B8-3663FB72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Elegir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27D8E7-DAE9-4790-813C-9A7C056E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3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781DE-600B-46B7-A1F4-305D5B54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50F94A-510F-4A69-877D-00648112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CONFIANZA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28A4AC-3358-4A96-B6E9-E45011C2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00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acceso · mapa · precio · seguridad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D81B8-86E9-499B-B0EB-CA63D3E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243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E1B56B">
                <a:alpha val="42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C666E3-E04B-4112-B4DA-EC47FFFB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29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Decidir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A6F790-CEF0-4078-B0FC-CD3BCE4D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13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CFBB51-BD1D-4E01-91A0-77CF3B36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CB38A6-BDEB-460B-BDEC-D53457D7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24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COMUNIDAD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EA7AF5-899D-448C-82E4-0A4E196E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62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creadores · visitantes · comercios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F91106-2FD3-4472-9AC4-E1A61C75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863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E1B56B">
                <a:alpha val="4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C2EF6A-102B-4E93-865B-4CD0E671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91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Compartir</a:t>
            </a:r>
          </a:p>
        </p:txBody>
      </p:sp>
    </p:spTree>
    <p:extLst>
      <p:ext uri="{BB962C8B-B14F-4D97-AF65-F5344CB8AC3E}">
        <p14:creationId xmlns:p14="http://schemas.microsoft.com/office/powerpoint/2010/main" val="9738747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C2B1B-BE5F-4AA5-B794-195FF4BD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B2FC2-82C2-42BC-BCDC-65833609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FORMATOS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9EFD1-A826-4FF0-A003-DE6CA7B2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Una idea, múltiples superficies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56BEC-E4B4-4A49-9E3B-D981C770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Diseñar desde video vertical y producir un sistema, no archivos sueltos.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86918-88B4-43C7-ACCD-DEBF5504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623E4-BAF7-47E8-8F0F-CB38AC8D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64CC4-9E4C-42F2-BBB8-C2052FBB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42D7D-34F2-4009-860F-3037EEDC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524000" cy="2190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7EA4C-AD78-4971-A28D-1CD6C322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9:16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D0BDB-7E15-4CC8-B60C-C7A012BC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REEL / SHORT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51E0C-C30F-4CBB-9046-30525C3A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Idea emocional o prueba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E2870-CB81-4889-9A60-604DB8D9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28875"/>
            <a:ext cx="15240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D1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23097-E777-411B-BED4-7E4B80E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574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4:5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BCA4B-066A-4001-84A9-9BD68BDC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FEED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F0482-B609-4181-BA37-0BC26A5F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Promesa + información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F506E-5C6E-4DF4-BB3D-FCDC94EA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67000"/>
            <a:ext cx="15240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6DBC8-72AF-4EA4-BE63-7A3E0D1B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1:1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38FB6-5651-4BDA-9CFC-93759A2A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ARCHIVO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B9B7C-B281-4939-A1DB-40AD9EEA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Retrato / memoria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86687-6114-4917-9936-514103E0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90750"/>
            <a:ext cx="1524000" cy="2190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D1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B832A-6C59-44B1-B8D6-81B7BAB4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9:16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44D740-8B31-40B6-A9A7-5C46886E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A7C66-77E7-4392-B8C7-FCD336A2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Secuencia + acción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10ABB-01D6-4181-9CEB-18B2AC31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524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4B93E-8000-4456-B322-1D89BF3D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16:9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CE693-2F26-4EE6-B6DF-E60581AD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PANTALLA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1FB0D-750F-4936-B203-243D805C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Evento / prensa / sala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E70918-C091-4C60-A3F1-48E932FB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Master mínimo por concepto: 1 video principal · 3 cortes · 1 portada · 1 carrusel · 3 stories · subtítulos · versión sin audio.</a:t>
            </a:r>
          </a:p>
        </p:txBody>
      </p:sp>
    </p:spTree>
    <p:extLst>
      <p:ext uri="{BB962C8B-B14F-4D97-AF65-F5344CB8AC3E}">
        <p14:creationId xmlns:p14="http://schemas.microsoft.com/office/powerpoint/2010/main" val="13768573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9EC57-F10A-4945-9041-21143F25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319B7-F39D-4448-A81E-B25C9D34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CALENDARIO MAESTRO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A404A-285C-4242-9FF6-1ACB6E94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191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8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39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Diez semanas para hacer que la tradición vuelva a sentirse.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9AA9B-0C93-4F02-909D-E3002BA7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942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De 25 de agosto al 2 de noviembre · supuesto interno de planificación.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8E5C6-66A6-440B-8D53-933F21F8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15B85-326F-48AA-99B2-3DE3AC9B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48266-F3B9-43B9-B1CD-C2FF1E96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717425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36674-A885-49C5-A24C-FF19762E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67B12-97DD-49B0-A018-3BCC85E2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SEMANA 1 · 25–30 AGO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A6637-05AC-49F7-8917-F5622387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Alinear antes de publicar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A3F96-FA17-4F01-B92F-FB40E743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La expectativa empieza dentro del equipo: una promesa, una voz y una ruta de aprobación.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E1494-391D-446E-832E-81371248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04E00-0E4F-46D8-AFBB-2D0E5F8D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69D65-A648-43FA-9C1D-57AECBC7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0260D-3EB6-4629-8F13-FD7DCB27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8345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73F8A-523B-4EC8-8AFF-C4CAF08C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13752-E0D0-48C9-ABB7-EDC20538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aprobar ES TRADICIÓN y su jerarquía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inventariar archivo por emociones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elegir 12–16 historias humanas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definir permisos y responsables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cerrar shot list de grabación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A9386-7CFE-4C50-9E93-EFC399B2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ENTREGABLE CLAVE · Biblia creativa + archivo curado + tablero de producción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644F8-40CC-47A4-AAC3-60912938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22913-D554-4BCD-A73E-28E32C81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03F9F-C157-4D86-AE41-262D7545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El equipo puede explicar la misma idea en una frase.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B8350-6498-4044-B4B4-7DA79893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5B4B2-446E-4EAD-8ED8-199AC2E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0471C-D462-4A03-B3A6-0A9E1C13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Aprobación cultural, marca, operación y dirección.</a:t>
            </a:r>
          </a:p>
        </p:txBody>
      </p:sp>
    </p:spTree>
    <p:extLst>
      <p:ext uri="{BB962C8B-B14F-4D97-AF65-F5344CB8AC3E}">
        <p14:creationId xmlns:p14="http://schemas.microsoft.com/office/powerpoint/2010/main" val="7160605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79E3B-A4C7-4185-BD61-2F62E819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0528A-084E-46ED-B4A1-D72EA9D1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SEMANA 2 · 31 AGO–6 SEP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24A13-1EEC-4496-83AC-93B1B447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Lanzar la idea, no el cartel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A1E9B-73A2-41B7-8D83-7577D98C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Primero debe sentirse que algo propio vuelve.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8D9E7-EA48-48FD-AE24-3074C310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7B8BF-C7E0-4555-9977-67DAA505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76DCE-BA94-41F5-915B-0CEADA43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A7340-6C5A-467B-967B-5BC2B01C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B06A4-6885-4796-9FBD-9B3396E9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24A33-AEA6-46F3-9763-C677EEFD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publicar NOS LLAMA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abrir recuerdos: “¿Qué no falta en tu visita?”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microvideos de sonidos, vapor, luces y manos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fotografía editorial de archivo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stories de conversación, no de venta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073F9-6FBB-4CA3-B37C-E5FAAD40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ENTREGABLE CLAVE · Hero 01 + 6 cortes + carrusel manifiesto + conversación guiada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5F3EF-8E33-47F1-A0CE-F03995B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94132-4632-47DB-8206-AE873050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36F3B-7B56-498D-AFDB-FE5F22EE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Comentarios que cuentan recuerdos, no solo preguntan por artistas.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85208-BA6E-4D1E-9F61-916637F3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929C7-1527-48A8-A063-2FB6FE5A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2979A-DCD0-43AC-8CEE-FC56CBF4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Moderación activa; no confirmar datos bajo embargo.</a:t>
            </a:r>
          </a:p>
        </p:txBody>
      </p:sp>
    </p:spTree>
    <p:extLst>
      <p:ext uri="{BB962C8B-B14F-4D97-AF65-F5344CB8AC3E}">
        <p14:creationId xmlns:p14="http://schemas.microsoft.com/office/powerpoint/2010/main" val="1900902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B3593-C288-4D38-99A4-E4FD3EE6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83F47-B6FE-4680-806B-1344341B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SEMANA 3 · 7–13 SEP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B42EF-1642-41F5-9EF3-D7FE1246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Convertir memoria en comunidad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14D16-2D57-4E63-8468-9D2D1212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La gente comienza a verse dentro de la historia.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41547-CCE5-4F81-B4ED-C1739771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1F9BF-B129-4FA4-96C5-A8F44C1E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8D9CF-E95A-4E19-9F00-84FB8A2F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1D0DA-419E-42A3-A72F-05235EB2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2896B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E3C8D-79DB-4611-AD3A-4408DF4F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289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2896B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6309B-92EA-45C5-A5A3-4E28BD2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serie “La primera vez que fui”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archivo por generaciones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abrir convocatoria Camino al Megaescenario, si se aprueba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mostrar feria, comida y oficios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seleccionar testimonios verificables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BD285-35EE-4917-B8BF-FE2162AE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ENTREGABLE CLAVE · 3 retratos · 2 reels de archivo · 1 pieza de participación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F680D-11B5-4E7F-B3FF-730FA31E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F96AD-DF3C-4DB8-8797-C0DF8944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7B250-9C59-4693-8D8C-88F9F81C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Historias compartidas, guardados y postulaciones válidas.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870B3-94AC-4342-9842-179EC2F0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EB417-663A-4340-A9C4-2733469F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5299B-226B-48ED-B117-B0806282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Bases, jurado, derechos, seguridad y voto propio verificable.</a:t>
            </a:r>
          </a:p>
        </p:txBody>
      </p:sp>
    </p:spTree>
    <p:extLst>
      <p:ext uri="{BB962C8B-B14F-4D97-AF65-F5344CB8AC3E}">
        <p14:creationId xmlns:p14="http://schemas.microsoft.com/office/powerpoint/2010/main" val="15131251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632D0-2935-44BE-91BB-7071064C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BB070-CDCD-4FC0-BF23-3ECC35EB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SEMANA 4 · 14–20 SEP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3D45C-A672-43CD-83B9-2A0D5B05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Abrir venta con confianza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2EA89-CF92-4705-AB55-800204B4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La tercera semana de septiembre es una ventana de lanzamiento, no una obligación ciega.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6B6A0-6BEE-44C9-98D8-25FA3755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5FA78-B22C-42EF-B625-4DBFFB07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4A311-B67D-4F78-AB01-8BBA6B1A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2EB65-9F3E-4E4B-93F0-35C1BC5B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2C63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5FDF6-B469-4634-8D45-163FFBC6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9B2C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9B2C63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22020-4411-4796-9287-6C828C04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proponer apertura desde el 17 SEP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revelar la primera razón de asistencia solo si está aprobada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explicar producto, condiciones y canal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publicar tutorial de compra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activar preguntas frecuentes y soporte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CF631-77D4-4BC8-B8C7-7645A756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ENTREGABLE CLAVE · Lanzamiento de venta + tutorial + pieza de confianza + FAQ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ED2D0-14CB-428A-B788-8A11C073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4D883-99A1-4858-B018-98A2CB07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413EF-A6F2-495C-93A8-332DE07F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Compra real de prueba y atención que responde sin fricción.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CAB66-9BB7-4367-9B0A-957E2E75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5DBC3-98C8-44BD-A768-CD2DE1A7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5B018-C4AE-4506-9A8C-00757599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Contrato, grafía, día, precio, capacidad, derechos, destino seguro y compra de prueba.</a:t>
            </a:r>
          </a:p>
        </p:txBody>
      </p:sp>
    </p:spTree>
    <p:extLst>
      <p:ext uri="{BB962C8B-B14F-4D97-AF65-F5344CB8AC3E}">
        <p14:creationId xmlns:p14="http://schemas.microsoft.com/office/powerpoint/2010/main" val="11418217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BFB37-2BC3-477D-A47F-E074F8CE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138F3-CF81-4D8A-86B7-3DCD88AA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SEMANA 5 · 21–27 SEP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B6575-29B8-45CC-ADA8-D913517C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Construir prueba social verdadera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CBDE4-01EB-4062-AC33-61207171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La emoción gana credibilidad cuando personas reales cuentan por qué regresan.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FBDE7-58D5-482A-94C7-1DAF6312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C7618-74BB-48A6-8206-0308A99F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DFBA6-10E8-46E7-83A8-258A0FA6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80169-729B-4CBA-A728-9FBDC66D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B56B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136A8-DD86-405A-A302-E93D536B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34299-312F-4B2D-945F-107D033D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serie “Quienes siempre vuelven”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reconocer 4–6 visitantes frecuentes, con evidencia y consentimiento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segunda revelación validada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mostrar primeras rutas de feria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publicar hitos reales de venta, si existen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ECC9E-6B1B-4D20-956E-9AB9303E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ENTREGABLE CLAVE · Microdocumental coral + retratos + ruta 01 + actualización real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2EEB4-5A7D-4C65-B2A4-BA8BAF48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15A2E-7A83-4C2C-BF93-C204C705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35A37-9A38-4450-9A82-AB0C50C0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Testimonios identificables, historias completas y evidencia conciliada.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21B8B-C14E-4903-848E-80159DEE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47666-DE80-4453-996E-EAE070B7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31045-989E-4CF4-AADF-51303162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Criterio de selección, consentimiento, privacidad y no favoritismo.</a:t>
            </a:r>
          </a:p>
        </p:txBody>
      </p:sp>
    </p:spTree>
    <p:extLst>
      <p:ext uri="{BB962C8B-B14F-4D97-AF65-F5344CB8AC3E}">
        <p14:creationId xmlns:p14="http://schemas.microsoft.com/office/powerpoint/2010/main" val="187241955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DD278-FFFF-47F2-B061-56E025C4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FF209-A85B-4847-9675-FD98DF55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SEMANA 6 · 28 SEP–4 OCT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BC5DA-400D-4555-A591-4E15DC22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Hacer visible la experiencia completa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04334-5602-4D61-AC71-F523155F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La persona debe poder imaginar su día antes de ver la agenda completa.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5E086-B103-4F12-889C-06C8AF55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39A1B-2A72-4C86-996B-5D6830D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6CB60-7F08-4C88-A2E7-6BEA90AD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19CF5-7325-4E44-9571-A1865E71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8345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83E37-A7F1-4697-993E-29983E6E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352C8-E465-4C63-AD0E-61288A6C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revelar capítulos de los cinco días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lanzar Hacer Feria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mostrar comida, compras, experiencias y familia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introducir la ampliación de zonas de estacionamiento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teaser de la guía móvil y rutas por intereses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C0122-ED9A-4C29-9EB8-F6731992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ENTREGABLE CLAVE · Mapa narrativo de cinco días + Hero 02 + teaser de guía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4F286-E876-4B5C-9538-90CD7399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6460C-0696-450B-983A-44F1019B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78B11-BDD2-468A-A853-84C1B2E5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La feria se entiende como plan completo y no como sala de espera del show.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AE5F8-65BA-4677-9582-2D310F04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F5F28-B0E7-4708-8009-1E683741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AA8A5-D97F-4A62-ABFA-173A4086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Programación, mapa, servicios y parqueaderos validados por sus frentes dueños.</a:t>
            </a:r>
          </a:p>
        </p:txBody>
      </p:sp>
    </p:spTree>
    <p:extLst>
      <p:ext uri="{BB962C8B-B14F-4D97-AF65-F5344CB8AC3E}">
        <p14:creationId xmlns:p14="http://schemas.microsoft.com/office/powerpoint/2010/main" val="7088010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B8B36-D85D-4E30-B370-63F0DE83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45C94-4709-4EE2-A3B1-64AFAD38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SEMANA 7 · 5–11 OCT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7010B-7645-488D-B47C-437699CB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Profundizar el deseo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0AA3D-6383-40B6-99FE-1318D31F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Cada contenido debe responder: ¿qué voy a vivir y con quién quiero compartirlo?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0D8BC-99A2-46D5-B473-DE20A2D9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7D08B-CECC-4089-92F1-DC27D336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2F969-F904-4FF7-B68C-7AB09864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92CD6-6081-427E-99CC-3C553479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EB9BD-0B06-45C9-9BBF-E1C6315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B1814-A18C-4D76-883F-EF2B24CF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La Canción que Vuelve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historias por parejas, familias y grupos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mostrar ambiente nocturno y feria diurna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revelar nuevas razones aprobadas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retargeting con prueba, no repetición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C7BB1-E259-45AE-B3B2-9255E96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ENTREGABLE CLAVE · Hero 03 + 4 itinerarios emocionales + piezas de prueba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7BEFF-24D0-47E5-8F3A-3D90D85A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07269-5409-4E1A-8379-DEF03FB2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CECEF-8DD0-4EA9-B1F6-080A8D0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Guardados, compartidos y avance del recorrido de compra.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54CA5-3383-4E7E-939E-3AD98AAF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96553-A6B5-4184-B94E-C6BFE34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504CD-808F-4168-BAD4-5DF56DA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Derechos musicales, activos aprobados y promesas operativas conciliadas.</a:t>
            </a:r>
          </a:p>
        </p:txBody>
      </p:sp>
    </p:spTree>
    <p:extLst>
      <p:ext uri="{BB962C8B-B14F-4D97-AF65-F5344CB8AC3E}">
        <p14:creationId xmlns:p14="http://schemas.microsoft.com/office/powerpoint/2010/main" val="17214725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300B0-0E8A-4C03-AB2D-03168B2C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50058-0804-436A-9EE3-71D81D9B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SEMANA 8 · 12–18 OCT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E7C27-BB48-4504-8E63-07A8958C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Ayudar a elegir el día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7274B-209A-4EAF-8DCF-8650C071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La campaña cambia de “quiero ir” a “ya sé cuándo y cómo”.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276D8-8784-417A-B044-0DD2016D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CA572-F024-4EC4-BF59-93B0B35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9B243-505F-469D-AD24-E3BDA5ED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4EBE7-8E6F-46D1-92D5-78D1C12E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2896B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8FDAC-080B-4285-A501-A30D5D3B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7289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2896B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8CD17-A622-4788-8F3A-4DEBCA5C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agenda por capítulos, no cartel infinito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itinerarios: familiar, feria, música, gastronomía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testimonios de expositores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explicar nuevos parqueaderos, accesos y señalética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contenido de objeciones reales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FC74F-9DB5-4FEF-A8F7-93F7B056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ENTREGABLE CLAVE · 5 tarjetas de jornada + 4 rutas + guía visual de estacionamiento + FAQ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05E00-BD92-4B80-8CDB-17598077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27C44-751A-42A9-ACE4-08B30BDB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535A3-DA4D-4D15-947F-BA92127A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Personas que guardan su itinerario y completan compra o plan de visita.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C7AE4-4EC4-4477-AC85-BE4C1E7E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566A8-3D9B-40BE-B78A-3601E3B7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4D195-4DCE-425F-A222-C95E5B3F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Horarios, capacidad real, entradas/salidas, accesos y señalética ratificados.</a:t>
            </a:r>
          </a:p>
        </p:txBody>
      </p:sp>
    </p:spTree>
    <p:extLst>
      <p:ext uri="{BB962C8B-B14F-4D97-AF65-F5344CB8AC3E}">
        <p14:creationId xmlns:p14="http://schemas.microsoft.com/office/powerpoint/2010/main" val="10832043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D3857-75BB-4CF0-B9A3-205760F5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98BD7-1BCF-47AC-A8C7-17256C80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SEMANA 9 · 19–25 OCT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F8DE5-0DFA-4BF4-8592-3C103936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Lanzar la guía y reducir incertidumbre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A9ED6-4472-4E72-824C-5BE2FB1B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La mejor innovación es la que ayuda a disfrutar mejor un lugar gigante.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B0E01-35BF-4AB1-9B99-F89C2964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64D35-E9B6-4FCF-A2E1-8CF3CCA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EB9D7-BC51-4263-9FCA-40D28C24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95DD2-EAC9-4010-A299-7DC1975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2C63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570E4-9B61-4CBA-BBA7-FF160CA8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9B2C63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9B2C63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E9488-5EE8-40EB-B3EA-49A56479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lanzar guía móvil informativa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tutorial de mapa y agenda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ubicar nuevos parqueaderos, accesos y rutas peatonales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contenidos de baños, comida, escenarios y ayuda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recorridos por interés y simulación de día completo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9E8C0-131B-40D2-AC6E-EEBA750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ENTREGABLE CLAVE · PWA informativa + video demo + QR interno + carrusel de utilidad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D974B-CA72-4D3B-B528-B2C483BF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8A0B0-9508-477F-B5A2-867A7937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B5355-5FDB-4AD6-9268-CF3F33DE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Mapa, agenda y rutas se consultan y comparten.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28541-3BFB-426B-995A-B0739F68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B566E-A9C1-4592-B2DF-E65329CD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C84C0-6F2D-4AE8-973C-F1D46E5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Inventario georreferenciado, plano operativo de parqueaderos, QA móvil, contingencia offline y URL segura.</a:t>
            </a:r>
          </a:p>
        </p:txBody>
      </p:sp>
    </p:spTree>
    <p:extLst>
      <p:ext uri="{BB962C8B-B14F-4D97-AF65-F5344CB8AC3E}">
        <p14:creationId xmlns:p14="http://schemas.microsoft.com/office/powerpoint/2010/main" val="212145911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85CB1-238F-440E-8057-2E5A3826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63733-A485-44AA-83AE-1B377B83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SEMANA 10 · 26–28 OCT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D5D1F-34F7-47CD-A9EE-7D697E3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Cerrar la decisión con verdad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3E218-BE7B-42BA-9A07-D4657C11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Urgencia sí; ansiedad fabricada, 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77768-085A-40CE-96DD-A690618F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10352-7393-4E03-AE68-B333C63C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709BB-5259-40C3-A026-DDCC2B07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AD330-3BBE-43A5-94DC-0A45F6D5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048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4A52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4A913-5629-4D75-970A-A28E1FC7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B84A5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B84A52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E4D51-F9FC-41A3-B21C-CFE85671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6381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cuenta regresiva útil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disponibilidad solo con inventario real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clima, accesos, horarios y recomendaciones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historias del montaje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• llamados por día y tipo de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0D6C2-8322-41B5-BE36-B8C94CD4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ENTREGABLE CLAVE · Paquete último tramo + tablero de disponibilidad conciliado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16199-F482-418B-A946-FEE334E7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7338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8FB6C-B391-4072-93EE-463F8B49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33685-89EA-4C9A-9B9A-7666F5B2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Inventario, atención y operación dicen exactamente lo mismo.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604A7-B998-4B24-9BC3-19E95D59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7338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AC809-A906-4EFE-A9F1-CF6DD2CE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8345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594C2-CFEF-44A1-8B9A-5EE7FADC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Corte diario firmado entre entradas, finanzas, marketing y operación.</a:t>
            </a:r>
          </a:p>
        </p:txBody>
      </p:sp>
    </p:spTree>
    <p:extLst>
      <p:ext uri="{BB962C8B-B14F-4D97-AF65-F5344CB8AC3E}">
        <p14:creationId xmlns:p14="http://schemas.microsoft.com/office/powerpoint/2010/main" val="9637616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A7CD7-8FBF-4C2A-A665-84C4F5DB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A3220-E1A9-4D60-B283-512B6980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EN VIVO · 29 OCT–2 NOV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5409C-8A30-44AA-9767-8D55F2B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Cinco días, cinco narrativas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EB9CD-2EEB-4B7D-A23F-F2E9396F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La cobertura acompaña la experiencia; no convierte el feed en una transmisión interminable.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A82C3-CB7C-40E5-8C87-36E37743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18A2D-3596-4AA3-9396-626A818E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D761A-E9F6-48C0-AB67-72110B47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BCB61-CBA8-4A00-B254-35BF4132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19BD6-5E47-4626-BB32-85643AE5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VOLVER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128BC-1410-4DA6-8E47-50C60C49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24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bienvenida · primeras familias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06452-2306-451E-AA74-AB238555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24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Invitar al Día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248AB-E7BD-48B9-AE2B-0A065F27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B1224-284C-4D79-96F5-E1F07BCA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DESCUBRIR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19874-7355-4B86-A660-19903C27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86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feria · rutas · sabores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10553-EFD7-48F6-A75B-4CEA1B49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86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Invitar al Día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38FD1-EBCF-4185-AF1A-97BCF7E7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B4EB3-C5F8-4F20-A78B-48714EDF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CANTAR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D08D5-705A-4B56-A855-E7269913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48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público · show · energía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D732F-A953-4119-8132-047700D8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48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Invitar al Día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97878-4649-4491-AB12-887B4307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1D12B-0882-40A2-90E6-D481096F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48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COMPARTIR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F08BA-A0E9-4BDD-82A8-949B7806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0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familia · comodidad · alegría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1EE36-816A-4112-AF25-51800967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0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Invitar al Día 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15DCD-5364-41BC-B10A-B7554480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7456CB-395A-45C4-A99C-7CA8AB6A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0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RECORDAR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B8CB8C-C390-4320-B2B3-C23C359C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72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gratitud · cierres · comercio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890C9B-C762-42B2-A686-FE5F3140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72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Sembrar 2027</a:t>
            </a:r>
          </a:p>
        </p:txBody>
      </p:sp>
    </p:spTree>
    <p:extLst>
      <p:ext uri="{BB962C8B-B14F-4D97-AF65-F5344CB8AC3E}">
        <p14:creationId xmlns:p14="http://schemas.microsoft.com/office/powerpoint/2010/main" val="6502017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BE5FB-9265-4948-9A13-84BA5C68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425F0-92EF-426B-94FC-AF06B9AD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8348C-0850-4C13-A088-E81946C5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El show se muestra desde la gente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AF0CD-EE55-4E72-A1B9-04D936AF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No basta con grabar el escenario: debemos hacer sentir la experiencia de estar ahí.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B68A4-C432-478A-BF38-9328D642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5CB81-42EF-470C-8D43-C0591521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91C0F-EA20-41B3-B75F-E52E0419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34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0b95d728944cd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3f60e7f394665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3017d4dd64912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0db1392574268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25709-1288-40EC-9B8A-92981237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34290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D06E6-5C6D-49BE-B1CB-DA12B607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1 · Escala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80B3A-4873-4B06-A1C1-756E28CE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Plano general: la energía y el lugar.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9A2FB-7669-4B6E-9E8E-AFE13783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34290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17C58-F2FC-4CFA-935C-CCB67E20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2 · Reacción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3E348-2343-40F1-A9DE-BD87C0F1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05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Rostros, coro, abrazos, manos y baile.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2A23B-5D84-4EB5-BD1A-F62FEED8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38700"/>
            <a:ext cx="34290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2C8A7-2716-47D3-A059-C78F8E93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48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3 · Detalle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B2D3F-9767-422F-AAF9-4465288B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05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Luz, vestuario, instrumento y gesto.</a:t>
            </a:r>
          </a:p>
        </p:txBody>
      </p:sp>
    </p:spTree>
    <p:extLst>
      <p:ext uri="{BB962C8B-B14F-4D97-AF65-F5344CB8AC3E}">
        <p14:creationId xmlns:p14="http://schemas.microsoft.com/office/powerpoint/2010/main" val="1876316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6CDDAA-7522-4337-9C9B-4A045698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29EEE-E6E7-4048-9159-1BA214AD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GUÍA MÓVIL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F579C-2AFA-4226-97D9-3376B26D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Una brújula para disfrutar un complejo gigante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D6FFF-AEAF-47D5-BA19-B5ED6A06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Innovación útil, liviana y sin obligar a registrarse.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C5E7B-F9A9-47A5-81DE-1B61B858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03EF4-3BC1-467F-8BC0-C3DB28B7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4F1A1-8166-4D89-BA27-ED9608E2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42F0E-9A42-4666-B76A-E0DAD48D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009900" cy="3714750"/>
          </a:xfrm>
          <a:prstGeom xmlns:a="http://schemas.openxmlformats.org/drawingml/2006/main" prst="roundRect">
            <a:avLst>
              <a:gd name="adj" fmla="val 10759"/>
            </a:avLst>
          </a:prstGeom>
          <a:solidFill xmlns:a="http://schemas.openxmlformats.org/drawingml/2006/main">
            <a:srgbClr val="F5EB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F2963-C893-4287-9468-079D95C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5908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697C2-CAE6-4270-986D-8D317D2A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66975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ES TRADICIÓN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E91E0-7B23-4DD6-82D7-D9847ED7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157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¿Qué buscas?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11DE6-BBA4-4CCA-8054-0CBD7D6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6D1F49"/>
          </a:solidFill>
          <a:ln xmlns:a="http://schemas.openxmlformats.org/drawingml/2006/main" w="9525">
            <a:solidFill>
              <a:srgbClr val="6D1F49">
                <a:alpha val="25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1170E-7964-4D04-AA51-9E2008AC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5FC64-10E2-48BC-B8FF-7C51C047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433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2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623E6-6FC5-4B71-A00B-81DAB995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67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95DF1-523D-4E92-BEEF-228BAA7A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2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BF10B-EA13-47C1-9849-76D2A342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Comida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6B810-7499-4A43-8E89-575F50AA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338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25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BD9B5-1C4D-4CD8-9105-7F29CFB5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576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Baños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B2334-7BF5-4D20-86B6-0B2C0172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2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9D688-26D4-4AD4-8CE9-8DF46E29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482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Parqueo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6DB867-EDB9-4466-8BC2-F9725956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244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2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ED60B-C4B8-4E81-BB67-90879F0B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482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Ayuda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8BCA7-7BC3-4CE8-8C01-13DB1D92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Funciona con señal limitada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3B860-2F67-4CFC-9577-C019698E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32194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5EBDF">
                <a:alpha val="18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F65538-29BD-43DC-A950-18A4DB39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241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SIN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18DA20-E787-4F42-8EF8-B16274D5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PWA estática, rápida y económica.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A5BA1D-3E9D-4CDD-8AED-B93F4D45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32194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5EBDF">
                <a:alpha val="18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833DA7-495F-4EDD-B691-40646E07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SIN CUENTA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14F172-ADEC-4512-A8FE-B938BF4A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Abrir, consultar y seguir disfrutando.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3B6559-7E0B-4922-95AD-D6BFEDB2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32194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5EBDF">
                <a:alpha val="18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46285B-F051-4A4F-B62E-B5E2F9C6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33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OFFLINE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59F94C-DF64-4C9C-BFDC-E0AF1949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9105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Mapa y agenda esencial disponibles.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11E6FD-CFA7-4E9E-8C0D-8B32A8B2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24300"/>
            <a:ext cx="32194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5EBDF">
                <a:alpha val="18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6228BD-9740-40A2-87B8-AD6FFDC1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33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MEDIBLE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C79526-44FB-46D8-8625-F1DEF093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Aperturas, rutas y consultas sin invadir.</a:t>
            </a:r>
          </a:p>
        </p:txBody>
      </p:sp>
    </p:spTree>
    <p:extLst>
      <p:ext uri="{BB962C8B-B14F-4D97-AF65-F5344CB8AC3E}">
        <p14:creationId xmlns:p14="http://schemas.microsoft.com/office/powerpoint/2010/main" val="67797479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8D5E90-F0D6-481B-B5DD-C43D028A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8AAF3-27D7-4D1F-8F53-5A0C4676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CONVERSIÓN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57C28-48D6-49AA-A69D-15CCFA9C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Cómo comunicar demanda sin inventarla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BE1B4-742B-4323-BF11-F8C64F9A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La urgencia es poderosa cuando se puede demostrar.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9B3BB-A91E-45D1-9D06-3753196B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C3D2B-AE02-49A2-8FF4-606BC2FC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7295D-4BC8-49C1-9ABC-EEE1F8F8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FC2BD-9E19-4F0B-AA10-D8AFBFBC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1B5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91C21-FD3C-4252-A292-D7C97A2A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9F1"/>
          </a:solidFill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A1D23-D037-47AA-B327-D57FBF4B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93A45-0E9D-4B77-9379-BE8D905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Arranque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3B8F3-B6AF-47E7-977E-4FA7A0D9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9F1"/>
          </a:solidFill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14DCA-F842-4D12-9108-13E12712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38758-F4DC-4A0C-B5E0-FE5E2B9B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Tracción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803A8-238C-4DC3-A48D-AA3D914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9F1"/>
          </a:solidFill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C65CE-034A-4573-9C38-A5375222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75%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377D5-A0BF-450E-9825-5DBD3105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Último tramo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E853E-1AB0-4406-AFFD-5E85CCAD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9F1"/>
          </a:solidFill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A3B86-40E2-4CA9-B444-D3A7F54B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90%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62CB7-B5A1-4E06-B63C-434BAEC6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Quedan pocos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24ED5-4BBC-418F-BD26-6716EC17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871ED3-F07D-4F02-A031-E0B30B92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5640B-B138-4216-A979-FBBCDD52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Agotado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8A248-7410-4025-A76C-70AB3F4E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2578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7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9B718-4A44-4DA0-8395-43D28402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7289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2896B"/>
                </a:solidFill>
                <a:latin typeface="Avenir Next"/>
                <a:ea typeface="Avenir Next"/>
                <a:cs typeface="Avenir Next"/>
              </a:rPr>
              <a:t>SÍ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0143CA-98A7-4F87-AE2B-47FE4173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Inventario conciliado · corte horario · captura de sistema · mensaje exacto.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9B7C5-612C-4F1B-918E-38250905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62500"/>
            <a:ext cx="55245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2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5925A2-73D9-4334-923D-3872D1FE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91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B84A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B84A52"/>
                </a:solidFill>
                <a:latin typeface="Avenir Next"/>
                <a:ea typeface="Avenir Next"/>
                <a:cs typeface="Avenir Next"/>
              </a:rPr>
              <a:t>NO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4DAFA1-E4AF-4F54-93A6-DBC5FAA2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33950"/>
            <a:ext cx="432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1712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219"/>
                </a:solidFill>
                <a:latin typeface="Avenir Next"/>
                <a:ea typeface="Avenir Next"/>
                <a:cs typeface="Avenir Next"/>
              </a:rPr>
              <a:t>Falso agotado · contador inventado · presión sin respaldo · escasez ambigua.</a:t>
            </a:r>
          </a:p>
        </p:txBody>
      </p:sp>
    </p:spTree>
    <p:extLst>
      <p:ext uri="{BB962C8B-B14F-4D97-AF65-F5344CB8AC3E}">
        <p14:creationId xmlns:p14="http://schemas.microsoft.com/office/powerpoint/2010/main" val="59864422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616BCE-3F2A-4C2D-A35F-CA257DEA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8AF62-AEDD-4656-97FC-43D6465C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EQUIPO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29A25-3890-4BCF-8794-9CE3778E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Una idea fuerte necesita dueños claros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9F7C6-4F4D-4F34-8831-A3AF2665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El organigrama 2025 sirve como referencia; las funciones 2026 deben ratificarse.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4BA02-201E-4979-B964-AD0896EE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6AD23-1EF9-46F1-8ABA-4062C493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FDC41-2ACF-4D77-AF9B-9548C8A3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CE975-7969-43E3-9D77-0950EFDC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F5EBDF">
                <a:alpha val="1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8EF2D-7AA5-489D-864D-1FF958DC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DIRECCIÓN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EC03C-6AA0-4253-A84E-6E634D3F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81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Aprueba promesa, riesgo y publicación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B856B-E624-4748-9235-A2213935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F5EBDF">
                <a:alpha val="14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2031A-41F3-4321-B393-C57C49B8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MARKETING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CE198-8793-4D6E-B750-CD4C33BA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81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Orquesta calendario, pauta y medición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FA906-5271-44DF-94FC-20A885DC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F5EBDF">
                <a:alpha val="14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FC9DD-DA70-40E2-85CB-00F69A3B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CREATIVIDAD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6987A-F92B-41FD-A9BE-3B204040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527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Traduce plataforma a diseño y copy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38602-8789-455C-BCAB-A8F0DAFC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F5EBD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FB41D-A24D-4180-86A3-46C40883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AUDIOVISUAL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633B4-D75D-4E82-BE10-14CA13D8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527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Produce archivo, rodaje, edición y sonido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12F8A-944B-46A1-A66A-B0F7AF93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F5EBDF">
                <a:alpha val="1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FBB529-7AE7-49CE-B68F-E7086C95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COMUNICACIÓN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22236C-8BBF-4574-B25F-B8F01836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243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Prensa, relaciones, comunidad y vocerías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08F1D-5828-4588-8E94-E4421CDC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F5EBDF">
                <a:alpha val="1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1B941-4FFE-4161-914F-C6F87645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PRODUCCIÓN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EE715-5714-4C55-B3E3-438823F7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243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Valida que la promesa pueda cumplirse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74A9C-4D56-495A-910B-0AD9012B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F5EBDF">
                <a:alpha val="1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70115-BA90-4ED9-B41E-F64DB090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DATOS / VENTA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88B0E7-42A8-4C5D-AE00-C22FD010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95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Concilia tracking, inventario y resultados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0BADDD-BF88-4F58-AE56-5745AEF0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F5EBDF">
                <a:alpha val="1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144DD1-15CF-4031-BB38-2D55A287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SERVICIO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C19453-7146-47FD-835C-E68625DE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Responde y devuelve objeciones al equipo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BFD536-DF1E-4929-B8AB-B9083F82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Regla: nadie publica un dato que pertenece a otro frente sin confirmación del dueño.</a:t>
            </a:r>
          </a:p>
        </p:txBody>
      </p:sp>
    </p:spTree>
    <p:extLst>
      <p:ext uri="{BB962C8B-B14F-4D97-AF65-F5344CB8AC3E}">
        <p14:creationId xmlns:p14="http://schemas.microsoft.com/office/powerpoint/2010/main" val="179472428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D20FB9-9B0C-4EEA-86F8-76F15CA9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58986-D4A6-4BB0-8AEC-A8A93D87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RITMO DE PRODUCCIÓN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0FC68-9724-4814-B78F-5CABE159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Una semana creativa que puede repetirse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7985D-BCA6-479F-BC06-910904D0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Menos improvisación, más calidad y más espacio para aprender.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A0FF5-105D-466D-AD42-0B5B58C7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0F24">
                <a:alpha val="1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850BC-D83E-43B2-8587-A1FC5364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E608F-59F3-4B7E-8B07-99DA28E0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2B0F24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4A66C-9C2D-49EA-84A8-A47B81D0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2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F9F47-0FAF-46EC-A7FB-5DDE5255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F4E96-8273-4BFC-AE9B-BE1F926D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Brief + datos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67B54-BAD3-4213-9156-80D99A4C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qué debe mover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649CB-1178-4601-9662-C6DA9902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25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3E23C-92E1-468E-8427-97340524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MAR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86BEF-58DE-45E7-9677-18CC40CF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Guion + diseño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9B515-97C8-4414-B187-3D62BCF4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idea y sistema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8F0D1-6887-4009-A9D6-A8C8D339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2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90D48-1F28-4488-945D-C41C4C39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MIÉ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0988C-FA77-4CF1-AADB-5578DB9B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Producción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EED9B-2A0E-4ABF-B13D-847E497E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rodaje y masters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1AE4D-9100-4850-9F25-48944772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2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8A15C-3375-4332-8F21-28C8571D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JUE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9CBD8-2968-4D10-966A-1EE3F862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QA + aprobación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2BC8E-3E53-4025-A82B-EE5B8A8A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marca, dato, derechos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C0DB6-AEDD-4DC4-8ADC-D50D3283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B0F24"/>
          </a:solidFill>
          <a:ln xmlns:a="http://schemas.openxmlformats.org/drawingml/2006/main" w="9525">
            <a:solidFill>
              <a:srgbClr val="2B0F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070942-1CDA-4537-A162-F7483716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VIE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AAFA3-87CF-4E70-8B61-4F1B09A0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Publicación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E7B38-DCB3-4CD0-B418-A5CAC31C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salida + comunidad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FF0ECA-2204-4A49-985D-F68065B5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619250" cy="2647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1F49">
                <a:alpha val="25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92830F-1529-4A38-BDD7-7B362003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D1F49"/>
                </a:solidFill>
                <a:latin typeface="Avenir Next"/>
                <a:ea typeface="Avenir Next"/>
                <a:cs typeface="Avenir Next"/>
              </a:rPr>
              <a:t>SÁB/DOM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B8A139-C12A-4060-B349-61F8AFB3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B0F24"/>
                </a:solidFill>
                <a:latin typeface="New York"/>
                <a:ea typeface="New York"/>
                <a:cs typeface="New York"/>
              </a:defRPr>
            </a:pPr>
            <a:r>
              <a:rPr sz="1500" b="1" i="0">
                <a:solidFill>
                  <a:srgbClr val="2B0F24"/>
                </a:solidFill>
                <a:latin typeface="New York"/>
                <a:ea typeface="New York"/>
                <a:cs typeface="New York"/>
              </a:rPr>
              <a:t>Escucha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58DACE-4FE4-4620-807A-ED8F3506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9F929A"/>
                </a:solidFill>
                <a:latin typeface="Avenir Next"/>
                <a:ea typeface="Avenir Next"/>
                <a:cs typeface="Avenir Next"/>
              </a:rPr>
              <a:t>señales y archivo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07A2EC-27EA-464F-8544-86D024F0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08204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3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5DA53C-D9E7-4912-8E68-CFB8025A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34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B0F24"/>
                </a:solidFill>
                <a:latin typeface="Avenir Next"/>
                <a:ea typeface="Avenir Next"/>
                <a:cs typeface="Avenir Next"/>
              </a:rPr>
              <a:t>Cada lunes: revisar ventas/visitas reales, preguntas, pieza ganadora, pieza débil y siguiente hipótesis.</a:t>
            </a:r>
          </a:p>
        </p:txBody>
      </p:sp>
    </p:spTree>
    <p:extLst>
      <p:ext uri="{BB962C8B-B14F-4D97-AF65-F5344CB8AC3E}">
        <p14:creationId xmlns:p14="http://schemas.microsoft.com/office/powerpoint/2010/main" val="169164604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2B0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C788FA-75B2-41A0-AC50-644768C8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B5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17051-BA3B-4762-929C-0A93168D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CONTROL DE CALIDAD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C7EA5-E91A-4AA4-9AC4-4A367A1C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2925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Nada sale por emoción solamente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5C814-FB76-485F-B082-F5189E64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La confianza se protege con gates visibles.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80905-9E2A-4213-9A0B-028C7F6C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5E103-832F-4337-A81E-BB2FC6E9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8B4DB-F4FF-4A32-A80D-D7F40D13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E9FB0-1203-4043-943F-03AFFDF8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E1B56B">
                <a:alpha val="2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34ACC-60F4-486C-BF82-7AD716F0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7E4AA-E00C-4538-9BA5-59170188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764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VERDAD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EE523-A0BA-4CAF-A7AB-57882EE5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¿El dato tiene dueño y evidencia?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2309C-D7CB-4336-9F63-657E327B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1455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E1B56B">
                <a:alpha val="25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E87CC-520B-4930-901E-3980B754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21ECA-3DCF-4947-9B7C-3166918F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764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DERECHOS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3C6B9-127D-4472-9918-19F4CFD6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¿Imagen, música y testimonio están autorizados?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E9772-2422-48A3-8E4B-ABC9FFC4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E1B56B">
                <a:alpha val="2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DD8AE-0F82-442E-B073-86C4EF3E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6BCDE-6B48-4333-A8BB-FE905C6D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764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PROMESA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16E69-8C74-4DE2-8AA8-5BB9D0A2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¿Operación puede cumplir lo que mostramos?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8FFF2-B54F-4928-A7F6-3B2C277C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E1B56B">
                <a:alpha val="2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D5BC1-1C4D-4F5B-A071-353FD901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E1B97-D9AC-43B7-A8FC-DF2A8E7C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19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CLARIDAD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DC4ED-E219-4C7B-9011-1C091D86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¿Se entiende en 3 segundos y sin sonido?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B528F-B662-46AD-8C14-9E265533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E1B56B">
                <a:alpha val="2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1F8085-01D1-443B-985A-C5045A6B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9619AB-CFEC-4C70-BA3D-D3533130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719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ACCIÓN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4BAD50-E982-4018-B5E2-63BF2177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767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¿La persona sabe qué hacer después?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448A2B-8C20-479F-BDAB-24F2D9CA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34099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>
              <a:alpha val="9000"/>
            </a:srgbClr>
          </a:solidFill>
          <a:ln xmlns:a="http://schemas.openxmlformats.org/drawingml/2006/main" w="9525">
            <a:solidFill>
              <a:srgbClr val="E1B56B">
                <a:alpha val="25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1E59FB-C706-4C19-ADAD-025376CD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00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15D11-D2B0-44FA-8EAF-6EA71A03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719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5EBDF"/>
                </a:solidFill>
                <a:latin typeface="Avenir Next"/>
                <a:ea typeface="Avenir Next"/>
                <a:cs typeface="Avenir Next"/>
              </a:rPr>
              <a:t>MEDICIÓN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EB6558-A92B-4F29-8663-E0C59872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CAD0"/>
                </a:solidFill>
                <a:latin typeface="Avenir Next"/>
                <a:ea typeface="Avenir Next"/>
                <a:cs typeface="Avenir Next"/>
              </a:rPr>
              <a:t>¿Podremos saber si funcionó?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B525B-73DD-4FA7-8274-FA4B24D2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Si una respuesta es “no”, la pieza no está lista: se corrige o se desplaza.</a:t>
            </a:r>
          </a:p>
        </p:txBody>
      </p:sp>
    </p:spTree>
    <p:extLst>
      <p:ext uri="{BB962C8B-B14F-4D97-AF65-F5344CB8AC3E}">
        <p14:creationId xmlns:p14="http://schemas.microsoft.com/office/powerpoint/2010/main" val="51798377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6db15c3d04989"/>
          <a:srcRect xmlns:a="http://schemas.openxmlformats.org/drawingml/2006/main" l="0" t="7833" r="0" b="7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2E932-A05E-4699-9475-697FB819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B0F24">
                  <a:alpha val="92000"/>
                </a:srgbClr>
              </a:gs>
              <a:gs pos="58000">
                <a:srgbClr val="2B0F24">
                  <a:alpha val="45000"/>
                </a:srgbClr>
              </a:gs>
              <a:gs pos="100000">
                <a:srgbClr val="2B0F24">
                  <a:alpha val="3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8C70B-FC44-4780-A658-064EB210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LA DECISIÓN CREATIVA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ED783-8EF6-4877-99A7-377D1752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95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495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Volvamos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950" b="1" i="0">
                <a:solidFill>
                  <a:srgbClr val="F5EBDF"/>
                </a:solidFill>
                <a:latin typeface="New York"/>
                <a:ea typeface="New York"/>
                <a:cs typeface="New York"/>
              </a:defRPr>
            </a:pPr>
            <a:r>
              <a:rPr sz="4950" b="1" i="0">
                <a:solidFill>
                  <a:srgbClr val="F5EBDF"/>
                </a:solidFill>
                <a:latin typeface="New York"/>
                <a:ea typeface="New York"/>
                <a:cs typeface="New York"/>
              </a:rPr>
              <a:t>a hacer feria.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22F7B-D42A-403E-A4A5-15686ECE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619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1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Que la música atraiga.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1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Que la experiencia convenza.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1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Que la tradición haga volver.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D3F41-DBA6-4A63-BF1D-389F76F9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6191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1219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C793D-7FAD-4BBF-9BF5-C01A59A8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575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E1B56B"/>
                </a:solidFill>
                <a:latin typeface="Avenir Next"/>
                <a:ea typeface="Avenir Next"/>
                <a:cs typeface="Avenir Next"/>
              </a:rPr>
              <a:t>ES TRADICIÓN · CINCO DÍAS PARA VOLVER A ENCONTRARNOS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59DBA-2400-4B24-A081-7DFB497B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EBDF">
                <a:alpha val="2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F3453-EA6D-4969-AC3E-C350ACC4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INTERNO · PROPUESTA EN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D7010-195B-4CEB-8C36-9E6B53D0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5EBDF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03254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2026-08-25T16:23:30.7050000Z</dcterms:created>
  <dcterms:modified xsi:type="dcterms:W3CDTF">2026-08-25T16:23:30.7060000Z</dcterms:modified>
</coreProperties>
</file>