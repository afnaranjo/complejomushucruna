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b87d654b345d9" /><Relationship Type="http://schemas.openxmlformats.org/officeDocument/2006/relationships/extended-properties" Target="/docProps/app.xml" Id="R1b6ce9d03f00463f" /><Relationship Type="http://schemas.openxmlformats.org/officeDocument/2006/relationships/officeDocument" Target="/ppt/presentation.xml" Id="R457d71611323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ebb49993049d3"/>
  </p:sldMasterIdLst>
  <p:notesMasterIdLst>
    <p:notesMasterId xmlns:r="http://schemas.openxmlformats.org/officeDocument/2006/relationships" r:id="Rc6a61372ae5a4edd"/>
  </p:notesMasterIdLst>
  <p:sldIdLst>
    <p:sldId xmlns:r="http://schemas.openxmlformats.org/officeDocument/2006/relationships" id="256" r:id="R835dfc3c2cdb4d05"/>
    <p:sldId xmlns:r="http://schemas.openxmlformats.org/officeDocument/2006/relationships" id="257" r:id="Ra09930386fee4e2a"/>
    <p:sldId xmlns:r="http://schemas.openxmlformats.org/officeDocument/2006/relationships" id="258" r:id="R0c34dc1141694d1f"/>
    <p:sldId xmlns:r="http://schemas.openxmlformats.org/officeDocument/2006/relationships" id="259" r:id="R46811caa604d4118"/>
    <p:sldId xmlns:r="http://schemas.openxmlformats.org/officeDocument/2006/relationships" id="260" r:id="R17a5b1f2c32042e3"/>
    <p:sldId xmlns:r="http://schemas.openxmlformats.org/officeDocument/2006/relationships" id="261" r:id="R679b02a583c64ada"/>
    <p:sldId xmlns:r="http://schemas.openxmlformats.org/officeDocument/2006/relationships" id="262" r:id="R9875a79ddbf04531"/>
    <p:sldId xmlns:r="http://schemas.openxmlformats.org/officeDocument/2006/relationships" id="263" r:id="R9fac2dac1738448a"/>
    <p:sldId xmlns:r="http://schemas.openxmlformats.org/officeDocument/2006/relationships" id="264" r:id="Ra122619f033a412b"/>
    <p:sldId xmlns:r="http://schemas.openxmlformats.org/officeDocument/2006/relationships" id="265" r:id="R56d4229b7d98485e"/>
    <p:sldId xmlns:r="http://schemas.openxmlformats.org/officeDocument/2006/relationships" id="266" r:id="Rea5d7c6b52fc4cb7"/>
    <p:sldId xmlns:r="http://schemas.openxmlformats.org/officeDocument/2006/relationships" id="267" r:id="Rb89b92d5eeb4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e302cad496493b" /><Relationship Type="http://schemas.openxmlformats.org/officeDocument/2006/relationships/slideMaster" Target="/ppt/slideMasters/slideMaster1.xml" Id="R3b6ebb49993049d3" /><Relationship Type="http://schemas.openxmlformats.org/officeDocument/2006/relationships/notesMaster" Target="/ppt/notesMasters/notesMaster1.xml" Id="Rc6a61372ae5a4edd" /><Relationship Type="http://schemas.openxmlformats.org/officeDocument/2006/relationships/presProps" Target="/ppt/presProps.xml" Id="R9f77097aa6544447" /><Relationship Type="http://schemas.openxmlformats.org/officeDocument/2006/relationships/tableStyles" Target="/ppt/tableStyles.xml" Id="R6543def67df048c5" /><Relationship Type="http://schemas.openxmlformats.org/officeDocument/2006/relationships/slide" Target="/ppt/slides/slide1.xml" Id="R835dfc3c2cdb4d05" /><Relationship Type="http://schemas.openxmlformats.org/officeDocument/2006/relationships/slide" Target="/ppt/slides/slide2.xml" Id="Ra09930386fee4e2a" /><Relationship Type="http://schemas.openxmlformats.org/officeDocument/2006/relationships/slide" Target="/ppt/slides/slide3.xml" Id="R0c34dc1141694d1f" /><Relationship Type="http://schemas.openxmlformats.org/officeDocument/2006/relationships/slide" Target="/ppt/slides/slide4.xml" Id="R46811caa604d4118" /><Relationship Type="http://schemas.openxmlformats.org/officeDocument/2006/relationships/slide" Target="/ppt/slides/slide5.xml" Id="R17a5b1f2c32042e3" /><Relationship Type="http://schemas.openxmlformats.org/officeDocument/2006/relationships/slide" Target="/ppt/slides/slide6.xml" Id="R679b02a583c64ada" /><Relationship Type="http://schemas.openxmlformats.org/officeDocument/2006/relationships/slide" Target="/ppt/slides/slide7.xml" Id="R9875a79ddbf04531" /><Relationship Type="http://schemas.openxmlformats.org/officeDocument/2006/relationships/slide" Target="/ppt/slides/slide8.xml" Id="R9fac2dac1738448a" /><Relationship Type="http://schemas.openxmlformats.org/officeDocument/2006/relationships/slide" Target="/ppt/slides/slide9.xml" Id="Ra122619f033a412b" /><Relationship Type="http://schemas.openxmlformats.org/officeDocument/2006/relationships/slide" Target="/ppt/slides/slide10.xml" Id="R56d4229b7d98485e" /><Relationship Type="http://schemas.openxmlformats.org/officeDocument/2006/relationships/slide" Target="/ppt/slides/slide11.xml" Id="Rea5d7c6b52fc4cb7" /><Relationship Type="http://schemas.openxmlformats.org/officeDocument/2006/relationships/slide" Target="/ppt/slides/slide12.xml" Id="Rb89b92d5eeb4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9dd31475042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50b176f0d14e99" /><Relationship Type="http://schemas.openxmlformats.org/officeDocument/2006/relationships/notesMaster" Target="/ppt/notesMasters/notesMaster1.xml" Id="R35647105ce2a49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2fae2863f41db" /><Relationship Type="http://schemas.openxmlformats.org/officeDocument/2006/relationships/notesMaster" Target="/ppt/notesMasters/notesMaster1.xml" Id="Refaa6f57afe0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09fafdecf2459c" /><Relationship Type="http://schemas.openxmlformats.org/officeDocument/2006/relationships/notesMaster" Target="/ppt/notesMasters/notesMaster1.xml" Id="Re353fbfef19548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d4baac7252472a" /><Relationship Type="http://schemas.openxmlformats.org/officeDocument/2006/relationships/notesMaster" Target="/ppt/notesMasters/notesMaster1.xml" Id="Rb65750903177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337214830487c" /><Relationship Type="http://schemas.openxmlformats.org/officeDocument/2006/relationships/notesMaster" Target="/ppt/notesMasters/notesMaster1.xml" Id="Rc6e7c0a8dda441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5dff259dbd4ea5" /><Relationship Type="http://schemas.openxmlformats.org/officeDocument/2006/relationships/notesMaster" Target="/ppt/notesMasters/notesMaster1.xml" Id="R7b9d888a940d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0bcebb5c5a4b92" /><Relationship Type="http://schemas.openxmlformats.org/officeDocument/2006/relationships/notesMaster" Target="/ppt/notesMasters/notesMaster1.xml" Id="Rde27d7f3dccf4b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147c60879b4b80" /><Relationship Type="http://schemas.openxmlformats.org/officeDocument/2006/relationships/notesMaster" Target="/ppt/notesMasters/notesMaster1.xml" Id="R2fb32e11901e41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dceee4b522451d" /><Relationship Type="http://schemas.openxmlformats.org/officeDocument/2006/relationships/notesMaster" Target="/ppt/notesMasters/notesMaster1.xml" Id="Rd31cd8624cec49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a313f9f3d44794" /><Relationship Type="http://schemas.openxmlformats.org/officeDocument/2006/relationships/notesMaster" Target="/ppt/notesMasters/notesMaster1.xml" Id="R15c4197a49d842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ceb51a91e7451f" /><Relationship Type="http://schemas.openxmlformats.org/officeDocument/2006/relationships/notesMaster" Target="/ppt/notesMasters/notesMaster1.xml" Id="Rd81c2d327d8745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47a1ad305f4e88" /><Relationship Type="http://schemas.openxmlformats.org/officeDocument/2006/relationships/notesMaster" Target="/ppt/notesMasters/notesMaster1.xml" Id="R6b8f4b6aad0e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decisión que buscamos: aprobar o ajustar una plataforma de sentido antes de hablar de artistas. La imagen es conceptual; no documenta la feria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  <a:p xmlns:a="http://schemas.openxmlformats.org/drawingml/2006/main">
            <a:r>
              <a:t>- Imagen conceptual generada con OpenAI imagegen el 2026-08-25; no es evidencia documental.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Carnaval fracasó como hecho cerrado. E1 es una señal interna aislada. La evidencia digital sí confirma saturación y concentración; el volumen digital no demuestra venta.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2026-08-25_reporte-interno_carnaval-2026_baja-asistencia-ventas_v01.md</a:t>
            </a:r>
          </a:p>
          <a:p xmlns:a="http://schemas.openxmlformats.org/drawingml/2006/main">
            <a:r>
              <a:t>- Vault local: 2026-08-24_informe-auditoria-meta-2021-2026_v01.md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estrategia no niega el poder de los artistas: los ubica como acelerador dentro de una experiencia más grande. La diferenciación debe existir antes y después de cada anuncio de cartel.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 TRADICIÓN funciona como paraguas. Cada verbo permite hablar a una audiencia y a una jornada sin reducir la campaña a nostalgia ni a un solo atractivo.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secuencia corrige un problema de producto: cada jornada necesita identidad y no solo una agenda. La ventana cae jueves a lunes; por eso esta presentación usa Día 1–Día 5 hasta ratificación.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2026-08-24_arquitectura-experiencia-asistencia-200k-finados-2026_v01.md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auditoría confirma que la música suele abrir la atención. La decisión es evitar que monopolice el relato: cada revelación debe llevar día, experiencia, precio total y motivo de permanencia.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2026-08-24_informe-auditoria-meta-2021-2026_v01.md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  <a:p xmlns:a="http://schemas.openxmlformats.org/drawingml/2006/main">
            <a:r>
              <a:t>- Imagen conceptual generada con OpenAI imagegen el 2026-08-25; no es evidencia documental.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Rutas ES TRADICIÓN convierte el posicionamiento en una operación comercial. No garantiza ventas individuales; promete diseño de flujo, visibilidad básica y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  <a:p xmlns:a="http://schemas.openxmlformats.org/drawingml/2006/main">
            <a:r>
              <a:t>- Vault local: 2026-08-24_arquitectura-experiencia-asistencia-200k-finados-2026_v01.md</a:t>
            </a:r>
          </a:p>
          <a:p xmlns:a="http://schemas.openxmlformats.org/drawingml/2006/main">
            <a:r>
              <a:t>- Imagen conceptual generada con OpenAI imagegen el 2026-08-25; no es evidencia documental.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equipo puede producir desde ahora sin artistas. Las ocho piezas públicas son condicionales. La primera revelación no es automática: se mueve si faltan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2026-08-25_calendario-expectativa-es-tradicion-finados-2026_v01.md</a:t>
            </a:r>
          </a:p>
          <a:p xmlns:a="http://schemas.openxmlformats.org/drawingml/2006/main">
            <a:r>
              <a:t>- Vault local: 2026-08-25_plan-confidencial-revelacion-cartel-finados-2026_v01.md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estructura toma de grandes espectáculos la dramaturgia —detalle, anticipación, escala y revelación— sin copiar propiedad visual. Debe funcionar con y sin sonido, con archivo fechado y derechos confirmados.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  <a:p xmlns:a="http://schemas.openxmlformats.org/drawingml/2006/main">
            <a:r>
              <a:t>- Vault local: 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presupuesto social se concentra en Meta y no se mezcla con medios tradicionales o creadores. El ritmo diario es orientativo; se escala por calidad e indicador comercial, no por calendario.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2026-08-24_plan-pauta-social-usd4000-finados-2026_v01.md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gates protegen reputación, cultura, operación, dinero y seguridad. El concepto puede aprobarse ahora; la publicación depende de evidencia y responsables.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2026-08-25_plataforma-emocional-es-tradicion-finados-2026_v01.md</a:t>
            </a:r>
          </a:p>
          <a:p xmlns:a="http://schemas.openxmlformats.org/drawingml/2006/main">
            <a:r>
              <a:t>- Vault local: 2026-08-25_calendario-expectativa-es-tradicion-finados-2026_v01.md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una decisión específica: aprobar o ajustar la plataforma antes del 28 de agosto y autorizar únicamente producción interna. La publicación mantiene gates y autorización expresa.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 local: 2026-08-25_calendario-expectativa-es-tradicion-finados-2026_v01.md</a:t>
            </a:r>
          </a:p>
          <a:p xmlns:a="http://schemas.openxmlformats.org/drawingml/2006/main">
            <a:r>
              <a:t>- Vault local: _pendientes.md, corte 2026-08-25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b8e9663db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6fede68e5149a0" /><Relationship Type="http://schemas.openxmlformats.org/officeDocument/2006/relationships/slideLayout" Target="/ppt/slideLayouts/slideLayout1.xml" Id="R549dc6857e70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dc6857e70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2d785e4d4850" /><Relationship Type="http://schemas.openxmlformats.org/officeDocument/2006/relationships/image" Target="/ppt/media/image.png" Id="R62c93f2837bb4990" /><Relationship Type="http://schemas.openxmlformats.org/officeDocument/2006/relationships/notesSlide" Target="/ppt/notesSlides/notesSlide1.xml" Id="R3b2d8a6581ab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2410474d44ec0" /><Relationship Type="http://schemas.openxmlformats.org/officeDocument/2006/relationships/notesSlide" Target="/ppt/notesSlides/notesSlide2.xml" Id="R83d45f25728f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e5c34f914e51" /><Relationship Type="http://schemas.openxmlformats.org/officeDocument/2006/relationships/notesSlide" Target="/ppt/notesSlides/notesSlide3.xml" Id="R467b158ddf534d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43016d2944857" /><Relationship Type="http://schemas.openxmlformats.org/officeDocument/2006/relationships/notesSlide" Target="/ppt/notesSlides/notesSlide4.xml" Id="R66711bbebc0444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4a3fa839431d" /><Relationship Type="http://schemas.openxmlformats.org/officeDocument/2006/relationships/notesSlide" Target="/ppt/notesSlides/notesSlide5.xml" Id="R11b334d4992c44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b04f0f7934adf" /><Relationship Type="http://schemas.openxmlformats.org/officeDocument/2006/relationships/image" Target="/ppt/media/image2.png" Id="R663b78ea1d604675" /><Relationship Type="http://schemas.openxmlformats.org/officeDocument/2006/relationships/notesSlide" Target="/ppt/notesSlides/notesSlide6.xml" Id="Rf572dd1253e9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613f37da849da" /><Relationship Type="http://schemas.openxmlformats.org/officeDocument/2006/relationships/image" Target="/ppt/media/image3.png" Id="Re6af2f20170949ea" /><Relationship Type="http://schemas.openxmlformats.org/officeDocument/2006/relationships/notesSlide" Target="/ppt/notesSlides/notesSlide7.xml" Id="R57939999751441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a248291be443c" /><Relationship Type="http://schemas.openxmlformats.org/officeDocument/2006/relationships/notesSlide" Target="/ppt/notesSlides/notesSlide8.xml" Id="R7593b2350e4c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ccafb599e4b8b" /><Relationship Type="http://schemas.openxmlformats.org/officeDocument/2006/relationships/notesSlide" Target="/ppt/notesSlides/notesSlide9.xml" Id="Rbcd77ea322a84b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68e7fcdcd43b6" /><Relationship Type="http://schemas.openxmlformats.org/officeDocument/2006/relationships/notesSlide" Target="/ppt/notesSlides/notesSlide10.xml" Id="R7e40655951f148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77477184540be" /><Relationship Type="http://schemas.openxmlformats.org/officeDocument/2006/relationships/notesSlide" Target="/ppt/notesSlides/notesSlide11.xml" Id="R40ddccd188d742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07a1308884fde" /><Relationship Type="http://schemas.openxmlformats.org/officeDocument/2006/relationships/notesSlide" Target="/ppt/notesSlides/notesSlide12.xml" Id="R88151077a38b4e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93f2837bb499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abel-Propuesta de enfoq">
            <a:extLst xmlns:a="http://schemas.openxmlformats.org/drawingml/2006/main">
              <a:ext uri="{FF2B5EF4-FFF2-40B4-BE49-F238E27FC236}">
                <a16:creationId xmlns:a16="http://schemas.microsoft.com/office/drawing/2014/main" id="{0B98B4A0-C452-4627-8C13-E6D63EF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PROPUESTA DE ENFOQUE · 25 AGOSTO 2026</a:t>
            </a:r>
          </a:p>
        </p:txBody>
      </p:sp>
      <p:sp>
        <p:nvSpPr>
          <p:cNvPr id="3" name="event-name">
            <a:extLst xmlns:a="http://schemas.openxmlformats.org/drawingml/2006/main">
              <a:ext uri="{FF2B5EF4-FFF2-40B4-BE49-F238E27FC236}">
                <a16:creationId xmlns:a16="http://schemas.microsoft.com/office/drawing/2014/main" id="{F4C1E9A8-FE98-4F57-9A38-F6597904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FINADOS</a:t>
            </a:r>
          </a:p>
          <a:p xmlns:a="http://schemas.openxmlformats.org/drawingml/2006/main">
            <a:pPr algn="l">
              <a:defRPr sz="210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MUSHUC RUNA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A7C5A04-4442-43ED-8CF0-43D3F11A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615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ES</a:t>
            </a:r>
          </a:p>
          <a:p xmlns:a="http://schemas.openxmlformats.org/drawingml/2006/main">
            <a:pPr algn="l">
              <a:defRPr sz="615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615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TRADICIÓN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09925E6-5E9E-4860-BFCD-0DB4EC3A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Cinco días para volver a encontrarnos.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9B5E8-A616-41D6-9D8C-224DC46A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Plataforma emocional y enfoque digital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658FA-88E8-4935-8A37-DD17976D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Imagen conceptual generada con IA · propuesta visual no oficial</a:t>
            </a:r>
          </a:p>
        </p:txBody>
      </p:sp>
    </p:spTree>
    <p:extLst>
      <p:ext uri="{BB962C8B-B14F-4D97-AF65-F5344CB8AC3E}">
        <p14:creationId xmlns:p14="http://schemas.microsoft.com/office/powerpoint/2010/main" val="103668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559335-E08B-4B45-BC5E-5B4AAD7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31D20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231D20"/>
                </a:solidFill>
                <a:latin typeface="New York"/>
                <a:ea typeface="New York"/>
                <a:cs typeface="New York"/>
              </a:rPr>
              <a:t>El problema no es falta de alcance; es convertir atención en asistencia y venta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CEA31-3ACC-4BCF-87A9-F660592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835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10FC-821A-4A8F-B4E5-BCA60C9F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0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4" name="label-Señal interna">
            <a:extLst xmlns:a="http://schemas.openxmlformats.org/drawingml/2006/main">
              <a:ext uri="{FF2B5EF4-FFF2-40B4-BE49-F238E27FC236}">
                <a16:creationId xmlns:a16="http://schemas.microsoft.com/office/drawing/2014/main" id="{B85E2E49-150E-4120-9D2B-20DA8E6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SEÑAL INTERNA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3DC4B-2342-4DA1-806F-09CEEEE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B86F4B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B86F4B"/>
                </a:solidFill>
                <a:latin typeface="New York"/>
                <a:ea typeface="New York"/>
                <a:cs typeface="New York"/>
              </a:rPr>
              <a:t>E1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F8FBE-4B84-4A4D-BC0D-DFC0A31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Reporte interno: baja asistencia y ventas en Carnaval 2026. Aún no conciliado.</a:t>
            </a:r>
          </a:p>
        </p:txBody>
      </p:sp>
      <p:sp>
        <p:nvSpPr>
          <p:cNvPr id="7" name="label-Saturación en vivo">
            <a:extLst xmlns:a="http://schemas.openxmlformats.org/drawingml/2006/main">
              <a:ext uri="{FF2B5EF4-FFF2-40B4-BE49-F238E27FC236}">
                <a16:creationId xmlns:a16="http://schemas.microsoft.com/office/drawing/2014/main" id="{6EDC7736-4E94-404D-BC44-0029D7D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SATURACIÓN EN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13A9A-BDA1-4BD8-98B5-20CA8D8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35,8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CE530-82D1-4AE5-95BD-0E52AA1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publicaciones por día durante los cinco días de Finados 2025.</a:t>
            </a:r>
          </a:p>
        </p:txBody>
      </p:sp>
      <p:sp>
        <p:nvSpPr>
          <p:cNvPr id="10" name="label-Concentración">
            <a:extLst xmlns:a="http://schemas.openxmlformats.org/drawingml/2006/main">
              <a:ext uri="{FF2B5EF4-FFF2-40B4-BE49-F238E27FC236}">
                <a16:creationId xmlns:a16="http://schemas.microsoft.com/office/drawing/2014/main" id="{E3733B1D-0B7F-4CA1-B4BC-C41A4431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CONCENTRACIÓN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49AA7-0408-436F-A576-7C33C10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43C"/>
                </a:solidFill>
                <a:latin typeface="New York"/>
                <a:ea typeface="New York"/>
                <a:cs typeface="New York"/>
              </a:defRPr>
            </a:pPr>
            <a:r>
              <a:rPr sz="5700" b="1" i="0">
                <a:solidFill>
                  <a:srgbClr val="10243C"/>
                </a:solidFill>
                <a:latin typeface="New York"/>
                <a:ea typeface="New York"/>
                <a:cs typeface="New York"/>
              </a:rPr>
              <a:t>25,8%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E425F-9249-4B4E-8AD7-F2B8931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del total de interacciones de Finados 2025 provino de una sola pieza.</a:t>
            </a:r>
          </a:p>
        </p:txBody>
      </p:sp>
      <p:sp>
        <p:nvSpPr>
          <p:cNvPr id="13" name="tension-conclusion">
            <a:extLst xmlns:a="http://schemas.openxmlformats.org/drawingml/2006/main">
              <a:ext uri="{FF2B5EF4-FFF2-40B4-BE49-F238E27FC236}">
                <a16:creationId xmlns:a16="http://schemas.microsoft.com/office/drawing/2014/main" id="{67C3B836-1155-40E0-A1BA-A0D6A69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1150"/>
            <a:ext cx="1219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432E0-407E-42AF-BBAF-060D0E0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10439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16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255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Más volumen puede ocultar una propuesta débil y una medición rota.</a:t>
            </a:r>
          </a:p>
        </p:txBody>
      </p:sp>
      <p:sp>
        <p:nvSpPr>
          <p:cNvPr id="1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1BE642C-EA54-4169-A13F-DA0AB612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135073-E5D2-4E94-8C6B-2B760AF3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9288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A12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Cambio de posicion">
            <a:extLst xmlns:a="http://schemas.openxmlformats.org/drawingml/2006/main">
              <a:ext uri="{FF2B5EF4-FFF2-40B4-BE49-F238E27FC236}">
                <a16:creationId xmlns:a16="http://schemas.microsoft.com/office/drawing/2014/main" id="{F8E9D742-F12C-4DEC-BE43-1874A7E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CAMBIO DE POSICIONAMIENTO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CC90E-5709-4318-8870-E6AC3B5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00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F3EBDD"/>
                </a:solidFill>
                <a:latin typeface="New York"/>
                <a:ea typeface="New York"/>
                <a:cs typeface="New York"/>
              </a:defRPr>
            </a:pPr>
            <a:r>
              <a:rPr sz="4800" b="0" i="0">
                <a:solidFill>
                  <a:srgbClr val="F3EBDD"/>
                </a:solidFill>
                <a:latin typeface="New York"/>
                <a:ea typeface="New York"/>
                <a:cs typeface="New York"/>
              </a:rPr>
              <a:t>De otro evento</a:t>
            </a:r>
          </a:p>
          <a:p xmlns:a="http://schemas.openxmlformats.org/drawingml/2006/main">
            <a:pPr algn="l">
              <a:defRPr sz="4800" b="0" i="0">
                <a:solidFill>
                  <a:srgbClr val="F3EBDD"/>
                </a:solidFill>
                <a:latin typeface="New York"/>
                <a:ea typeface="New York"/>
                <a:cs typeface="New York"/>
              </a:defRPr>
            </a:pPr>
            <a:r>
              <a:rPr sz="4800" b="0" i="0">
                <a:solidFill>
                  <a:srgbClr val="F3EBDD"/>
                </a:solidFill>
                <a:latin typeface="New York"/>
                <a:ea typeface="New York"/>
                <a:cs typeface="New York"/>
              </a:rPr>
              <a:t>del feriado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0AEFC-5C83-4B72-A97B-47E13604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540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a una tradición viva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D3962-030B-402D-8AE5-30AA8AE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A2906-6A56-4550-9E21-F7CB6CD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0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No depende de revelar una lista de artistas.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E9F1D-5CD7-4023-AFF6-A4750D9F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05375"/>
            <a:ext cx="501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Se demuestra en familia, feria, memoria, cultura, servicio y música.</a:t>
            </a:r>
          </a:p>
        </p:txBody>
      </p:sp>
      <p:sp>
        <p:nvSpPr>
          <p:cNvPr id="7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C032BA97-CD9A-43A2-A7B4-AEAE00D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E322EF-6016-4AE4-A661-B1D84F0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724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bel-Plataforma maestra">
            <a:extLst xmlns:a="http://schemas.openxmlformats.org/drawingml/2006/main">
              <a:ext uri="{FF2B5EF4-FFF2-40B4-BE49-F238E27FC236}">
                <a16:creationId xmlns:a16="http://schemas.microsoft.com/office/drawing/2014/main" id="{83D4EB8E-D544-4941-A13A-4502D702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PLATAFORMA MAESTRA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8B84E-E7B1-47D5-8828-1EC1BD3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5810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64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ES</a:t>
            </a:r>
          </a:p>
          <a:p xmlns:a="http://schemas.openxmlformats.org/drawingml/2006/main">
            <a:pPr algn="l">
              <a:defRPr sz="64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64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TRADICIÓN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00B5-1102-4F9B-BDEB-8EE2093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Está en presente, se dice fácil y puede unir emoción con experiencia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2F759-9EC3-4F07-9B15-71852F07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00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B86F4B"/>
                </a:solidFill>
                <a:latin typeface="New York"/>
                <a:ea typeface="New York"/>
                <a:cs typeface="New York"/>
              </a:defRPr>
            </a:pPr>
            <a:r>
              <a:rPr sz="2850" b="1" i="0">
                <a:solidFill>
                  <a:srgbClr val="B86F4B"/>
                </a:solidFill>
                <a:latin typeface="New York"/>
                <a:ea typeface="New York"/>
                <a:cs typeface="New York"/>
              </a:rPr>
              <a:t>VOLVER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24AF8-6450-48E3-AB66-44FAC5F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3827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0999E-96A9-4D03-A1A9-41264E8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954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8E5B3C"/>
                </a:solidFill>
                <a:latin typeface="New York"/>
                <a:ea typeface="New York"/>
                <a:cs typeface="New York"/>
              </a:defRPr>
            </a:pPr>
            <a:r>
              <a:rPr sz="2850" b="1" i="0">
                <a:solidFill>
                  <a:srgbClr val="8E5B3C"/>
                </a:solidFill>
                <a:latin typeface="New York"/>
                <a:ea typeface="New York"/>
                <a:cs typeface="New York"/>
              </a:rPr>
              <a:t>DESCUBRIR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E81B4-067A-482E-B09D-C6DA7A6E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74E49-30A2-4B49-865B-56760DE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1E3B56"/>
                </a:solidFill>
                <a:latin typeface="New York"/>
                <a:ea typeface="New York"/>
                <a:cs typeface="New York"/>
              </a:defRPr>
            </a:pPr>
            <a:r>
              <a:rPr sz="2850" b="1" i="0">
                <a:solidFill>
                  <a:srgbClr val="1E3B56"/>
                </a:solidFill>
                <a:latin typeface="New York"/>
                <a:ea typeface="New York"/>
                <a:cs typeface="New York"/>
              </a:rPr>
              <a:t>CANTAR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90111-D263-40A5-86C6-DB9E6A39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2897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3755B-3E3C-4C97-8E95-A56D7E28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861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744166"/>
                </a:solidFill>
                <a:latin typeface="New York"/>
                <a:ea typeface="New York"/>
                <a:cs typeface="New York"/>
              </a:defRPr>
            </a:pPr>
            <a:r>
              <a:rPr sz="2850" b="1" i="0">
                <a:solidFill>
                  <a:srgbClr val="744166"/>
                </a:solidFill>
                <a:latin typeface="New York"/>
                <a:ea typeface="New York"/>
                <a:cs typeface="New York"/>
              </a:rPr>
              <a:t>COMPARTIR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2D9F1-E8DC-41C5-A6BE-89482D39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2432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0AEBB-ED08-4DD0-A610-A5BC23CD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815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28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RECORDAR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C7F53-BEDB-4B0F-81CE-92A1E46E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9675"/>
            <a:ext cx="377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es tradición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5E42B-8B84-4734-AFCA-91D1DEE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rPr>
              <a:t>Familias · quienes vuelven · compradores de feria · expositores · amantes de la música</a:t>
            </a:r>
          </a:p>
        </p:txBody>
      </p:sp>
      <p:sp>
        <p:nvSpPr>
          <p:cNvPr id="1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46D53166-92CF-46D2-B8A8-BDC56CB2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1F32C7-3AA4-4215-9797-C5F15B6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37084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35C9C6-4E47-4580-BBE0-B66F7AE8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31D20"/>
                </a:solidFill>
                <a:latin typeface="New York"/>
                <a:ea typeface="New York"/>
                <a:cs typeface="New York"/>
              </a:defRPr>
            </a:pPr>
            <a:r>
              <a:rPr sz="3600" b="1" i="0">
                <a:solidFill>
                  <a:srgbClr val="231D20"/>
                </a:solidFill>
                <a:latin typeface="New York"/>
                <a:ea typeface="New York"/>
                <a:cs typeface="New York"/>
              </a:rPr>
              <a:t>Cada día necesita su propia razón para ir —y una razón para volver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58AA3-74C8-463A-B2E1-11FE0FC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Arquitectura por Día 1–Día 5 hasta ratificar públicamente el calendario 29 oct–2 nov.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6C5CD-AE4D-4279-B1D5-C8067BF7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975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0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785D7-414F-40D3-B44C-834D05EB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86F4B"/>
                </a:solidFill>
                <a:latin typeface="New York"/>
                <a:ea typeface="New York"/>
                <a:cs typeface="New York"/>
              </a:defRPr>
            </a:pPr>
            <a:r>
              <a:rPr sz="3150" b="1" i="0">
                <a:solidFill>
                  <a:srgbClr val="B86F4B"/>
                </a:solidFill>
                <a:latin typeface="New York"/>
                <a:ea typeface="New York"/>
                <a:cs typeface="New York"/>
              </a:rPr>
              <a:t>01</a:t>
            </a:r>
          </a:p>
        </p:txBody>
      </p:sp>
      <p:sp>
        <p:nvSpPr>
          <p:cNvPr id="5" name="day-node-01">
            <a:extLst xmlns:a="http://schemas.openxmlformats.org/drawingml/2006/main">
              <a:ext uri="{FF2B5EF4-FFF2-40B4-BE49-F238E27FC236}">
                <a16:creationId xmlns:a16="http://schemas.microsoft.com/office/drawing/2014/main" id="{FC2E49ED-9059-4A7A-9A13-B907E35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575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08760-4B26-4B6A-B32A-45DB266B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VOLVER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9E2EC-041C-4ADE-8E69-5A33F92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apertura · familia · retorno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08A1E-F662-4499-ABB8-3081C87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86F4B"/>
                </a:solidFill>
                <a:latin typeface="New York"/>
                <a:ea typeface="New York"/>
                <a:cs typeface="New York"/>
              </a:defRPr>
            </a:pPr>
            <a:r>
              <a:rPr sz="1650" b="1" i="0">
                <a:solidFill>
                  <a:srgbClr val="B86F4B"/>
                </a:solidFill>
                <a:latin typeface="New York"/>
                <a:ea typeface="New York"/>
                <a:cs typeface="New York"/>
              </a:rPr>
              <a:t>Abrir recorridos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E6524-75BC-4C14-BD52-E41DEF9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E5B3C"/>
                </a:solidFill>
                <a:latin typeface="New York"/>
                <a:ea typeface="New York"/>
                <a:cs typeface="New York"/>
              </a:defRPr>
            </a:pPr>
            <a:r>
              <a:rPr sz="3150" b="1" i="0">
                <a:solidFill>
                  <a:srgbClr val="8E5B3C"/>
                </a:solidFill>
                <a:latin typeface="New York"/>
                <a:ea typeface="New York"/>
                <a:cs typeface="New York"/>
              </a:rPr>
              <a:t>02</a:t>
            </a:r>
          </a:p>
        </p:txBody>
      </p:sp>
      <p:sp>
        <p:nvSpPr>
          <p:cNvPr id="10" name="day-node-02">
            <a:extLst xmlns:a="http://schemas.openxmlformats.org/drawingml/2006/main">
              <a:ext uri="{FF2B5EF4-FFF2-40B4-BE49-F238E27FC236}">
                <a16:creationId xmlns:a16="http://schemas.microsoft.com/office/drawing/2014/main" id="{32720D86-B55C-4508-849F-0DA9979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575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02A53-C986-4411-A777-3717BD3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385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DESCUBRIR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2A3FF-CB59-4575-AF99-9194CA00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529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70% feria · 30% música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A65E7-9F2B-4A9D-B9D9-0DE4264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958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E5B3C"/>
                </a:solidFill>
                <a:latin typeface="New York"/>
                <a:ea typeface="New York"/>
                <a:cs typeface="New York"/>
              </a:defRPr>
            </a:pPr>
            <a:r>
              <a:rPr sz="1650" b="1" i="0">
                <a:solidFill>
                  <a:srgbClr val="8E5B3C"/>
                </a:solidFill>
                <a:latin typeface="New York"/>
                <a:ea typeface="New York"/>
                <a:cs typeface="New York"/>
              </a:rPr>
              <a:t>Mover flujo a puestos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F2088-74AD-4B11-A5AF-F3CCB9E8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E3B56"/>
                </a:solidFill>
                <a:latin typeface="New York"/>
                <a:ea typeface="New York"/>
                <a:cs typeface="New York"/>
              </a:defRPr>
            </a:pPr>
            <a:r>
              <a:rPr sz="3150" b="1" i="0">
                <a:solidFill>
                  <a:srgbClr val="1E3B56"/>
                </a:solidFill>
                <a:latin typeface="New York"/>
                <a:ea typeface="New York"/>
                <a:cs typeface="New York"/>
              </a:rPr>
              <a:t>03</a:t>
            </a:r>
          </a:p>
        </p:txBody>
      </p:sp>
      <p:sp>
        <p:nvSpPr>
          <p:cNvPr id="15" name="day-node-03">
            <a:extLst xmlns:a="http://schemas.openxmlformats.org/drawingml/2006/main">
              <a:ext uri="{FF2B5EF4-FFF2-40B4-BE49-F238E27FC236}">
                <a16:creationId xmlns:a16="http://schemas.microsoft.com/office/drawing/2014/main" id="{3996876D-2965-45E4-89E6-4208F28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575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2108E-1C21-4CF9-A958-C9E54E72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CANTAR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409E5-235B-4390-A168-4C231EFF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50% feria · 50% música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180D2-6897-4FD2-9A5B-02D90609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E3B56"/>
                </a:solidFill>
                <a:latin typeface="New York"/>
                <a:ea typeface="New York"/>
                <a:cs typeface="New York"/>
              </a:defRPr>
            </a:pPr>
            <a:r>
              <a:rPr sz="1650" b="1" i="0">
                <a:solidFill>
                  <a:srgbClr val="1E3B56"/>
                </a:solidFill>
                <a:latin typeface="New York"/>
                <a:ea typeface="New York"/>
                <a:cs typeface="New York"/>
              </a:rPr>
              <a:t>Pico con permanencia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8784C-6EBA-4291-AA02-9174CA0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744166"/>
                </a:solidFill>
                <a:latin typeface="New York"/>
                <a:ea typeface="New York"/>
                <a:cs typeface="New York"/>
              </a:defRPr>
            </a:pPr>
            <a:r>
              <a:rPr sz="3150" b="1" i="0">
                <a:solidFill>
                  <a:srgbClr val="744166"/>
                </a:solidFill>
                <a:latin typeface="New York"/>
                <a:ea typeface="New York"/>
                <a:cs typeface="New York"/>
              </a:rPr>
              <a:t>04</a:t>
            </a:r>
          </a:p>
        </p:txBody>
      </p:sp>
      <p:sp>
        <p:nvSpPr>
          <p:cNvPr id="20" name="day-node-04">
            <a:extLst xmlns:a="http://schemas.openxmlformats.org/drawingml/2006/main">
              <a:ext uri="{FF2B5EF4-FFF2-40B4-BE49-F238E27FC236}">
                <a16:creationId xmlns:a16="http://schemas.microsoft.com/office/drawing/2014/main" id="{A5E1693F-533C-4FD9-83BD-9F5FC9A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575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C12B1-0FF4-4102-8BC1-8DEB824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COMPARTIR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C05D2-2CCC-4842-A236-BDBEF7E9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529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70% feria · 30% música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C5B72-A6C0-413D-869F-55284D9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958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44166"/>
                </a:solidFill>
                <a:latin typeface="New York"/>
                <a:ea typeface="New York"/>
                <a:cs typeface="New York"/>
              </a:defRPr>
            </a:pPr>
            <a:r>
              <a:rPr sz="1650" b="1" i="0">
                <a:solidFill>
                  <a:srgbClr val="744166"/>
                </a:solidFill>
                <a:latin typeface="New York"/>
                <a:ea typeface="New York"/>
                <a:cs typeface="New York"/>
              </a:rPr>
              <a:t>Sostener el día completo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DBD42-550E-425C-93AC-69D72970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669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31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05</a:t>
            </a:r>
          </a:p>
        </p:txBody>
      </p:sp>
      <p:sp>
        <p:nvSpPr>
          <p:cNvPr id="25" name="day-node-05">
            <a:extLst xmlns:a="http://schemas.openxmlformats.org/drawingml/2006/main">
              <a:ext uri="{FF2B5EF4-FFF2-40B4-BE49-F238E27FC236}">
                <a16:creationId xmlns:a16="http://schemas.microsoft.com/office/drawing/2014/main" id="{AF0B7370-5BA8-4720-A93D-06847263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5752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4808C-6E3A-42D9-A421-E7D56706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RECORDAR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E3008-FF7B-4E17-88A0-F1874C7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principalmente feria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9365C-6D0B-4E18-B109-1AD4DF1B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95850"/>
            <a:ext cx="1504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16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Cerrar con identidad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CF69A-723F-4C01-9FFC-DE909E0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1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La mezcla final depende de programación, contratos, aforo y operación.</a:t>
            </a:r>
          </a:p>
        </p:txBody>
      </p:sp>
      <p:sp>
        <p:nvSpPr>
          <p:cNvPr id="30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31640CB0-DAC5-4C57-8925-75826F05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A6B673B-E3C5-4A6B-9C5E-5ECFFF77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30580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b78ea1d6046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usic-copy-panel">
            <a:extLst xmlns:a="http://schemas.openxmlformats.org/drawingml/2006/main">
              <a:ext uri="{FF2B5EF4-FFF2-40B4-BE49-F238E27FC236}">
                <a16:creationId xmlns:a16="http://schemas.microsoft.com/office/drawing/2014/main" id="{4C90160B-5A15-4EAC-9BCC-0117C07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abel-Papel estratégico ">
            <a:extLst xmlns:a="http://schemas.openxmlformats.org/drawingml/2006/main">
              <a:ext uri="{FF2B5EF4-FFF2-40B4-BE49-F238E27FC236}">
                <a16:creationId xmlns:a16="http://schemas.microsoft.com/office/drawing/2014/main" id="{7BD00736-F92F-4784-B18D-EA1E1E9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24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PAPEL ESTRATÉGICO DE LA MÚSICA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599A0-4424-43DD-B3E5-DC5472C5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72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La música atrae.</a:t>
            </a:r>
          </a:p>
          <a:p xmlns:a="http://schemas.openxmlformats.org/drawingml/2006/main">
            <a:pPr algn="l">
              <a:def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La feria completa</a:t>
            </a:r>
          </a:p>
          <a:p xmlns:a="http://schemas.openxmlformats.org/drawingml/2006/main">
            <a:pPr algn="l">
              <a:def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3675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hace permanecer.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795A2-4354-4207-A889-A761E7A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35F3E-D9E5-4CBF-8549-1C55D2CF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Reconocimiento abre la atención.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A4D95-E47B-4737-9AA6-48C66DD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2A7A3-5794-4664-82D7-19939FF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La experiencia total diferencia.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EF207-50A2-4738-BB76-1B98738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006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18199-42B6-4CA9-871A-8CEDD61E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La confianza convierte y hace volver.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8548C-95B1-4E14-BBC4-75B02355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7220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Imagen conceptual generada con IA · no representa el cartel 2026</a:t>
            </a:r>
          </a:p>
        </p:txBody>
      </p:sp>
    </p:spTree>
    <p:extLst>
      <p:ext uri="{BB962C8B-B14F-4D97-AF65-F5344CB8AC3E}">
        <p14:creationId xmlns:p14="http://schemas.microsoft.com/office/powerpoint/2010/main" val="762376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f2f20170949ea"/>
          <a:srcRect xmlns:a="http://schemas.openxmlformats.org/drawingml/2006/main" l="23267" t="0" r="23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515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abel-Recuperación comer">
            <a:extLst xmlns:a="http://schemas.openxmlformats.org/drawingml/2006/main">
              <a:ext uri="{FF2B5EF4-FFF2-40B4-BE49-F238E27FC236}">
                <a16:creationId xmlns:a16="http://schemas.microsoft.com/office/drawing/2014/main" id="{ABA8002D-8252-463A-B5DC-092D4EB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4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RECUPERACIÓN COMERCIAL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66407-ECB4-4BC4-AFAD-6986E848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0600"/>
            <a:ext cx="4324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057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3225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La feria vuelve a ser feria cuando los puestos forman parte del recorrido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E8A02-D7FC-4D1F-A632-40998A7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1544F-0E0F-44CC-9CD8-78AD359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MAPA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168E9-56D3-4890-A768-C758A26B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Todos los expositores visibles por categoría.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15C56-4668-42D9-B4CA-00A18B5C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3A6C7-2E96-4682-8BF5-39B36143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RUTAS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09847-714D-40B1-8900-F4212942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Sabores, hogar, moda, productores y novedades.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C0783-F4BC-4916-9912-1CFCD937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53880-6CF2-44F4-963F-2BF157F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ACTIVACIÓN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F1845-5202-4B3F-953A-D7D47A70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054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Hallazgos, demostraciones y ubicación exacta.</a:t>
            </a:r>
          </a:p>
        </p:txBody>
      </p:sp>
      <p:sp>
        <p:nvSpPr>
          <p:cNvPr id="13" name="commerce-measurement">
            <a:extLst xmlns:a="http://schemas.openxmlformats.org/drawingml/2006/main">
              <a:ext uri="{FF2B5EF4-FFF2-40B4-BE49-F238E27FC236}">
                <a16:creationId xmlns:a16="http://schemas.microsoft.com/office/drawing/2014/main" id="{DB1A70CE-BE60-42E0-800C-6E60788D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72150"/>
            <a:ext cx="478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D2A21-EE81-48FA-981E-895774E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5312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8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Medir flujo · rutas · satisfacción · ventas por rangos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C0A92-D4A9-4B80-B14F-71BCA3CE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4367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Imagen conceptual generada con IA</a:t>
            </a:r>
          </a:p>
        </p:txBody>
      </p:sp>
    </p:spTree>
    <p:extLst>
      <p:ext uri="{BB962C8B-B14F-4D97-AF65-F5344CB8AC3E}">
        <p14:creationId xmlns:p14="http://schemas.microsoft.com/office/powerpoint/2010/main" val="1242090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label-Secuencia de salid">
            <a:extLst xmlns:a="http://schemas.openxmlformats.org/drawingml/2006/main">
              <a:ext uri="{FF2B5EF4-FFF2-40B4-BE49-F238E27FC236}">
                <a16:creationId xmlns:a16="http://schemas.microsoft.com/office/drawing/2014/main" id="{BB88343F-9D29-4977-8CF3-11C4785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SECUENCIA DE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EF5CB-7C61-4D03-AA35-4D5346B4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La expectativa empieza sin quemar el cartel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D644B-9E35-490F-A38C-C70288A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Primero construimos memoria e identidad. La revelación llega solo cuando oferta y operación están listas.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D0AC9-6364-455E-813A-2557459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25 AGO–2 SEP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E372C-2E7B-4D79-A2D5-F627E75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62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AE8CC-0CE9-4862-8FC0-E3B93B0A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D7A84B"/>
                </a:solidFill>
                <a:latin typeface="New York"/>
                <a:ea typeface="New York"/>
                <a:cs typeface="New York"/>
              </a:defRPr>
            </a:pPr>
            <a:r>
              <a:rPr sz="2775" b="1" i="0">
                <a:solidFill>
                  <a:srgbClr val="D7A84B"/>
                </a:solidFill>
                <a:latin typeface="New York"/>
                <a:ea typeface="New York"/>
                <a:cs typeface="New York"/>
              </a:rPr>
              <a:t>9 días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03E6C-F9DD-489F-AD59-68358F1E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Banco histórico · 3 pilotos · hero · QA · Go/No-Go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952E-858D-45EF-AE49-9F74124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3–16 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20AEA-C565-4173-9623-0CBD564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3162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41149-D120-495E-9F10-2F6CA63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71925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B86F4B"/>
                </a:solidFill>
                <a:latin typeface="New York"/>
                <a:ea typeface="New York"/>
                <a:cs typeface="New York"/>
              </a:defRPr>
            </a:pPr>
            <a:r>
              <a:rPr sz="2775" b="1" i="0">
                <a:solidFill>
                  <a:srgbClr val="B86F4B"/>
                </a:solidFill>
                <a:latin typeface="New York"/>
                <a:ea typeface="New York"/>
                <a:cs typeface="New York"/>
              </a:rPr>
              <a:t>8 piezas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7E375-4730-4697-9FFA-C92B656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958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Familia · feria · música sin artista · cinco capítulos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C41B2-2C03-4FAB-AB47-B5235EC7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7655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DESDE 17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610EE-69E7-45F0-BE95-AA7A553B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33750"/>
            <a:ext cx="3733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REVELAR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73115-152B-44A9-A7BA-A0D2AF7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71925"/>
            <a:ext cx="373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744166"/>
                </a:solidFill>
                <a:latin typeface="New York"/>
                <a:ea typeface="New York"/>
                <a:cs typeface="New York"/>
              </a:defRPr>
            </a:pPr>
            <a:r>
              <a:rPr sz="2775" b="1" i="0">
                <a:solidFill>
                  <a:srgbClr val="744166"/>
                </a:solidFill>
                <a:latin typeface="New York"/>
                <a:ea typeface="New York"/>
                <a:cs typeface="New York"/>
              </a:rPr>
              <a:t>solo con 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CEC82-82C3-47A8-9CD1-A7DC7522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5825"/>
            <a:ext cx="350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Contrato · precio · capacidad · derechos · destino seguro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239C9-435B-42B9-AA95-767507E1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146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3EB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9C610-AB30-4C3C-8957-828C1F88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3EB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06F16-9D98-44CB-BAD5-7331D93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Cartel bajo embargo · ninguna fecha del calendario autoriza publicación por sí sola</a:t>
            </a:r>
          </a:p>
        </p:txBody>
      </p:sp>
      <p:sp>
        <p:nvSpPr>
          <p:cNvPr id="1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2B5321FF-5BAD-4408-8F41-70B355D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7136F7-1B0A-4623-8E6C-E533B35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1336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abel-Película principal">
            <a:extLst xmlns:a="http://schemas.openxmlformats.org/drawingml/2006/main">
              <a:ext uri="{FF2B5EF4-FFF2-40B4-BE49-F238E27FC236}">
                <a16:creationId xmlns:a16="http://schemas.microsoft.com/office/drawing/2014/main" id="{A6EA7CB3-2101-4957-B9EB-9CF5B3C4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PELÍCULA PRINCIPAL · 45–60 SEGUNDOS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D67E6-D1E9-4A28-AEF3-2E0F7F34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14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390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‘Nos llama’ despierta memoria antes de vender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CB48E-98D4-43CA-AB49-96F4FD56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0425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0C5"/>
            </a:solidFill>
            <a:prstDash val="solid"/>
          </a:ln>
        </p:spPr>
      </p:sp>
      <p:sp>
        <p:nvSpPr>
          <p:cNvPr id="4" name="story-node-0">
            <a:extLst xmlns:a="http://schemas.openxmlformats.org/drawingml/2006/main">
              <a:ext uri="{FF2B5EF4-FFF2-40B4-BE49-F238E27FC236}">
                <a16:creationId xmlns:a16="http://schemas.microsoft.com/office/drawing/2014/main" id="{A349BCA8-F7ED-483D-99A5-B689C7C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8486E-E279-42E4-AC3F-A0D0C97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00–03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712BB-5062-4CB6-B30A-3C0C6ACE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SONIDO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14036-0081-4FE8-866C-8BD3203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cuchara · vapor</a:t>
            </a:r>
          </a:p>
        </p:txBody>
      </p:sp>
      <p:sp>
        <p:nvSpPr>
          <p:cNvPr id="8" name="story-node-1">
            <a:extLst xmlns:a="http://schemas.openxmlformats.org/drawingml/2006/main">
              <a:ext uri="{FF2B5EF4-FFF2-40B4-BE49-F238E27FC236}">
                <a16:creationId xmlns:a16="http://schemas.microsoft.com/office/drawing/2014/main" id="{D73AF2AB-D4AB-4AEF-AA01-58CCC36A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C0568-DE57-4411-8834-7B3213E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E5B3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8E5B3C"/>
                </a:solidFill>
                <a:latin typeface="Avenir Next"/>
                <a:ea typeface="Avenir Next"/>
                <a:cs typeface="Avenir Next"/>
              </a:rPr>
              <a:t>03–10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AB2F4-0435-4ABD-B578-374EE26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MANOS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F7B63-EEAB-407E-9873-50AF121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mayor · niño</a:t>
            </a:r>
          </a:p>
        </p:txBody>
      </p:sp>
      <p:sp>
        <p:nvSpPr>
          <p:cNvPr id="12" name="story-node-2">
            <a:extLst xmlns:a="http://schemas.openxmlformats.org/drawingml/2006/main">
              <a:ext uri="{FF2B5EF4-FFF2-40B4-BE49-F238E27FC236}">
                <a16:creationId xmlns:a16="http://schemas.microsoft.com/office/drawing/2014/main" id="{7E728141-934C-4C78-B36F-AA59AD8A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4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BBED2-7388-46F7-9D1E-674A6C4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10–20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82768-4338-4FB8-9815-3C966217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LLEGADA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D943C-40D8-470E-AB63-A9712B1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camino · abrazo</a:t>
            </a:r>
          </a:p>
        </p:txBody>
      </p:sp>
      <p:sp>
        <p:nvSpPr>
          <p:cNvPr id="16" name="story-node-3">
            <a:extLst xmlns:a="http://schemas.openxmlformats.org/drawingml/2006/main">
              <a:ext uri="{FF2B5EF4-FFF2-40B4-BE49-F238E27FC236}">
                <a16:creationId xmlns:a16="http://schemas.microsoft.com/office/drawing/2014/main" id="{9FCC974F-3411-4740-BE8F-A845DA2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D7827-4EE9-4B7E-8034-39900849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20–33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C1921-AA3F-41B7-885B-4E6F6FA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FERIA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0E2BD-681A-49C9-AEC4-A6A1B7B8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producto · encuentro</a:t>
            </a:r>
          </a:p>
        </p:txBody>
      </p:sp>
      <p:sp>
        <p:nvSpPr>
          <p:cNvPr id="20" name="story-node-4">
            <a:extLst xmlns:a="http://schemas.openxmlformats.org/drawingml/2006/main">
              <a:ext uri="{FF2B5EF4-FFF2-40B4-BE49-F238E27FC236}">
                <a16:creationId xmlns:a16="http://schemas.microsoft.com/office/drawing/2014/main" id="{8CD6D5B6-C412-4D00-85F9-0EFA5A8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3720A-E51C-44FC-8668-59D2166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B5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E3B56"/>
                </a:solidFill>
                <a:latin typeface="Avenir Next"/>
                <a:ea typeface="Avenir Next"/>
                <a:cs typeface="Avenir Next"/>
              </a:rPr>
              <a:t>33–45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99E4D-95ED-4B99-AF4D-7D56F54B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MÚSICA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A5B4D-A24D-485C-A432-72138F4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luz · instrumento</a:t>
            </a:r>
          </a:p>
        </p:txBody>
      </p:sp>
      <p:sp>
        <p:nvSpPr>
          <p:cNvPr id="24" name="story-node-5">
            <a:extLst xmlns:a="http://schemas.openxmlformats.org/drawingml/2006/main">
              <a:ext uri="{FF2B5EF4-FFF2-40B4-BE49-F238E27FC236}">
                <a16:creationId xmlns:a16="http://schemas.microsoft.com/office/drawing/2014/main" id="{1E6C3B34-1B29-4EB1-A7DA-888D6E9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2385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E5D51-43CC-48D0-BD52-B917211B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rPr>
              <a:t>45–60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43F76B-20CD-401D-BBA1-27459311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14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ESCALA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D6861-FEB9-4C9F-9F60-DDED2AA1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1719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familia · complejo</a:t>
            </a:r>
          </a:p>
        </p:txBody>
      </p:sp>
      <p:sp>
        <p:nvSpPr>
          <p:cNvPr id="28" name="hero-voice-line">
            <a:extLst xmlns:a="http://schemas.openxmlformats.org/drawingml/2006/main">
              <a:ext uri="{FF2B5EF4-FFF2-40B4-BE49-F238E27FC236}">
                <a16:creationId xmlns:a16="http://schemas.microsoft.com/office/drawing/2014/main" id="{A0223F97-0822-4B22-B139-7FDE6F2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7917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3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4C99A-85FF-43CE-8AF0-74D95C7F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768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22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“Hay fechas que no solo llegan. Nos llaman.”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E452C-E82F-4882-A95F-8962C84F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Cierre provisional: FINADOS MUSHUC RUNA 2026 · ES TRADICIÓN · MUY PRONTO</a:t>
            </a:r>
          </a:p>
        </p:txBody>
      </p:sp>
      <p:sp>
        <p:nvSpPr>
          <p:cNvPr id="3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A6F1238-0DBB-4800-9996-C140C331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940653E-494D-4BE5-864F-0151D326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50700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abel-Presupuesto confir">
            <a:extLst xmlns:a="http://schemas.openxmlformats.org/drawingml/2006/main">
              <a:ext uri="{FF2B5EF4-FFF2-40B4-BE49-F238E27FC236}">
                <a16:creationId xmlns:a16="http://schemas.microsoft.com/office/drawing/2014/main" id="{708D709F-E1F2-4E19-AAED-0407A392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PRESUPUESTO CONFIRMADO · SOLO PAUTA SOCIAL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F3E80-9733-4BA0-B527-3E48D16F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739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3750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$4.000 deben mover decisión, no acumular métricas de vanidad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9FC9E-0B54-4EFF-8889-75F29E7C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231D20"/>
                </a:solidFill>
                <a:latin typeface="New York"/>
                <a:ea typeface="New York"/>
                <a:cs typeface="New York"/>
              </a:defRPr>
            </a:pPr>
            <a:r>
              <a:rPr sz="5550" b="1" i="0">
                <a:solidFill>
                  <a:srgbClr val="231D20"/>
                </a:solidFill>
                <a:latin typeface="New York"/>
                <a:ea typeface="New York"/>
                <a:cs typeface="New York"/>
              </a:rPr>
              <a:t>$4.000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51D0E-55B0-4510-93A3-2400E94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Meta Ads concentrado</a:t>
            </a:r>
          </a:p>
          <a:p xmlns:a="http://schemas.openxmlformats.org/drawingml/2006/main">
            <a:pPr algn="l">
              <a:defRPr sz="17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por fase y resultado</a:t>
            </a:r>
          </a:p>
        </p:txBody>
      </p:sp>
      <p:sp>
        <p:nvSpPr>
          <p:cNvPr id="5" name="budget-EXPECTATIVA">
            <a:extLst xmlns:a="http://schemas.openxmlformats.org/drawingml/2006/main">
              <a:ext uri="{FF2B5EF4-FFF2-40B4-BE49-F238E27FC236}">
                <a16:creationId xmlns:a16="http://schemas.microsoft.com/office/drawing/2014/main" id="{978EF03E-8846-4D09-B21C-5D316F6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76009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F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dget-REVELACIONES">
            <a:extLst xmlns:a="http://schemas.openxmlformats.org/drawingml/2006/main">
              <a:ext uri="{FF2B5EF4-FFF2-40B4-BE49-F238E27FC236}">
                <a16:creationId xmlns:a16="http://schemas.microsoft.com/office/drawing/2014/main" id="{00AAA7D5-685C-4139-82D4-2EC6C012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2438400"/>
            <a:ext cx="152019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5B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dget-CONVERSIÓN">
            <a:extLst xmlns:a="http://schemas.openxmlformats.org/drawingml/2006/main">
              <a:ext uri="{FF2B5EF4-FFF2-40B4-BE49-F238E27FC236}">
                <a16:creationId xmlns:a16="http://schemas.microsoft.com/office/drawing/2014/main" id="{77F6506D-134F-43E4-930C-C74B119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2438400"/>
            <a:ext cx="30403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dget-URGENCIA">
            <a:extLst xmlns:a="http://schemas.openxmlformats.org/drawingml/2006/main">
              <a:ext uri="{FF2B5EF4-FFF2-40B4-BE49-F238E27FC236}">
                <a16:creationId xmlns:a16="http://schemas.microsoft.com/office/drawing/2014/main" id="{60DA2D1B-3D79-4359-874F-E837A292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915" y="2438400"/>
            <a:ext cx="152019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dget-SERVICIO">
            <a:extLst xmlns:a="http://schemas.openxmlformats.org/drawingml/2006/main">
              <a:ext uri="{FF2B5EF4-FFF2-40B4-BE49-F238E27FC236}">
                <a16:creationId xmlns:a16="http://schemas.microsoft.com/office/drawing/2014/main" id="{64E043E8-3799-4DE3-8AB1-B523C7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105" y="2438400"/>
            <a:ext cx="38004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dget-RESERVA">
            <a:extLst xmlns:a="http://schemas.openxmlformats.org/drawingml/2006/main">
              <a:ext uri="{FF2B5EF4-FFF2-40B4-BE49-F238E27FC236}">
                <a16:creationId xmlns:a16="http://schemas.microsoft.com/office/drawing/2014/main" id="{8850E77F-DAD9-4C1B-86C0-E5104A9F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153" y="2438400"/>
            <a:ext cx="380048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C65CB-3C74-4AED-A0AA-052A8351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EXPECTATIVA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CBB09-8797-4578-A50A-DBA4CF8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$400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64CCE-FE1A-4AFA-810B-DCF5E17E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38671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E5B3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8E5B3C"/>
                </a:solidFill>
                <a:latin typeface="Avenir Next"/>
                <a:ea typeface="Avenir Next"/>
                <a:cs typeface="Avenir Next"/>
              </a:rPr>
              <a:t>REVELACIONES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016E3-E7EA-49D0-BA43-24904641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345" y="41243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$800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1305A-719C-4466-A0CA-56B5F5C5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32194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rPr>
              <a:t>CONVERSIÓN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F89DB-5AF7-4EAD-9367-92510A3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535" y="34766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$1.600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6EFE6-974D-4132-9FAA-F1E4B93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915" y="38671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3B5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E3B56"/>
                </a:solidFill>
                <a:latin typeface="Avenir Next"/>
                <a:ea typeface="Avenir Next"/>
                <a:cs typeface="Avenir Next"/>
              </a:rPr>
              <a:t>URGENCIA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05827-CE2E-4BFA-9E16-0FD576A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915" y="4124325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$800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182DC-75EB-46A1-8D89-2D411B7B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19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SERVICIO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BDAB1-6C5F-42C5-AFF6-52BD3B2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766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BC8C3-70A9-4F4A-A611-911BD7A2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8671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RESERVA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A80C7-65AD-42C5-A23C-E96E6C6A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24325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$200</a:t>
            </a:r>
          </a:p>
        </p:txBody>
      </p:sp>
      <p:sp>
        <p:nvSpPr>
          <p:cNvPr id="23" name="budget-rule">
            <a:extLst xmlns:a="http://schemas.openxmlformats.org/drawingml/2006/main">
              <a:ext uri="{FF2B5EF4-FFF2-40B4-BE49-F238E27FC236}">
                <a16:creationId xmlns:a16="http://schemas.microsoft.com/office/drawing/2014/main" id="{B722F5E6-048C-4458-B6C6-6ADE6DAA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CF9F3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EF8B9-1688-426F-A53E-3A29C186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rPr>
              <a:t>Influencers, radio, televisión y prensa administran presupuestos separados.</a:t>
            </a:r>
          </a:p>
        </p:txBody>
      </p:sp>
      <p:sp>
        <p:nvSpPr>
          <p:cNvPr id="25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4772F55D-4DBD-4E1B-A6D6-93E44B3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169E26-E989-425D-9499-2D90C766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9585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A12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label-Regla de lanzamien">
            <a:extLst xmlns:a="http://schemas.openxmlformats.org/drawingml/2006/main">
              <a:ext uri="{FF2B5EF4-FFF2-40B4-BE49-F238E27FC236}">
                <a16:creationId xmlns:a16="http://schemas.microsoft.com/office/drawing/2014/main" id="{F440A987-BAFC-405A-BBA6-2A126AE0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REGLA DE LANZAMIENTO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6E5AF-F0B9-4D77-80AC-E12D5E4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382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86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510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Primero verdad.</a:t>
            </a:r>
          </a:p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New York"/>
                <a:ea typeface="New York"/>
                <a:cs typeface="New York"/>
              </a:defRPr>
            </a:pPr>
            <a:r>
              <a:rPr sz="5100" b="1" i="0">
                <a:solidFill>
                  <a:srgbClr val="FFFFFF"/>
                </a:solidFill>
                <a:latin typeface="New York"/>
                <a:ea typeface="New York"/>
                <a:cs typeface="New York"/>
              </a:rPr>
              <a:t>Después alcance.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1EB0E-1080-495F-BCF5-5D9ACB7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Una promesa creativa no puede ir por delante de la operación.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04691-2951-46CE-84F7-EEEACFF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B9902-E9E7-4C84-B2A0-3D21FD6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E87C3-4353-4BE5-B48F-F8AD180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18A09-1C86-415E-AF95-2784463B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4F0B9-688C-4FC1-B705-7CFE40E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0F7EF-7E2C-4E83-8F0F-34C3B5C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CULTURA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E49C3-F4E6-4955-BC10-FF8DEB11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3A3F1-85CD-48F6-B443-25133FD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A68EB-3556-421D-8759-6B766D7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COMERCIO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2B689-C4C7-4905-861A-5FA12E4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79CC-0A0D-477C-96B0-E43FC16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ABC5A-3B3A-4C72-BF27-5F8CB99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B742B-951C-4433-B277-BF38A31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A6204-73F9-46CB-AFF6-0D2223A1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6A6DC-B5AD-4061-8594-FDA147C1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OFERTA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8D76E-02D8-4528-982D-A008ACB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7BF18-FC67-4E78-B869-B9B5CBC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76749-BD19-40CD-B77B-88B43E96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PIEZAS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B6EEA-801C-4A79-9F0C-260BBA0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148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74416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224EE-3EE8-49D9-A4D4-46D7BAD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339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4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D40FD-293B-4EA4-BF02-1CF378BC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1257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7272E-B3E3-4923-ACBA-68D7CEFA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7A84B"/>
                </a:solidFill>
                <a:latin typeface="New York"/>
                <a:ea typeface="New York"/>
                <a:cs typeface="New York"/>
              </a:defRPr>
            </a:pPr>
            <a:r>
              <a:rPr sz="1875" b="1" i="0">
                <a:solidFill>
                  <a:srgbClr val="D7A84B"/>
                </a:solidFill>
                <a:latin typeface="New York"/>
                <a:ea typeface="New York"/>
                <a:cs typeface="New York"/>
              </a:rPr>
              <a:t>Si uno falla, la fecha se desplaza. No se rellena con información incompleta.</a:t>
            </a:r>
          </a:p>
        </p:txBody>
      </p:sp>
      <p:sp>
        <p:nvSpPr>
          <p:cNvPr id="26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C51F638C-6E82-46BB-8B44-2F57C534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A2C4590-ACBC-45D6-8FD2-E02D58D1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F3EBDD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5109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abel-Decisión de esta s">
            <a:extLst xmlns:a="http://schemas.openxmlformats.org/drawingml/2006/main">
              <a:ext uri="{FF2B5EF4-FFF2-40B4-BE49-F238E27FC236}">
                <a16:creationId xmlns:a16="http://schemas.microsoft.com/office/drawing/2014/main" id="{7C28CB92-984C-48E8-B004-42FD731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DECISIÓN DE ESTA SEMANA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6A8F0-491C-4F8F-BF08-9221D69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38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Aprobar la idea.</a:t>
            </a:r>
          </a:p>
          <a:p xmlns:a="http://schemas.openxmlformats.org/drawingml/2006/main">
            <a:pPr algn="l">
              <a:def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Producir desde hoy.</a:t>
            </a:r>
          </a:p>
          <a:p xmlns:a="http://schemas.openxmlformats.org/drawingml/2006/main">
            <a:pPr algn="l">
              <a:def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defRPr>
            </a:pPr>
            <a:r>
              <a:rPr sz="4425" b="1" i="0">
                <a:solidFill>
                  <a:srgbClr val="2A1227"/>
                </a:solidFill>
                <a:latin typeface="New York"/>
                <a:ea typeface="New York"/>
                <a:cs typeface="New York"/>
              </a:rPr>
              <a:t>Publicar solo con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C0425-8BBA-461C-9BD2-1D84443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26 AGO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38AC4-ECA8-4E59-824C-ED502D9C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Banco histórico, RACI y fecha de planificación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9CAA0-1DED-496D-9CE9-9AF6408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B86F4B"/>
                </a:solidFill>
                <a:latin typeface="Avenir Next"/>
                <a:ea typeface="Avenir Next"/>
                <a:cs typeface="Avenir Next"/>
              </a:rPr>
              <a:t>28 AGO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CC3FB-BF54-4381-9A04-4368B05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Aprobar, ajustar o descartar ES TRADICIÓN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0F32A-567B-4E30-939E-CF73C44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D7A84B"/>
                </a:solidFill>
                <a:latin typeface="Avenir Next"/>
                <a:ea typeface="Avenir Next"/>
                <a:cs typeface="Avenir Next"/>
              </a:rPr>
              <a:t>2 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32652-02F2-43A8-939D-12C5982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95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231D20"/>
                </a:solidFill>
                <a:latin typeface="Avenir Next"/>
                <a:ea typeface="Avenir Next"/>
                <a:cs typeface="Avenir Next"/>
              </a:rPr>
              <a:t>Gate Go/No-Go para cualquier salida pública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A21A5-FC4A-487A-9DFA-7D66402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531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A1227"/>
                </a:solidFill>
                <a:latin typeface="Avenir Next"/>
                <a:ea typeface="Avenir Next"/>
                <a:cs typeface="Avenir Next"/>
              </a:rPr>
              <a:t>El cartel permanece bajo embargo.</a:t>
            </a:r>
          </a:p>
        </p:txBody>
      </p:sp>
      <p:sp>
        <p:nvSpPr>
          <p:cNvPr id="10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727F9DCF-CA1F-4145-8983-DC3B62FC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PROPUESTA INTERNA · NO AUTORIZA PUBLICACIÓN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AC8925-8001-4137-8105-F10BAAE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F676B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5762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2026-08-25T15:53:23.0790000Z</dcterms:created>
  <dcterms:modified xsi:type="dcterms:W3CDTF">2026-08-25T15:53:23.0790000Z</dcterms:modified>
</coreProperties>
</file>